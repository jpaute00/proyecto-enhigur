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chart8.xml" ContentType="application/vnd.openxmlformats-officedocument.drawingml.chart+xml"/>
  <Override PartName="/ppt/charts/style7.xml" ContentType="application/vnd.ms-office.chartstyle+xml"/>
  <Override PartName="/ppt/charts/colors7.xml" ContentType="application/vnd.ms-office.chartcolorstyle+xml"/>
  <Override PartName="/ppt/charts/chart9.xml" ContentType="application/vnd.openxmlformats-officedocument.drawingml.chart+xml"/>
  <Override PartName="/ppt/charts/style8.xml" ContentType="application/vnd.ms-office.chartstyle+xml"/>
  <Override PartName="/ppt/charts/colors8.xml" ContentType="application/vnd.ms-office.chartcolorstyle+xml"/>
  <Override PartName="/ppt/charts/chart10.xml" ContentType="application/vnd.openxmlformats-officedocument.drawingml.chart+xml"/>
  <Override PartName="/ppt/charts/style9.xml" ContentType="application/vnd.ms-office.chartstyle+xml"/>
  <Override PartName="/ppt/charts/colors9.xml" ContentType="application/vnd.ms-office.chartcolorstyle+xml"/>
  <Override PartName="/ppt/charts/chart11.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2.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3.xml" ContentType="application/vnd.openxmlformats-officedocument.drawingml.chart+xml"/>
  <Override PartName="/ppt/charts/style12.xml" ContentType="application/vnd.ms-office.chartstyle+xml"/>
  <Override PartName="/ppt/charts/colors1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85" r:id="rId3"/>
    <p:sldId id="286" r:id="rId4"/>
    <p:sldId id="265" r:id="rId5"/>
    <p:sldId id="273" r:id="rId6"/>
    <p:sldId id="268" r:id="rId7"/>
    <p:sldId id="261" r:id="rId8"/>
    <p:sldId id="271" r:id="rId9"/>
    <p:sldId id="269" r:id="rId10"/>
    <p:sldId id="262" r:id="rId11"/>
    <p:sldId id="272" r:id="rId12"/>
    <p:sldId id="274" r:id="rId13"/>
    <p:sldId id="275" r:id="rId14"/>
    <p:sldId id="278" r:id="rId15"/>
    <p:sldId id="256" r:id="rId16"/>
    <p:sldId id="257" r:id="rId17"/>
    <p:sldId id="258" r:id="rId18"/>
    <p:sldId id="287" r:id="rId19"/>
    <p:sldId id="288" r:id="rId20"/>
    <p:sldId id="289" r:id="rId21"/>
    <p:sldId id="280" r:id="rId22"/>
    <p:sldId id="281" r:id="rId23"/>
    <p:sldId id="282" r:id="rId24"/>
    <p:sldId id="283" r:id="rId25"/>
  </p:sldIdLst>
  <p:sldSz cx="12192000" cy="6858000"/>
  <p:notesSz cx="6858000" cy="9144000"/>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sin título" id="{E16FFACC-6858-44B4-8C32-BB48A1F76345}">
          <p14:sldIdLst>
            <p14:sldId id="267"/>
            <p14:sldId id="285"/>
            <p14:sldId id="286"/>
            <p14:sldId id="265"/>
            <p14:sldId id="273"/>
            <p14:sldId id="268"/>
            <p14:sldId id="261"/>
            <p14:sldId id="271"/>
            <p14:sldId id="269"/>
            <p14:sldId id="262"/>
            <p14:sldId id="272"/>
            <p14:sldId id="274"/>
            <p14:sldId id="275"/>
            <p14:sldId id="278"/>
            <p14:sldId id="256"/>
            <p14:sldId id="257"/>
            <p14:sldId id="258"/>
            <p14:sldId id="287"/>
            <p14:sldId id="288"/>
            <p14:sldId id="289"/>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Estilo medio 1 - Énfasis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4" autoAdjust="0"/>
    <p:restoredTop sz="94660"/>
  </p:normalViewPr>
  <p:slideViewPr>
    <p:cSldViewPr snapToGrid="0">
      <p:cViewPr varScale="1">
        <p:scale>
          <a:sx n="102" d="100"/>
          <a:sy n="102" d="100"/>
        </p:scale>
        <p:origin x="126" y="3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UARIO\Downloads\tabla-resumen-sierra-divisiones-consumo.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USUARIO\Downloads\tabla-resumen-sierra-divisiones-consumo.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d7ef01d76d77ecbe/Documents/DIREJ/enighur/Proyecto%20ENIGHUR/tabla_resumen_amazon&#237;a.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d7ef01d76d77ecbe/Documents/DIREJ/enighur/Proyecto%20ENIGHUR/tabla_resumen_amazon&#237;a.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USUARIO\Downloads\tabla-resumen-sierra-divisiones-consumo.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USUARIO\Downloads\tabla-resumen-sierra-divisiones-consumo.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1" Type="http://schemas.openxmlformats.org/officeDocument/2006/relationships/oleObject" Target="https://d.docs.live.net/d7ef01d76d77ecbe/Documents/DIREJ/enighur/Proyecto%20ENIGHUR/bivariado1_amazonia.xlsx" TargetMode="External"/></Relationships>
</file>

<file path=ppt/charts/_rels/chart8.xml.rels><?xml version="1.0" encoding="UTF-8" standalone="yes"?>
<Relationships xmlns="http://schemas.openxmlformats.org/package/2006/relationships"><Relationship Id="rId3" Type="http://schemas.openxmlformats.org/officeDocument/2006/relationships/oleObject" Target="file:///C:\Users\USUARIO\Downloads\tabla-resumen-sierra-divisiones-consumo.xlsx" TargetMode="External"/><Relationship Id="rId2" Type="http://schemas.microsoft.com/office/2011/relationships/chartColorStyle" Target="colors7.xml"/><Relationship Id="rId1" Type="http://schemas.microsoft.com/office/2011/relationships/chartStyle" Target="style7.xml"/></Relationships>
</file>

<file path=ppt/charts/_rels/chart9.xml.rels><?xml version="1.0" encoding="UTF-8" standalone="yes"?>
<Relationships xmlns="http://schemas.openxmlformats.org/package/2006/relationships"><Relationship Id="rId3" Type="http://schemas.openxmlformats.org/officeDocument/2006/relationships/oleObject" Target="file:///C:\Users\USUARIO\Downloads\tabla-resumen-sierra-divisiones-consumo.xlsx" TargetMode="External"/><Relationship Id="rId2" Type="http://schemas.microsoft.com/office/2011/relationships/chartColorStyle" Target="colors8.xml"/><Relationship Id="rId1" Type="http://schemas.microsoft.com/office/2011/relationships/chartStyle" Target="style8.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USUARIO\Downloads\tabla_resumen_deciles_alimentacioncarlos.xlsx" TargetMode="External"/><Relationship Id="rId2" Type="http://schemas.microsoft.com/office/2011/relationships/chartColorStyle" Target="colors9.xml"/><Relationship Id="rId1" Type="http://schemas.microsoft.com/office/2011/relationships/chartStyle" Target="style9.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USUARIO\Downloads\tabla_resumen_deciles_alimentacioncarlos.xlsx" TargetMode="External"/><Relationship Id="rId2" Type="http://schemas.microsoft.com/office/2011/relationships/chartColorStyle" Target="colors10.xml"/><Relationship Id="rId1" Type="http://schemas.microsoft.com/office/2011/relationships/chartStyle" Target="style10.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USUARIO\Downloads\tabla_resumen_deciles_alimentacioncarlos.xlsx" TargetMode="External"/><Relationship Id="rId2" Type="http://schemas.microsoft.com/office/2011/relationships/chartColorStyle" Target="colors11.xml"/><Relationship Id="rId1" Type="http://schemas.microsoft.com/office/2011/relationships/chartStyle" Target="style11.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USUARIO\Downloads\tabla_resumen_deciles_alimentacioncarlos.xlsx" TargetMode="External"/><Relationship Id="rId2" Type="http://schemas.microsoft.com/office/2011/relationships/chartColorStyle" Target="colors12.xml"/><Relationship Id="rId1" Type="http://schemas.microsoft.com/office/2011/relationships/chartStyle" Target="style1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Hoja2!$B$39</c:f>
              <c:strCache>
                <c:ptCount val="1"/>
                <c:pt idx="0">
                  <c:v>Vivienda, Agua, Electricidad, Gas Y Otros Combustibles</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lang="en-US"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Hoja2!$C$38:$L$38</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Hoja2!$C$39:$L$39</c:f>
              <c:numCache>
                <c:formatCode>0.0%</c:formatCode>
                <c:ptCount val="10"/>
                <c:pt idx="0">
                  <c:v>0.16962034648636201</c:v>
                </c:pt>
                <c:pt idx="1">
                  <c:v>0.158759340871541</c:v>
                </c:pt>
                <c:pt idx="2">
                  <c:v>0.14703229312155658</c:v>
                </c:pt>
                <c:pt idx="3">
                  <c:v>0.13719231160120024</c:v>
                </c:pt>
                <c:pt idx="4">
                  <c:v>0.1247108263440098</c:v>
                </c:pt>
                <c:pt idx="5">
                  <c:v>0.11885907223611478</c:v>
                </c:pt>
                <c:pt idx="6">
                  <c:v>0.12300513872493173</c:v>
                </c:pt>
                <c:pt idx="7">
                  <c:v>9.6081380806391628E-2</c:v>
                </c:pt>
                <c:pt idx="8">
                  <c:v>9.0072315921692209E-2</c:v>
                </c:pt>
                <c:pt idx="9">
                  <c:v>8.7476380650434504E-2</c:v>
                </c:pt>
              </c:numCache>
            </c:numRef>
          </c:val>
          <c:extLst>
            <c:ext xmlns:c16="http://schemas.microsoft.com/office/drawing/2014/chart" uri="{C3380CC4-5D6E-409C-BE32-E72D297353CC}">
              <c16:uniqueId val="{00000000-84B7-48E3-B3FA-DA531D333C28}"/>
            </c:ext>
          </c:extLst>
        </c:ser>
        <c:ser>
          <c:idx val="1"/>
          <c:order val="1"/>
          <c:tx>
            <c:strRef>
              <c:f>Hoja2!$B$40</c:f>
              <c:strCache>
                <c:ptCount val="1"/>
                <c:pt idx="0">
                  <c:v>Transporte</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lang="en-US"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Hoja2!$C$38:$L$38</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Hoja2!$C$40:$L$40</c:f>
              <c:numCache>
                <c:formatCode>0.0%</c:formatCode>
                <c:ptCount val="10"/>
                <c:pt idx="0">
                  <c:v>8.9285534471074846E-2</c:v>
                </c:pt>
                <c:pt idx="1">
                  <c:v>9.586750856129056E-2</c:v>
                </c:pt>
                <c:pt idx="2">
                  <c:v>0.11663153033075446</c:v>
                </c:pt>
                <c:pt idx="3">
                  <c:v>0.11946473071479229</c:v>
                </c:pt>
                <c:pt idx="4">
                  <c:v>0.12133635260998778</c:v>
                </c:pt>
                <c:pt idx="5">
                  <c:v>0.12756116532527409</c:v>
                </c:pt>
                <c:pt idx="6">
                  <c:v>0.13862761550048769</c:v>
                </c:pt>
                <c:pt idx="7">
                  <c:v>0.16857191913739539</c:v>
                </c:pt>
                <c:pt idx="8">
                  <c:v>0.16215554086421224</c:v>
                </c:pt>
                <c:pt idx="9">
                  <c:v>0.16172442853297123</c:v>
                </c:pt>
              </c:numCache>
            </c:numRef>
          </c:val>
          <c:extLst>
            <c:ext xmlns:c16="http://schemas.microsoft.com/office/drawing/2014/chart" uri="{C3380CC4-5D6E-409C-BE32-E72D297353CC}">
              <c16:uniqueId val="{00000001-84B7-48E3-B3FA-DA531D333C28}"/>
            </c:ext>
          </c:extLst>
        </c:ser>
        <c:ser>
          <c:idx val="2"/>
          <c:order val="2"/>
          <c:tx>
            <c:strRef>
              <c:f>Hoja2!$B$41</c:f>
              <c:strCache>
                <c:ptCount val="1"/>
                <c:pt idx="0">
                  <c:v>Servicios Educativos</c:v>
                </c:pt>
              </c:strCache>
            </c:strRef>
          </c:tx>
          <c:spPr>
            <a:solidFill>
              <a:schemeClr val="accent3"/>
            </a:solidFill>
            <a:ln>
              <a:noFill/>
            </a:ln>
            <a:effectLst/>
          </c:spPr>
          <c:invertIfNegative val="0"/>
          <c:dLbls>
            <c:spPr>
              <a:noFill/>
              <a:ln>
                <a:noFill/>
              </a:ln>
              <a:effectLst/>
            </c:spPr>
            <c:txPr>
              <a:bodyPr rot="0" spcFirstLastPara="1" vertOverflow="ellipsis" vert="horz" wrap="square" anchor="ctr" anchorCtr="1"/>
              <a:lstStyle/>
              <a:p>
                <a:pPr>
                  <a:defRPr lang="en-US"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Hoja2!$C$38:$L$38</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Hoja2!$C$41:$L$41</c:f>
              <c:numCache>
                <c:formatCode>0.0%</c:formatCode>
                <c:ptCount val="10"/>
                <c:pt idx="0">
                  <c:v>9.6358139386776807E-3</c:v>
                </c:pt>
                <c:pt idx="1">
                  <c:v>2.351104960937422E-2</c:v>
                </c:pt>
                <c:pt idx="2">
                  <c:v>2.6049318621377947E-2</c:v>
                </c:pt>
                <c:pt idx="3">
                  <c:v>4.1921961501433354E-2</c:v>
                </c:pt>
                <c:pt idx="4">
                  <c:v>5.7158789649483066E-2</c:v>
                </c:pt>
                <c:pt idx="5">
                  <c:v>6.9614069929102004E-2</c:v>
                </c:pt>
                <c:pt idx="6">
                  <c:v>6.566870248683708E-2</c:v>
                </c:pt>
                <c:pt idx="7">
                  <c:v>8.0845288608603863E-2</c:v>
                </c:pt>
                <c:pt idx="8">
                  <c:v>0.10087285498352454</c:v>
                </c:pt>
                <c:pt idx="9">
                  <c:v>9.7823318745565491E-2</c:v>
                </c:pt>
              </c:numCache>
            </c:numRef>
          </c:val>
          <c:extLst>
            <c:ext xmlns:c16="http://schemas.microsoft.com/office/drawing/2014/chart" uri="{C3380CC4-5D6E-409C-BE32-E72D297353CC}">
              <c16:uniqueId val="{00000002-84B7-48E3-B3FA-DA531D333C28}"/>
            </c:ext>
          </c:extLst>
        </c:ser>
        <c:ser>
          <c:idx val="3"/>
          <c:order val="3"/>
          <c:tx>
            <c:strRef>
              <c:f>Hoja2!$B$42</c:f>
              <c:strCache>
                <c:ptCount val="1"/>
                <c:pt idx="0">
                  <c:v>Servicios De Restaurantes Y Alojamiento</c:v>
                </c:pt>
              </c:strCache>
            </c:strRef>
          </c:tx>
          <c:spPr>
            <a:solidFill>
              <a:schemeClr val="accent4"/>
            </a:solidFill>
            <a:ln>
              <a:noFill/>
            </a:ln>
            <a:effectLst/>
          </c:spPr>
          <c:invertIfNegative val="0"/>
          <c:dLbls>
            <c:spPr>
              <a:noFill/>
              <a:ln>
                <a:noFill/>
              </a:ln>
              <a:effectLst/>
            </c:spPr>
            <c:txPr>
              <a:bodyPr rot="0" spcFirstLastPara="1" vertOverflow="ellipsis" vert="horz" wrap="square" anchor="ctr" anchorCtr="1"/>
              <a:lstStyle/>
              <a:p>
                <a:pPr>
                  <a:defRPr lang="en-US"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Hoja2!$C$38:$L$38</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Hoja2!$C$42:$L$42</c:f>
              <c:numCache>
                <c:formatCode>0.0%</c:formatCode>
                <c:ptCount val="10"/>
                <c:pt idx="0">
                  <c:v>5.6821592117562089E-2</c:v>
                </c:pt>
                <c:pt idx="1">
                  <c:v>7.4428843171467404E-2</c:v>
                </c:pt>
                <c:pt idx="2">
                  <c:v>7.6482667479210786E-2</c:v>
                </c:pt>
                <c:pt idx="3">
                  <c:v>8.4673540134135264E-2</c:v>
                </c:pt>
                <c:pt idx="4">
                  <c:v>9.8307993340147865E-2</c:v>
                </c:pt>
                <c:pt idx="5">
                  <c:v>9.3748081343971584E-2</c:v>
                </c:pt>
                <c:pt idx="6">
                  <c:v>0.10412610746060233</c:v>
                </c:pt>
                <c:pt idx="7">
                  <c:v>9.9354602866953204E-2</c:v>
                </c:pt>
                <c:pt idx="8">
                  <c:v>0.1041824906701071</c:v>
                </c:pt>
                <c:pt idx="9">
                  <c:v>9.8283088181550446E-2</c:v>
                </c:pt>
              </c:numCache>
            </c:numRef>
          </c:val>
          <c:extLst>
            <c:ext xmlns:c16="http://schemas.microsoft.com/office/drawing/2014/chart" uri="{C3380CC4-5D6E-409C-BE32-E72D297353CC}">
              <c16:uniqueId val="{00000003-84B7-48E3-B3FA-DA531D333C28}"/>
            </c:ext>
          </c:extLst>
        </c:ser>
        <c:ser>
          <c:idx val="4"/>
          <c:order val="4"/>
          <c:tx>
            <c:strRef>
              <c:f>Hoja2!$B$43</c:f>
              <c:strCache>
                <c:ptCount val="1"/>
                <c:pt idx="0">
                  <c:v>Seguros Y Servicios Financieros</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lang="en-US"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Hoja2!$C$38:$L$38</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Hoja2!$C$43:$L$43</c:f>
              <c:numCache>
                <c:formatCode>0.0%</c:formatCode>
                <c:ptCount val="10"/>
                <c:pt idx="0">
                  <c:v>5.1133855237899765E-3</c:v>
                </c:pt>
                <c:pt idx="1">
                  <c:v>4.7501380241090369E-3</c:v>
                </c:pt>
                <c:pt idx="2">
                  <c:v>7.1701578742644255E-3</c:v>
                </c:pt>
                <c:pt idx="3">
                  <c:v>8.2196549423355462E-3</c:v>
                </c:pt>
                <c:pt idx="4">
                  <c:v>1.1497011468730292E-2</c:v>
                </c:pt>
                <c:pt idx="5">
                  <c:v>1.4451361143441891E-2</c:v>
                </c:pt>
                <c:pt idx="6">
                  <c:v>1.5549844560941876E-2</c:v>
                </c:pt>
                <c:pt idx="7">
                  <c:v>1.7394796756529857E-2</c:v>
                </c:pt>
                <c:pt idx="8">
                  <c:v>2.1805788286758623E-2</c:v>
                </c:pt>
                <c:pt idx="9">
                  <c:v>3.3308573874688274E-2</c:v>
                </c:pt>
              </c:numCache>
            </c:numRef>
          </c:val>
          <c:extLst>
            <c:ext xmlns:c16="http://schemas.microsoft.com/office/drawing/2014/chart" uri="{C3380CC4-5D6E-409C-BE32-E72D297353CC}">
              <c16:uniqueId val="{00000004-84B7-48E3-B3FA-DA531D333C28}"/>
            </c:ext>
          </c:extLst>
        </c:ser>
        <c:ser>
          <c:idx val="5"/>
          <c:order val="5"/>
          <c:tx>
            <c:strRef>
              <c:f>Hoja2!$B$44</c:f>
              <c:strCache>
                <c:ptCount val="1"/>
                <c:pt idx="0">
                  <c:v>Salud</c:v>
                </c:pt>
              </c:strCache>
            </c:strRef>
          </c:tx>
          <c:spPr>
            <a:solidFill>
              <a:schemeClr val="accent6"/>
            </a:solidFill>
            <a:ln>
              <a:noFill/>
            </a:ln>
            <a:effectLst/>
          </c:spPr>
          <c:invertIfNegative val="0"/>
          <c:dLbls>
            <c:spPr>
              <a:noFill/>
              <a:ln>
                <a:noFill/>
              </a:ln>
              <a:effectLst/>
            </c:spPr>
            <c:txPr>
              <a:bodyPr rot="0" spcFirstLastPara="1" vertOverflow="ellipsis" vert="horz" wrap="square" anchor="ctr" anchorCtr="1"/>
              <a:lstStyle/>
              <a:p>
                <a:pPr>
                  <a:defRPr lang="en-US"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Hoja2!$C$38:$L$38</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Hoja2!$C$44:$L$44</c:f>
              <c:numCache>
                <c:formatCode>0.0%</c:formatCode>
                <c:ptCount val="10"/>
                <c:pt idx="0">
                  <c:v>6.3488717425560406E-2</c:v>
                </c:pt>
                <c:pt idx="1">
                  <c:v>6.9041763377537618E-2</c:v>
                </c:pt>
                <c:pt idx="2">
                  <c:v>7.9321925626506765E-2</c:v>
                </c:pt>
                <c:pt idx="3">
                  <c:v>8.1094658658255575E-2</c:v>
                </c:pt>
                <c:pt idx="4">
                  <c:v>7.3332046376956103E-2</c:v>
                </c:pt>
                <c:pt idx="5">
                  <c:v>9.2541692063290687E-2</c:v>
                </c:pt>
                <c:pt idx="6">
                  <c:v>8.4310508693980726E-2</c:v>
                </c:pt>
                <c:pt idx="7">
                  <c:v>8.8846628644192266E-2</c:v>
                </c:pt>
                <c:pt idx="8">
                  <c:v>9.1866641535939902E-2</c:v>
                </c:pt>
                <c:pt idx="9">
                  <c:v>8.9730476050195462E-2</c:v>
                </c:pt>
              </c:numCache>
            </c:numRef>
          </c:val>
          <c:extLst>
            <c:ext xmlns:c16="http://schemas.microsoft.com/office/drawing/2014/chart" uri="{C3380CC4-5D6E-409C-BE32-E72D297353CC}">
              <c16:uniqueId val="{00000005-84B7-48E3-B3FA-DA531D333C28}"/>
            </c:ext>
          </c:extLst>
        </c:ser>
        <c:ser>
          <c:idx val="6"/>
          <c:order val="6"/>
          <c:tx>
            <c:strRef>
              <c:f>Hoja2!$B$45</c:f>
              <c:strCache>
                <c:ptCount val="1"/>
                <c:pt idx="0">
                  <c:v>Recreación, Deporte Y Cultura</c:v>
                </c:pt>
              </c:strCache>
            </c:strRef>
          </c:tx>
          <c:spPr>
            <a:solidFill>
              <a:schemeClr val="accent1">
                <a:lumMod val="60000"/>
              </a:schemeClr>
            </a:solidFill>
            <a:ln>
              <a:noFill/>
            </a:ln>
            <a:effectLst/>
          </c:spPr>
          <c:invertIfNegative val="0"/>
          <c:dLbls>
            <c:spPr>
              <a:noFill/>
              <a:ln>
                <a:noFill/>
              </a:ln>
              <a:effectLst/>
            </c:spPr>
            <c:txPr>
              <a:bodyPr rot="0" spcFirstLastPara="1" vertOverflow="ellipsis" vert="horz" wrap="square" anchor="ctr" anchorCtr="1"/>
              <a:lstStyle/>
              <a:p>
                <a:pPr>
                  <a:defRPr lang="en-US"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Hoja2!$C$38:$L$38</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Hoja2!$C$45:$L$45</c:f>
              <c:numCache>
                <c:formatCode>0.0%</c:formatCode>
                <c:ptCount val="10"/>
                <c:pt idx="0">
                  <c:v>2.5705947075821512E-2</c:v>
                </c:pt>
                <c:pt idx="1">
                  <c:v>2.2963265476849706E-2</c:v>
                </c:pt>
                <c:pt idx="2">
                  <c:v>2.0638970110004692E-2</c:v>
                </c:pt>
                <c:pt idx="3">
                  <c:v>2.2819231036583523E-2</c:v>
                </c:pt>
                <c:pt idx="4">
                  <c:v>2.3519046579440771E-2</c:v>
                </c:pt>
                <c:pt idx="5">
                  <c:v>2.5394908604378159E-2</c:v>
                </c:pt>
                <c:pt idx="6">
                  <c:v>2.3476409153636794E-2</c:v>
                </c:pt>
                <c:pt idx="7">
                  <c:v>3.3215016476110144E-2</c:v>
                </c:pt>
                <c:pt idx="8">
                  <c:v>3.7141317798346597E-2</c:v>
                </c:pt>
                <c:pt idx="9">
                  <c:v>5.0622821143652533E-2</c:v>
                </c:pt>
              </c:numCache>
            </c:numRef>
          </c:val>
          <c:extLst>
            <c:ext xmlns:c16="http://schemas.microsoft.com/office/drawing/2014/chart" uri="{C3380CC4-5D6E-409C-BE32-E72D297353CC}">
              <c16:uniqueId val="{00000006-84B7-48E3-B3FA-DA531D333C28}"/>
            </c:ext>
          </c:extLst>
        </c:ser>
        <c:ser>
          <c:idx val="7"/>
          <c:order val="7"/>
          <c:tx>
            <c:strRef>
              <c:f>Hoja2!$B$46</c:f>
              <c:strCache>
                <c:ptCount val="1"/>
                <c:pt idx="0">
                  <c:v>Prendas De Vestir Y Calzado</c:v>
                </c:pt>
              </c:strCache>
            </c:strRef>
          </c:tx>
          <c:spPr>
            <a:solidFill>
              <a:schemeClr val="accent2">
                <a:lumMod val="60000"/>
              </a:schemeClr>
            </a:solidFill>
            <a:ln>
              <a:noFill/>
            </a:ln>
            <a:effectLst/>
          </c:spPr>
          <c:invertIfNegative val="0"/>
          <c:dLbls>
            <c:spPr>
              <a:noFill/>
              <a:ln>
                <a:noFill/>
              </a:ln>
              <a:effectLst/>
            </c:spPr>
            <c:txPr>
              <a:bodyPr rot="0" spcFirstLastPara="1" vertOverflow="ellipsis" vert="horz" wrap="square" anchor="ctr" anchorCtr="1"/>
              <a:lstStyle/>
              <a:p>
                <a:pPr>
                  <a:defRPr lang="en-US"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Hoja2!$C$38:$L$38</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Hoja2!$C$46:$L$46</c:f>
              <c:numCache>
                <c:formatCode>0.0%</c:formatCode>
                <c:ptCount val="10"/>
                <c:pt idx="0">
                  <c:v>7.0256596495257409E-2</c:v>
                </c:pt>
                <c:pt idx="1">
                  <c:v>7.0714976556736087E-2</c:v>
                </c:pt>
                <c:pt idx="2">
                  <c:v>6.5066702943159138E-2</c:v>
                </c:pt>
                <c:pt idx="3">
                  <c:v>6.838178664095336E-2</c:v>
                </c:pt>
                <c:pt idx="4">
                  <c:v>6.866500939583689E-2</c:v>
                </c:pt>
                <c:pt idx="5">
                  <c:v>6.5108358500672328E-2</c:v>
                </c:pt>
                <c:pt idx="6">
                  <c:v>6.5802767915738289E-2</c:v>
                </c:pt>
                <c:pt idx="7">
                  <c:v>6.4531483822034469E-2</c:v>
                </c:pt>
                <c:pt idx="8">
                  <c:v>6.7694151490793317E-2</c:v>
                </c:pt>
                <c:pt idx="9">
                  <c:v>5.8092159807325218E-2</c:v>
                </c:pt>
              </c:numCache>
            </c:numRef>
          </c:val>
          <c:extLst>
            <c:ext xmlns:c16="http://schemas.microsoft.com/office/drawing/2014/chart" uri="{C3380CC4-5D6E-409C-BE32-E72D297353CC}">
              <c16:uniqueId val="{00000007-84B7-48E3-B3FA-DA531D333C28}"/>
            </c:ext>
          </c:extLst>
        </c:ser>
        <c:ser>
          <c:idx val="8"/>
          <c:order val="8"/>
          <c:tx>
            <c:strRef>
              <c:f>Hoja2!$B$47</c:f>
              <c:strCache>
                <c:ptCount val="1"/>
                <c:pt idx="0">
                  <c:v>Muebles, Artículos Para El Hogar Y Para La Conservación Ordinaria Del Hogar</c:v>
                </c:pt>
              </c:strCache>
            </c:strRef>
          </c:tx>
          <c:spPr>
            <a:solidFill>
              <a:schemeClr val="accent3">
                <a:lumMod val="60000"/>
              </a:schemeClr>
            </a:solidFill>
            <a:ln>
              <a:noFill/>
            </a:ln>
            <a:effectLst/>
          </c:spPr>
          <c:invertIfNegative val="0"/>
          <c:dLbls>
            <c:spPr>
              <a:noFill/>
              <a:ln>
                <a:noFill/>
              </a:ln>
              <a:effectLst/>
            </c:spPr>
            <c:txPr>
              <a:bodyPr rot="0" spcFirstLastPara="1" vertOverflow="ellipsis" vert="horz" wrap="square" anchor="ctr" anchorCtr="1"/>
              <a:lstStyle/>
              <a:p>
                <a:pPr>
                  <a:defRPr lang="en-US"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Hoja2!$C$38:$L$38</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Hoja2!$C$47:$L$47</c:f>
              <c:numCache>
                <c:formatCode>0.0%</c:formatCode>
                <c:ptCount val="10"/>
                <c:pt idx="0">
                  <c:v>4.7694213140280099E-2</c:v>
                </c:pt>
                <c:pt idx="1">
                  <c:v>4.6220049960249025E-2</c:v>
                </c:pt>
                <c:pt idx="2">
                  <c:v>5.0618098876231643E-2</c:v>
                </c:pt>
                <c:pt idx="3">
                  <c:v>5.0244878166030724E-2</c:v>
                </c:pt>
                <c:pt idx="4">
                  <c:v>4.9333893047932356E-2</c:v>
                </c:pt>
                <c:pt idx="5">
                  <c:v>4.9443582688657527E-2</c:v>
                </c:pt>
                <c:pt idx="6">
                  <c:v>5.6173336948077537E-2</c:v>
                </c:pt>
                <c:pt idx="7">
                  <c:v>5.4383918594132184E-2</c:v>
                </c:pt>
                <c:pt idx="8">
                  <c:v>6.3316375366742769E-2</c:v>
                </c:pt>
                <c:pt idx="9">
                  <c:v>9.8101907817467776E-2</c:v>
                </c:pt>
              </c:numCache>
            </c:numRef>
          </c:val>
          <c:extLst>
            <c:ext xmlns:c16="http://schemas.microsoft.com/office/drawing/2014/chart" uri="{C3380CC4-5D6E-409C-BE32-E72D297353CC}">
              <c16:uniqueId val="{00000008-84B7-48E3-B3FA-DA531D333C28}"/>
            </c:ext>
          </c:extLst>
        </c:ser>
        <c:ser>
          <c:idx val="9"/>
          <c:order val="9"/>
          <c:tx>
            <c:strRef>
              <c:f>Hoja2!$B$48</c:f>
              <c:strCache>
                <c:ptCount val="1"/>
                <c:pt idx="0">
                  <c:v>Información Y Comunicación</c:v>
                </c:pt>
              </c:strCache>
            </c:strRef>
          </c:tx>
          <c:spPr>
            <a:solidFill>
              <a:schemeClr val="accent4">
                <a:lumMod val="60000"/>
              </a:schemeClr>
            </a:solidFill>
            <a:ln>
              <a:noFill/>
            </a:ln>
            <a:effectLst/>
          </c:spPr>
          <c:invertIfNegative val="0"/>
          <c:dLbls>
            <c:spPr>
              <a:noFill/>
              <a:ln>
                <a:noFill/>
              </a:ln>
              <a:effectLst/>
            </c:spPr>
            <c:txPr>
              <a:bodyPr rot="0" spcFirstLastPara="1" vertOverflow="ellipsis" vert="horz" wrap="square" anchor="ctr" anchorCtr="1"/>
              <a:lstStyle/>
              <a:p>
                <a:pPr>
                  <a:defRPr lang="en-US"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Hoja2!$C$38:$L$38</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Hoja2!$C$48:$L$48</c:f>
              <c:numCache>
                <c:formatCode>0.0%</c:formatCode>
                <c:ptCount val="10"/>
                <c:pt idx="0">
                  <c:v>5.2187057102251591E-2</c:v>
                </c:pt>
                <c:pt idx="1">
                  <c:v>5.9327970445754379E-2</c:v>
                </c:pt>
                <c:pt idx="2">
                  <c:v>5.7826869306530977E-2</c:v>
                </c:pt>
                <c:pt idx="3">
                  <c:v>5.8132489356743915E-2</c:v>
                </c:pt>
                <c:pt idx="4">
                  <c:v>6.4715450732541854E-2</c:v>
                </c:pt>
                <c:pt idx="5">
                  <c:v>5.7862622919489626E-2</c:v>
                </c:pt>
                <c:pt idx="6">
                  <c:v>6.3043175583737884E-2</c:v>
                </c:pt>
                <c:pt idx="7">
                  <c:v>5.5578062457842012E-2</c:v>
                </c:pt>
                <c:pt idx="8">
                  <c:v>5.805194620890769E-2</c:v>
                </c:pt>
                <c:pt idx="9">
                  <c:v>5.7065933342713641E-2</c:v>
                </c:pt>
              </c:numCache>
            </c:numRef>
          </c:val>
          <c:extLst>
            <c:ext xmlns:c16="http://schemas.microsoft.com/office/drawing/2014/chart" uri="{C3380CC4-5D6E-409C-BE32-E72D297353CC}">
              <c16:uniqueId val="{00000009-84B7-48E3-B3FA-DA531D333C28}"/>
            </c:ext>
          </c:extLst>
        </c:ser>
        <c:ser>
          <c:idx val="10"/>
          <c:order val="10"/>
          <c:tx>
            <c:strRef>
              <c:f>Hoja2!$B$49</c:f>
              <c:strCache>
                <c:ptCount val="1"/>
                <c:pt idx="0">
                  <c:v>Cuidado Personal, Previsión Social Y Bienes Y Servicios Diversos</c:v>
                </c:pt>
              </c:strCache>
            </c:strRef>
          </c:tx>
          <c:spPr>
            <a:solidFill>
              <a:schemeClr val="accent5">
                <a:lumMod val="60000"/>
              </a:schemeClr>
            </a:solidFill>
            <a:ln>
              <a:noFill/>
            </a:ln>
            <a:effectLst/>
          </c:spPr>
          <c:invertIfNegative val="0"/>
          <c:dLbls>
            <c:spPr>
              <a:noFill/>
              <a:ln>
                <a:noFill/>
              </a:ln>
              <a:effectLst/>
            </c:spPr>
            <c:txPr>
              <a:bodyPr rot="0" spcFirstLastPara="1" vertOverflow="ellipsis" vert="horz" wrap="square" anchor="ctr" anchorCtr="1"/>
              <a:lstStyle/>
              <a:p>
                <a:pPr>
                  <a:defRPr lang="en-US"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Hoja2!$C$38:$L$38</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Hoja2!$C$49:$L$49</c:f>
              <c:numCache>
                <c:formatCode>0.0%</c:formatCode>
                <c:ptCount val="10"/>
                <c:pt idx="0">
                  <c:v>9.9425605269730627E-2</c:v>
                </c:pt>
                <c:pt idx="1">
                  <c:v>8.8404314137992226E-2</c:v>
                </c:pt>
                <c:pt idx="2">
                  <c:v>8.7751072598695273E-2</c:v>
                </c:pt>
                <c:pt idx="3">
                  <c:v>8.2326136334478509E-2</c:v>
                </c:pt>
                <c:pt idx="4">
                  <c:v>8.4637758679089015E-2</c:v>
                </c:pt>
                <c:pt idx="5">
                  <c:v>8.0120461717815381E-2</c:v>
                </c:pt>
                <c:pt idx="6">
                  <c:v>7.7584878630120382E-2</c:v>
                </c:pt>
                <c:pt idx="7">
                  <c:v>7.7484367858032754E-2</c:v>
                </c:pt>
                <c:pt idx="8">
                  <c:v>7.1325315946275808E-2</c:v>
                </c:pt>
                <c:pt idx="9">
                  <c:v>6.558055160283513E-2</c:v>
                </c:pt>
              </c:numCache>
            </c:numRef>
          </c:val>
          <c:extLst>
            <c:ext xmlns:c16="http://schemas.microsoft.com/office/drawing/2014/chart" uri="{C3380CC4-5D6E-409C-BE32-E72D297353CC}">
              <c16:uniqueId val="{0000000A-84B7-48E3-B3FA-DA531D333C28}"/>
            </c:ext>
          </c:extLst>
        </c:ser>
        <c:ser>
          <c:idx val="11"/>
          <c:order val="11"/>
          <c:tx>
            <c:strRef>
              <c:f>Hoja2!$B$50</c:f>
              <c:strCache>
                <c:ptCount val="1"/>
                <c:pt idx="0">
                  <c:v>Bebidas Alcohólicas, Tabaco Y Estupefacientes</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anchor="ctr" anchorCtr="1"/>
              <a:lstStyle/>
              <a:p>
                <a:pPr>
                  <a:defRPr lang="en-US"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Hoja2!$C$38:$L$38</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Hoja2!$C$50:$L$50</c:f>
              <c:numCache>
                <c:formatCode>0.0%</c:formatCode>
                <c:ptCount val="10"/>
                <c:pt idx="0">
                  <c:v>3.17372256716389E-3</c:v>
                </c:pt>
                <c:pt idx="1">
                  <c:v>3.5214070242373238E-3</c:v>
                </c:pt>
                <c:pt idx="2">
                  <c:v>3.3725277898639123E-3</c:v>
                </c:pt>
                <c:pt idx="3">
                  <c:v>4.0226927568235557E-3</c:v>
                </c:pt>
                <c:pt idx="4">
                  <c:v>3.6418800167950681E-3</c:v>
                </c:pt>
                <c:pt idx="5">
                  <c:v>2.8955800553090278E-3</c:v>
                </c:pt>
                <c:pt idx="6">
                  <c:v>4.1632710784486058E-3</c:v>
                </c:pt>
                <c:pt idx="7">
                  <c:v>3.5619619972679095E-3</c:v>
                </c:pt>
                <c:pt idx="8">
                  <c:v>3.2717090018218702E-3</c:v>
                </c:pt>
                <c:pt idx="9">
                  <c:v>2.3036169940031676E-3</c:v>
                </c:pt>
              </c:numCache>
            </c:numRef>
          </c:val>
          <c:extLst>
            <c:ext xmlns:c16="http://schemas.microsoft.com/office/drawing/2014/chart" uri="{C3380CC4-5D6E-409C-BE32-E72D297353CC}">
              <c16:uniqueId val="{0000000B-84B7-48E3-B3FA-DA531D333C28}"/>
            </c:ext>
          </c:extLst>
        </c:ser>
        <c:ser>
          <c:idx val="12"/>
          <c:order val="12"/>
          <c:tx>
            <c:strRef>
              <c:f>Hoja2!$B$51</c:f>
              <c:strCache>
                <c:ptCount val="1"/>
                <c:pt idx="0">
                  <c:v>Alimentos Y Bebidas No Alcohólicas                                                                                                    </c:v>
                </c:pt>
              </c:strCache>
            </c:strRef>
          </c:tx>
          <c:spPr>
            <a:solidFill>
              <a:schemeClr val="accent1">
                <a:lumMod val="80000"/>
                <a:lumOff val="20000"/>
              </a:schemeClr>
            </a:solidFill>
            <a:ln>
              <a:noFill/>
            </a:ln>
            <a:effectLst/>
          </c:spPr>
          <c:invertIfNegative val="0"/>
          <c:dLbls>
            <c:spPr>
              <a:noFill/>
              <a:ln>
                <a:noFill/>
              </a:ln>
              <a:effectLst/>
            </c:spPr>
            <c:txPr>
              <a:bodyPr rot="0" spcFirstLastPara="1" vertOverflow="ellipsis" vert="horz" wrap="square" anchor="ctr" anchorCtr="1"/>
              <a:lstStyle/>
              <a:p>
                <a:pPr>
                  <a:defRPr lang="en-US"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Hoja2!$C$38:$L$38</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Hoja2!$C$51:$L$51</c:f>
              <c:numCache>
                <c:formatCode>0.0%</c:formatCode>
                <c:ptCount val="10"/>
                <c:pt idx="0">
                  <c:v>0.307591468386468</c:v>
                </c:pt>
                <c:pt idx="1">
                  <c:v>0.2824893727828614</c:v>
                </c:pt>
                <c:pt idx="2">
                  <c:v>0.26203786532184337</c:v>
                </c:pt>
                <c:pt idx="3">
                  <c:v>0.24150592815623417</c:v>
                </c:pt>
                <c:pt idx="4">
                  <c:v>0.21914394175904903</c:v>
                </c:pt>
                <c:pt idx="5">
                  <c:v>0.2023990434724828</c:v>
                </c:pt>
                <c:pt idx="6">
                  <c:v>0.17846824326245897</c:v>
                </c:pt>
                <c:pt idx="7">
                  <c:v>0.16015057197451446</c:v>
                </c:pt>
                <c:pt idx="8">
                  <c:v>0.12824355192487735</c:v>
                </c:pt>
                <c:pt idx="9">
                  <c:v>9.9886743256597077E-2</c:v>
                </c:pt>
              </c:numCache>
            </c:numRef>
          </c:val>
          <c:extLst>
            <c:ext xmlns:c16="http://schemas.microsoft.com/office/drawing/2014/chart" uri="{C3380CC4-5D6E-409C-BE32-E72D297353CC}">
              <c16:uniqueId val="{0000000C-84B7-48E3-B3FA-DA531D333C28}"/>
            </c:ext>
          </c:extLst>
        </c:ser>
        <c:dLbls>
          <c:dLblPos val="ctr"/>
          <c:showLegendKey val="0"/>
          <c:showVal val="1"/>
          <c:showCatName val="0"/>
          <c:showSerName val="0"/>
          <c:showPercent val="0"/>
          <c:showBubbleSize val="0"/>
        </c:dLbls>
        <c:gapWidth val="150"/>
        <c:overlap val="100"/>
        <c:axId val="1316283759"/>
        <c:axId val="1316285007"/>
      </c:barChart>
      <c:catAx>
        <c:axId val="131628375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s-EC"/>
          </a:p>
        </c:txPr>
        <c:crossAx val="1316285007"/>
        <c:crosses val="autoZero"/>
        <c:auto val="1"/>
        <c:lblAlgn val="ctr"/>
        <c:lblOffset val="100"/>
        <c:noMultiLvlLbl val="0"/>
      </c:catAx>
      <c:valAx>
        <c:axId val="1316285007"/>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s-EC"/>
          </a:p>
        </c:txPr>
        <c:crossAx val="1316283759"/>
        <c:crosses val="autoZero"/>
        <c:crossBetween val="between"/>
      </c:valAx>
      <c:spPr>
        <a:noFill/>
        <a:ln>
          <a:noFill/>
        </a:ln>
        <a:effectLst/>
      </c:spPr>
    </c:plotArea>
    <c:legend>
      <c:legendPos val="b"/>
      <c:layout>
        <c:manualLayout>
          <c:xMode val="edge"/>
          <c:yMode val="edge"/>
          <c:x val="3.9660942906676953E-2"/>
          <c:y val="0.49564745387493148"/>
          <c:w val="0.91936900548042377"/>
          <c:h val="0.49083565266905432"/>
        </c:manualLayout>
      </c:layout>
      <c:overlay val="0"/>
      <c:spPr>
        <a:noFill/>
        <a:ln>
          <a:noFill/>
        </a:ln>
        <a:effectLst/>
      </c:spPr>
      <c:txPr>
        <a:bodyPr rot="0" spcFirstLastPara="1" vertOverflow="ellipsis" vert="horz" wrap="square" anchor="ctr" anchorCtr="1"/>
        <a:lstStyle/>
        <a:p>
          <a:pPr>
            <a:defRPr lang="en-US" sz="900" b="0" i="0" u="none" strike="noStrike" kern="1200" baseline="0">
              <a:solidFill>
                <a:schemeClr val="tx1">
                  <a:lumMod val="65000"/>
                  <a:lumOff val="35000"/>
                </a:schemeClr>
              </a:solidFill>
              <a:latin typeface="+mn-lt"/>
              <a:ea typeface="+mn-ea"/>
              <a:cs typeface="+mn-cs"/>
            </a:defRPr>
          </a:pPr>
          <a:endParaRPr lang="es-EC"/>
        </a:p>
      </c:txPr>
    </c:legend>
    <c:plotVisOnly val="1"/>
    <c:dispBlanksAs val="gap"/>
    <c:showDLblsOverMax val="0"/>
  </c:chart>
  <c:spPr>
    <a:noFill/>
    <a:ln>
      <a:noFill/>
    </a:ln>
    <a:effectLst/>
  </c:spPr>
  <c:txPr>
    <a:bodyPr/>
    <a:lstStyle/>
    <a:p>
      <a:pPr>
        <a:defRPr lang="en-US"/>
      </a:pPr>
      <a:endParaRPr lang="es-EC"/>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6339589597764733E-3"/>
          <c:y val="2.7945399574586915E-2"/>
          <c:w val="0.96895943562610232"/>
          <c:h val="0.44674659261528143"/>
        </c:manualLayout>
      </c:layout>
      <c:barChart>
        <c:barDir val="col"/>
        <c:grouping val="percentStacked"/>
        <c:varyColors val="0"/>
        <c:ser>
          <c:idx val="0"/>
          <c:order val="0"/>
          <c:tx>
            <c:strRef>
              <c:f>Hoja2!$B$55</c:f>
              <c:strCache>
                <c:ptCount val="1"/>
                <c:pt idx="0">
                  <c:v>Vivienda, Agua, Electricidad, Gas Y Otros Combustibles</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Hoja2!$C$54:$E$54</c:f>
              <c:strCache>
                <c:ptCount val="3"/>
                <c:pt idx="0">
                  <c:v>decil 1</c:v>
                </c:pt>
                <c:pt idx="1">
                  <c:v>decil 5</c:v>
                </c:pt>
                <c:pt idx="2">
                  <c:v>decil 10</c:v>
                </c:pt>
              </c:strCache>
            </c:strRef>
          </c:cat>
          <c:val>
            <c:numRef>
              <c:f>Hoja2!$C$55:$E$55</c:f>
              <c:numCache>
                <c:formatCode>0.0%</c:formatCode>
                <c:ptCount val="3"/>
                <c:pt idx="0">
                  <c:v>0.16962034648636201</c:v>
                </c:pt>
                <c:pt idx="1">
                  <c:v>0.1247108263440098</c:v>
                </c:pt>
                <c:pt idx="2">
                  <c:v>8.7476380650434504E-2</c:v>
                </c:pt>
              </c:numCache>
            </c:numRef>
          </c:val>
          <c:extLst>
            <c:ext xmlns:c16="http://schemas.microsoft.com/office/drawing/2014/chart" uri="{C3380CC4-5D6E-409C-BE32-E72D297353CC}">
              <c16:uniqueId val="{00000000-A7AA-4378-894F-DE319CEAC8F5}"/>
            </c:ext>
          </c:extLst>
        </c:ser>
        <c:ser>
          <c:idx val="1"/>
          <c:order val="1"/>
          <c:tx>
            <c:strRef>
              <c:f>Hoja2!$B$56</c:f>
              <c:strCache>
                <c:ptCount val="1"/>
                <c:pt idx="0">
                  <c:v>Transporte</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Hoja2!$C$54:$E$54</c:f>
              <c:strCache>
                <c:ptCount val="3"/>
                <c:pt idx="0">
                  <c:v>decil 1</c:v>
                </c:pt>
                <c:pt idx="1">
                  <c:v>decil 5</c:v>
                </c:pt>
                <c:pt idx="2">
                  <c:v>decil 10</c:v>
                </c:pt>
              </c:strCache>
            </c:strRef>
          </c:cat>
          <c:val>
            <c:numRef>
              <c:f>Hoja2!$C$56:$E$56</c:f>
              <c:numCache>
                <c:formatCode>0.0%</c:formatCode>
                <c:ptCount val="3"/>
                <c:pt idx="0">
                  <c:v>8.9285534471074846E-2</c:v>
                </c:pt>
                <c:pt idx="1">
                  <c:v>0.12133635260998778</c:v>
                </c:pt>
                <c:pt idx="2">
                  <c:v>0.16172442853297123</c:v>
                </c:pt>
              </c:numCache>
            </c:numRef>
          </c:val>
          <c:extLst>
            <c:ext xmlns:c16="http://schemas.microsoft.com/office/drawing/2014/chart" uri="{C3380CC4-5D6E-409C-BE32-E72D297353CC}">
              <c16:uniqueId val="{00000001-A7AA-4378-894F-DE319CEAC8F5}"/>
            </c:ext>
          </c:extLst>
        </c:ser>
        <c:ser>
          <c:idx val="2"/>
          <c:order val="2"/>
          <c:tx>
            <c:strRef>
              <c:f>Hoja2!$B$57</c:f>
              <c:strCache>
                <c:ptCount val="1"/>
                <c:pt idx="0">
                  <c:v>Servicios Educativos</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Hoja2!$C$54:$E$54</c:f>
              <c:strCache>
                <c:ptCount val="3"/>
                <c:pt idx="0">
                  <c:v>decil 1</c:v>
                </c:pt>
                <c:pt idx="1">
                  <c:v>decil 5</c:v>
                </c:pt>
                <c:pt idx="2">
                  <c:v>decil 10</c:v>
                </c:pt>
              </c:strCache>
            </c:strRef>
          </c:cat>
          <c:val>
            <c:numRef>
              <c:f>Hoja2!$C$57:$E$57</c:f>
              <c:numCache>
                <c:formatCode>0.0%</c:formatCode>
                <c:ptCount val="3"/>
                <c:pt idx="0">
                  <c:v>9.6358139386776807E-3</c:v>
                </c:pt>
                <c:pt idx="1">
                  <c:v>5.7158789649483066E-2</c:v>
                </c:pt>
                <c:pt idx="2">
                  <c:v>9.7823318745565491E-2</c:v>
                </c:pt>
              </c:numCache>
            </c:numRef>
          </c:val>
          <c:extLst>
            <c:ext xmlns:c16="http://schemas.microsoft.com/office/drawing/2014/chart" uri="{C3380CC4-5D6E-409C-BE32-E72D297353CC}">
              <c16:uniqueId val="{00000002-A7AA-4378-894F-DE319CEAC8F5}"/>
            </c:ext>
          </c:extLst>
        </c:ser>
        <c:ser>
          <c:idx val="3"/>
          <c:order val="3"/>
          <c:tx>
            <c:strRef>
              <c:f>Hoja2!$B$58</c:f>
              <c:strCache>
                <c:ptCount val="1"/>
                <c:pt idx="0">
                  <c:v>Servicios De Restaurantes Y Alojamiento</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Hoja2!$C$54:$E$54</c:f>
              <c:strCache>
                <c:ptCount val="3"/>
                <c:pt idx="0">
                  <c:v>decil 1</c:v>
                </c:pt>
                <c:pt idx="1">
                  <c:v>decil 5</c:v>
                </c:pt>
                <c:pt idx="2">
                  <c:v>decil 10</c:v>
                </c:pt>
              </c:strCache>
            </c:strRef>
          </c:cat>
          <c:val>
            <c:numRef>
              <c:f>Hoja2!$C$58:$E$58</c:f>
              <c:numCache>
                <c:formatCode>0.0%</c:formatCode>
                <c:ptCount val="3"/>
                <c:pt idx="0">
                  <c:v>5.6821592117562089E-2</c:v>
                </c:pt>
                <c:pt idx="1">
                  <c:v>9.8307993340147865E-2</c:v>
                </c:pt>
                <c:pt idx="2">
                  <c:v>9.8283088181550446E-2</c:v>
                </c:pt>
              </c:numCache>
            </c:numRef>
          </c:val>
          <c:extLst>
            <c:ext xmlns:c16="http://schemas.microsoft.com/office/drawing/2014/chart" uri="{C3380CC4-5D6E-409C-BE32-E72D297353CC}">
              <c16:uniqueId val="{00000003-A7AA-4378-894F-DE319CEAC8F5}"/>
            </c:ext>
          </c:extLst>
        </c:ser>
        <c:ser>
          <c:idx val="4"/>
          <c:order val="4"/>
          <c:tx>
            <c:strRef>
              <c:f>Hoja2!$B$59</c:f>
              <c:strCache>
                <c:ptCount val="1"/>
                <c:pt idx="0">
                  <c:v>Seguros Y Servicios Financieros</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Hoja2!$C$54:$E$54</c:f>
              <c:strCache>
                <c:ptCount val="3"/>
                <c:pt idx="0">
                  <c:v>decil 1</c:v>
                </c:pt>
                <c:pt idx="1">
                  <c:v>decil 5</c:v>
                </c:pt>
                <c:pt idx="2">
                  <c:v>decil 10</c:v>
                </c:pt>
              </c:strCache>
            </c:strRef>
          </c:cat>
          <c:val>
            <c:numRef>
              <c:f>Hoja2!$C$59:$E$59</c:f>
              <c:numCache>
                <c:formatCode>0.0%</c:formatCode>
                <c:ptCount val="3"/>
                <c:pt idx="0">
                  <c:v>5.1133855237899765E-3</c:v>
                </c:pt>
                <c:pt idx="1">
                  <c:v>1.1497011468730292E-2</c:v>
                </c:pt>
                <c:pt idx="2">
                  <c:v>3.3308573874688274E-2</c:v>
                </c:pt>
              </c:numCache>
            </c:numRef>
          </c:val>
          <c:extLst>
            <c:ext xmlns:c16="http://schemas.microsoft.com/office/drawing/2014/chart" uri="{C3380CC4-5D6E-409C-BE32-E72D297353CC}">
              <c16:uniqueId val="{00000004-A7AA-4378-894F-DE319CEAC8F5}"/>
            </c:ext>
          </c:extLst>
        </c:ser>
        <c:ser>
          <c:idx val="5"/>
          <c:order val="5"/>
          <c:tx>
            <c:strRef>
              <c:f>Hoja2!$B$60</c:f>
              <c:strCache>
                <c:ptCount val="1"/>
                <c:pt idx="0">
                  <c:v>Salud</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Hoja2!$C$54:$E$54</c:f>
              <c:strCache>
                <c:ptCount val="3"/>
                <c:pt idx="0">
                  <c:v>decil 1</c:v>
                </c:pt>
                <c:pt idx="1">
                  <c:v>decil 5</c:v>
                </c:pt>
                <c:pt idx="2">
                  <c:v>decil 10</c:v>
                </c:pt>
              </c:strCache>
            </c:strRef>
          </c:cat>
          <c:val>
            <c:numRef>
              <c:f>Hoja2!$C$60:$E$60</c:f>
              <c:numCache>
                <c:formatCode>0.0%</c:formatCode>
                <c:ptCount val="3"/>
                <c:pt idx="0">
                  <c:v>6.3488717425560406E-2</c:v>
                </c:pt>
                <c:pt idx="1">
                  <c:v>7.3332046376956103E-2</c:v>
                </c:pt>
                <c:pt idx="2">
                  <c:v>8.9730476050195462E-2</c:v>
                </c:pt>
              </c:numCache>
            </c:numRef>
          </c:val>
          <c:extLst>
            <c:ext xmlns:c16="http://schemas.microsoft.com/office/drawing/2014/chart" uri="{C3380CC4-5D6E-409C-BE32-E72D297353CC}">
              <c16:uniqueId val="{00000005-A7AA-4378-894F-DE319CEAC8F5}"/>
            </c:ext>
          </c:extLst>
        </c:ser>
        <c:ser>
          <c:idx val="6"/>
          <c:order val="6"/>
          <c:tx>
            <c:strRef>
              <c:f>Hoja2!$B$61</c:f>
              <c:strCache>
                <c:ptCount val="1"/>
                <c:pt idx="0">
                  <c:v>Recreación, Deporte Y Cultura</c:v>
                </c:pt>
              </c:strCache>
            </c:strRef>
          </c:tx>
          <c:spPr>
            <a:solidFill>
              <a:schemeClr val="accent1">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Hoja2!$C$54:$E$54</c:f>
              <c:strCache>
                <c:ptCount val="3"/>
                <c:pt idx="0">
                  <c:v>decil 1</c:v>
                </c:pt>
                <c:pt idx="1">
                  <c:v>decil 5</c:v>
                </c:pt>
                <c:pt idx="2">
                  <c:v>decil 10</c:v>
                </c:pt>
              </c:strCache>
            </c:strRef>
          </c:cat>
          <c:val>
            <c:numRef>
              <c:f>Hoja2!$C$61:$E$61</c:f>
              <c:numCache>
                <c:formatCode>0.0%</c:formatCode>
                <c:ptCount val="3"/>
                <c:pt idx="0">
                  <c:v>2.5705947075821512E-2</c:v>
                </c:pt>
                <c:pt idx="1">
                  <c:v>2.3519046579440771E-2</c:v>
                </c:pt>
                <c:pt idx="2">
                  <c:v>5.0622821143652533E-2</c:v>
                </c:pt>
              </c:numCache>
            </c:numRef>
          </c:val>
          <c:extLst>
            <c:ext xmlns:c16="http://schemas.microsoft.com/office/drawing/2014/chart" uri="{C3380CC4-5D6E-409C-BE32-E72D297353CC}">
              <c16:uniqueId val="{00000006-A7AA-4378-894F-DE319CEAC8F5}"/>
            </c:ext>
          </c:extLst>
        </c:ser>
        <c:ser>
          <c:idx val="7"/>
          <c:order val="7"/>
          <c:tx>
            <c:strRef>
              <c:f>Hoja2!$B$62</c:f>
              <c:strCache>
                <c:ptCount val="1"/>
                <c:pt idx="0">
                  <c:v>Prendas De Vestir Y Calzado</c:v>
                </c:pt>
              </c:strCache>
            </c:strRef>
          </c:tx>
          <c:spPr>
            <a:solidFill>
              <a:schemeClr val="accent2">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Hoja2!$C$54:$E$54</c:f>
              <c:strCache>
                <c:ptCount val="3"/>
                <c:pt idx="0">
                  <c:v>decil 1</c:v>
                </c:pt>
                <c:pt idx="1">
                  <c:v>decil 5</c:v>
                </c:pt>
                <c:pt idx="2">
                  <c:v>decil 10</c:v>
                </c:pt>
              </c:strCache>
            </c:strRef>
          </c:cat>
          <c:val>
            <c:numRef>
              <c:f>Hoja2!$C$62:$E$62</c:f>
              <c:numCache>
                <c:formatCode>0.0%</c:formatCode>
                <c:ptCount val="3"/>
                <c:pt idx="0">
                  <c:v>7.0256596495257409E-2</c:v>
                </c:pt>
                <c:pt idx="1">
                  <c:v>6.866500939583689E-2</c:v>
                </c:pt>
                <c:pt idx="2">
                  <c:v>5.8092159807325218E-2</c:v>
                </c:pt>
              </c:numCache>
            </c:numRef>
          </c:val>
          <c:extLst>
            <c:ext xmlns:c16="http://schemas.microsoft.com/office/drawing/2014/chart" uri="{C3380CC4-5D6E-409C-BE32-E72D297353CC}">
              <c16:uniqueId val="{00000007-A7AA-4378-894F-DE319CEAC8F5}"/>
            </c:ext>
          </c:extLst>
        </c:ser>
        <c:ser>
          <c:idx val="8"/>
          <c:order val="8"/>
          <c:tx>
            <c:strRef>
              <c:f>Hoja2!$B$63</c:f>
              <c:strCache>
                <c:ptCount val="1"/>
                <c:pt idx="0">
                  <c:v>Muebles, Artículos Para El Hogar Y Para La Conservación Ordinaria Del Hogar</c:v>
                </c:pt>
              </c:strCache>
            </c:strRef>
          </c:tx>
          <c:spPr>
            <a:solidFill>
              <a:schemeClr val="accent3">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Hoja2!$C$54:$E$54</c:f>
              <c:strCache>
                <c:ptCount val="3"/>
                <c:pt idx="0">
                  <c:v>decil 1</c:v>
                </c:pt>
                <c:pt idx="1">
                  <c:v>decil 5</c:v>
                </c:pt>
                <c:pt idx="2">
                  <c:v>decil 10</c:v>
                </c:pt>
              </c:strCache>
            </c:strRef>
          </c:cat>
          <c:val>
            <c:numRef>
              <c:f>Hoja2!$C$63:$E$63</c:f>
              <c:numCache>
                <c:formatCode>0.0%</c:formatCode>
                <c:ptCount val="3"/>
                <c:pt idx="0">
                  <c:v>4.7694213140280099E-2</c:v>
                </c:pt>
                <c:pt idx="1">
                  <c:v>4.9333893047932356E-2</c:v>
                </c:pt>
                <c:pt idx="2">
                  <c:v>9.8101907817467776E-2</c:v>
                </c:pt>
              </c:numCache>
            </c:numRef>
          </c:val>
          <c:extLst>
            <c:ext xmlns:c16="http://schemas.microsoft.com/office/drawing/2014/chart" uri="{C3380CC4-5D6E-409C-BE32-E72D297353CC}">
              <c16:uniqueId val="{00000008-A7AA-4378-894F-DE319CEAC8F5}"/>
            </c:ext>
          </c:extLst>
        </c:ser>
        <c:ser>
          <c:idx val="9"/>
          <c:order val="9"/>
          <c:tx>
            <c:strRef>
              <c:f>Hoja2!$B$64</c:f>
              <c:strCache>
                <c:ptCount val="1"/>
                <c:pt idx="0">
                  <c:v>Información Y Comunicación</c:v>
                </c:pt>
              </c:strCache>
            </c:strRef>
          </c:tx>
          <c:spPr>
            <a:solidFill>
              <a:schemeClr val="accent4">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Hoja2!$C$54:$E$54</c:f>
              <c:strCache>
                <c:ptCount val="3"/>
                <c:pt idx="0">
                  <c:v>decil 1</c:v>
                </c:pt>
                <c:pt idx="1">
                  <c:v>decil 5</c:v>
                </c:pt>
                <c:pt idx="2">
                  <c:v>decil 10</c:v>
                </c:pt>
              </c:strCache>
            </c:strRef>
          </c:cat>
          <c:val>
            <c:numRef>
              <c:f>Hoja2!$C$64:$E$64</c:f>
              <c:numCache>
                <c:formatCode>0.0%</c:formatCode>
                <c:ptCount val="3"/>
                <c:pt idx="0">
                  <c:v>5.2187057102251591E-2</c:v>
                </c:pt>
                <c:pt idx="1">
                  <c:v>6.4715450732541854E-2</c:v>
                </c:pt>
                <c:pt idx="2">
                  <c:v>5.7065933342713641E-2</c:v>
                </c:pt>
              </c:numCache>
            </c:numRef>
          </c:val>
          <c:extLst>
            <c:ext xmlns:c16="http://schemas.microsoft.com/office/drawing/2014/chart" uri="{C3380CC4-5D6E-409C-BE32-E72D297353CC}">
              <c16:uniqueId val="{00000009-A7AA-4378-894F-DE319CEAC8F5}"/>
            </c:ext>
          </c:extLst>
        </c:ser>
        <c:ser>
          <c:idx val="10"/>
          <c:order val="10"/>
          <c:tx>
            <c:strRef>
              <c:f>Hoja2!$B$65</c:f>
              <c:strCache>
                <c:ptCount val="1"/>
                <c:pt idx="0">
                  <c:v>Cuidado Personal, Previsión Social Y Bienes Y Servicios Diversos</c:v>
                </c:pt>
              </c:strCache>
            </c:strRef>
          </c:tx>
          <c:spPr>
            <a:solidFill>
              <a:schemeClr val="accent5">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Hoja2!$C$54:$E$54</c:f>
              <c:strCache>
                <c:ptCount val="3"/>
                <c:pt idx="0">
                  <c:v>decil 1</c:v>
                </c:pt>
                <c:pt idx="1">
                  <c:v>decil 5</c:v>
                </c:pt>
                <c:pt idx="2">
                  <c:v>decil 10</c:v>
                </c:pt>
              </c:strCache>
            </c:strRef>
          </c:cat>
          <c:val>
            <c:numRef>
              <c:f>Hoja2!$C$65:$E$65</c:f>
              <c:numCache>
                <c:formatCode>0.0%</c:formatCode>
                <c:ptCount val="3"/>
                <c:pt idx="0">
                  <c:v>9.9425605269730627E-2</c:v>
                </c:pt>
                <c:pt idx="1">
                  <c:v>8.4637758679089015E-2</c:v>
                </c:pt>
                <c:pt idx="2">
                  <c:v>6.558055160283513E-2</c:v>
                </c:pt>
              </c:numCache>
            </c:numRef>
          </c:val>
          <c:extLst>
            <c:ext xmlns:c16="http://schemas.microsoft.com/office/drawing/2014/chart" uri="{C3380CC4-5D6E-409C-BE32-E72D297353CC}">
              <c16:uniqueId val="{0000000A-A7AA-4378-894F-DE319CEAC8F5}"/>
            </c:ext>
          </c:extLst>
        </c:ser>
        <c:ser>
          <c:idx val="11"/>
          <c:order val="11"/>
          <c:tx>
            <c:strRef>
              <c:f>Hoja2!$B$66</c:f>
              <c:strCache>
                <c:ptCount val="1"/>
                <c:pt idx="0">
                  <c:v>Bebidas Alcohólicas, Tabaco Y Estupefacientes</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Hoja2!$C$54:$E$54</c:f>
              <c:strCache>
                <c:ptCount val="3"/>
                <c:pt idx="0">
                  <c:v>decil 1</c:v>
                </c:pt>
                <c:pt idx="1">
                  <c:v>decil 5</c:v>
                </c:pt>
                <c:pt idx="2">
                  <c:v>decil 10</c:v>
                </c:pt>
              </c:strCache>
            </c:strRef>
          </c:cat>
          <c:val>
            <c:numRef>
              <c:f>Hoja2!$C$66:$E$66</c:f>
              <c:numCache>
                <c:formatCode>0.0%</c:formatCode>
                <c:ptCount val="3"/>
                <c:pt idx="0">
                  <c:v>3.17372256716389E-3</c:v>
                </c:pt>
                <c:pt idx="1">
                  <c:v>3.6418800167950681E-3</c:v>
                </c:pt>
                <c:pt idx="2">
                  <c:v>2.3036169940031676E-3</c:v>
                </c:pt>
              </c:numCache>
            </c:numRef>
          </c:val>
          <c:extLst>
            <c:ext xmlns:c16="http://schemas.microsoft.com/office/drawing/2014/chart" uri="{C3380CC4-5D6E-409C-BE32-E72D297353CC}">
              <c16:uniqueId val="{0000000B-A7AA-4378-894F-DE319CEAC8F5}"/>
            </c:ext>
          </c:extLst>
        </c:ser>
        <c:ser>
          <c:idx val="12"/>
          <c:order val="12"/>
          <c:tx>
            <c:strRef>
              <c:f>Hoja2!$B$67</c:f>
              <c:strCache>
                <c:ptCount val="1"/>
                <c:pt idx="0">
                  <c:v>Alimentos Y Bebidas No Alcohólicas                                                                                                    </c:v>
                </c:pt>
              </c:strCache>
            </c:strRef>
          </c:tx>
          <c:spPr>
            <a:solidFill>
              <a:schemeClr val="accent1">
                <a:lumMod val="80000"/>
                <a:lumOff val="2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Hoja2!$C$54:$E$54</c:f>
              <c:strCache>
                <c:ptCount val="3"/>
                <c:pt idx="0">
                  <c:v>decil 1</c:v>
                </c:pt>
                <c:pt idx="1">
                  <c:v>decil 5</c:v>
                </c:pt>
                <c:pt idx="2">
                  <c:v>decil 10</c:v>
                </c:pt>
              </c:strCache>
            </c:strRef>
          </c:cat>
          <c:val>
            <c:numRef>
              <c:f>Hoja2!$C$67:$E$67</c:f>
              <c:numCache>
                <c:formatCode>0.0%</c:formatCode>
                <c:ptCount val="3"/>
                <c:pt idx="0">
                  <c:v>0.307591468386468</c:v>
                </c:pt>
                <c:pt idx="1">
                  <c:v>0.21914394175904903</c:v>
                </c:pt>
                <c:pt idx="2">
                  <c:v>9.9886743256597077E-2</c:v>
                </c:pt>
              </c:numCache>
            </c:numRef>
          </c:val>
          <c:extLst>
            <c:ext xmlns:c16="http://schemas.microsoft.com/office/drawing/2014/chart" uri="{C3380CC4-5D6E-409C-BE32-E72D297353CC}">
              <c16:uniqueId val="{0000000C-A7AA-4378-894F-DE319CEAC8F5}"/>
            </c:ext>
          </c:extLst>
        </c:ser>
        <c:dLbls>
          <c:dLblPos val="ctr"/>
          <c:showLegendKey val="0"/>
          <c:showVal val="1"/>
          <c:showCatName val="0"/>
          <c:showSerName val="0"/>
          <c:showPercent val="0"/>
          <c:showBubbleSize val="0"/>
        </c:dLbls>
        <c:gapWidth val="150"/>
        <c:overlap val="100"/>
        <c:axId val="1251979439"/>
        <c:axId val="1251981519"/>
      </c:barChart>
      <c:catAx>
        <c:axId val="125197943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C"/>
          </a:p>
        </c:txPr>
        <c:crossAx val="1251981519"/>
        <c:crosses val="autoZero"/>
        <c:auto val="1"/>
        <c:lblAlgn val="ctr"/>
        <c:lblOffset val="100"/>
        <c:noMultiLvlLbl val="0"/>
      </c:catAx>
      <c:valAx>
        <c:axId val="1251981519"/>
        <c:scaling>
          <c:orientation val="minMax"/>
        </c:scaling>
        <c:delete val="1"/>
        <c:axPos val="l"/>
        <c:numFmt formatCode="0%" sourceLinked="1"/>
        <c:majorTickMark val="none"/>
        <c:minorTickMark val="none"/>
        <c:tickLblPos val="nextTo"/>
        <c:crossAx val="1251979439"/>
        <c:crosses val="autoZero"/>
        <c:crossBetween val="between"/>
      </c:valAx>
      <c:spPr>
        <a:noFill/>
        <a:ln w="25400">
          <a:noFill/>
        </a:ln>
        <a:effectLst/>
      </c:spPr>
    </c:plotArea>
    <c:legend>
      <c:legendPos val="b"/>
      <c:layout>
        <c:manualLayout>
          <c:xMode val="edge"/>
          <c:yMode val="edge"/>
          <c:x val="9.0175941145865073E-3"/>
          <c:y val="0.53160639981245972"/>
          <c:w val="0.979073645183971"/>
          <c:h val="0.4547579730479778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C"/>
        </a:p>
      </c:txPr>
    </c:legend>
    <c:plotVisOnly val="1"/>
    <c:dispBlanksAs val="gap"/>
    <c:showDLblsOverMax val="0"/>
  </c:chart>
  <c:spPr>
    <a:noFill/>
    <a:ln>
      <a:noFill/>
    </a:ln>
    <a:effectLst/>
  </c:spPr>
  <c:txPr>
    <a:bodyPr/>
    <a:lstStyle/>
    <a:p>
      <a:pPr>
        <a:defRPr/>
      </a:pPr>
      <a:endParaRPr lang="es-EC"/>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8794287678009847E-2"/>
          <c:y val="0.12205054670126786"/>
          <c:w val="0.89791209485654588"/>
          <c:h val="0.66217722233456733"/>
        </c:manualLayout>
      </c:layout>
      <c:lineChart>
        <c:grouping val="standard"/>
        <c:varyColors val="0"/>
        <c:ser>
          <c:idx val="0"/>
          <c:order val="0"/>
          <c:tx>
            <c:strRef>
              <c:f>Hoja2!$B$42</c:f>
              <c:strCache>
                <c:ptCount val="1"/>
                <c:pt idx="0">
                  <c:v>Alimentos Y Bebidas No Alcohólicas</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Hoja2!$C$41:$L$41</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Hoja2!$C$42:$L$42</c:f>
              <c:numCache>
                <c:formatCode>0.0%</c:formatCode>
                <c:ptCount val="10"/>
                <c:pt idx="0">
                  <c:v>0.291496349926534</c:v>
                </c:pt>
                <c:pt idx="1">
                  <c:v>0.30028600554666807</c:v>
                </c:pt>
                <c:pt idx="2">
                  <c:v>0.28713605356929012</c:v>
                </c:pt>
                <c:pt idx="3">
                  <c:v>0.2848542769193621</c:v>
                </c:pt>
                <c:pt idx="4">
                  <c:v>0.27732002235210645</c:v>
                </c:pt>
                <c:pt idx="5">
                  <c:v>0.2474122190688591</c:v>
                </c:pt>
                <c:pt idx="6">
                  <c:v>0.21705368941979447</c:v>
                </c:pt>
                <c:pt idx="7">
                  <c:v>0.20261219911995243</c:v>
                </c:pt>
                <c:pt idx="8">
                  <c:v>0.18289454250656176</c:v>
                </c:pt>
                <c:pt idx="9">
                  <c:v>0.12018778130705143</c:v>
                </c:pt>
              </c:numCache>
            </c:numRef>
          </c:val>
          <c:smooth val="0"/>
          <c:extLst>
            <c:ext xmlns:c16="http://schemas.microsoft.com/office/drawing/2014/chart" uri="{C3380CC4-5D6E-409C-BE32-E72D297353CC}">
              <c16:uniqueId val="{00000000-3AAD-4340-8DE6-25018E845887}"/>
            </c:ext>
          </c:extLst>
        </c:ser>
        <c:ser>
          <c:idx val="1"/>
          <c:order val="1"/>
          <c:tx>
            <c:strRef>
              <c:f>Hoja2!$B$43</c:f>
              <c:strCache>
                <c:ptCount val="1"/>
                <c:pt idx="0">
                  <c:v>Cuidado Personal, Prevision Social Y Bienes Y Servicios Diversos</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Hoja2!$C$41:$L$41</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Hoja2!$C$43:$L$43</c:f>
              <c:numCache>
                <c:formatCode>0.0%</c:formatCode>
                <c:ptCount val="10"/>
                <c:pt idx="0">
                  <c:v>0.12481215299274354</c:v>
                </c:pt>
                <c:pt idx="1">
                  <c:v>0.10384604415524228</c:v>
                </c:pt>
                <c:pt idx="2">
                  <c:v>0.1015247901523611</c:v>
                </c:pt>
                <c:pt idx="3">
                  <c:v>9.4358151068205984E-2</c:v>
                </c:pt>
                <c:pt idx="4">
                  <c:v>9.6211140451574348E-2</c:v>
                </c:pt>
                <c:pt idx="5">
                  <c:v>9.1940196300503235E-2</c:v>
                </c:pt>
                <c:pt idx="6">
                  <c:v>8.7681644229318734E-2</c:v>
                </c:pt>
                <c:pt idx="7">
                  <c:v>9.1079295032871641E-2</c:v>
                </c:pt>
                <c:pt idx="8">
                  <c:v>8.034791849456728E-2</c:v>
                </c:pt>
                <c:pt idx="9">
                  <c:v>8.7160519839617756E-2</c:v>
                </c:pt>
              </c:numCache>
            </c:numRef>
          </c:val>
          <c:smooth val="0"/>
          <c:extLst>
            <c:ext xmlns:c16="http://schemas.microsoft.com/office/drawing/2014/chart" uri="{C3380CC4-5D6E-409C-BE32-E72D297353CC}">
              <c16:uniqueId val="{00000001-3AAD-4340-8DE6-25018E845887}"/>
            </c:ext>
          </c:extLst>
        </c:ser>
        <c:ser>
          <c:idx val="2"/>
          <c:order val="2"/>
          <c:tx>
            <c:strRef>
              <c:f>Hoja2!$B$44</c:f>
              <c:strCache>
                <c:ptCount val="1"/>
                <c:pt idx="0">
                  <c:v>Transporte</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Hoja2!$C$41:$L$41</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Hoja2!$C$44:$L$44</c:f>
              <c:numCache>
                <c:formatCode>0.0%</c:formatCode>
                <c:ptCount val="10"/>
                <c:pt idx="0">
                  <c:v>0.11137615967261999</c:v>
                </c:pt>
                <c:pt idx="1">
                  <c:v>0.12096469692555581</c:v>
                </c:pt>
                <c:pt idx="2">
                  <c:v>0.11920288712358337</c:v>
                </c:pt>
                <c:pt idx="3">
                  <c:v>0.1298530977432589</c:v>
                </c:pt>
                <c:pt idx="4">
                  <c:v>0.1392857781523853</c:v>
                </c:pt>
                <c:pt idx="5">
                  <c:v>0.15589923192136551</c:v>
                </c:pt>
                <c:pt idx="6">
                  <c:v>0.15885712823433781</c:v>
                </c:pt>
                <c:pt idx="7">
                  <c:v>0.16156893347774626</c:v>
                </c:pt>
                <c:pt idx="8">
                  <c:v>0.177633321399814</c:v>
                </c:pt>
                <c:pt idx="9">
                  <c:v>0.17395426807539671</c:v>
                </c:pt>
              </c:numCache>
            </c:numRef>
          </c:val>
          <c:smooth val="0"/>
          <c:extLst>
            <c:ext xmlns:c16="http://schemas.microsoft.com/office/drawing/2014/chart" uri="{C3380CC4-5D6E-409C-BE32-E72D297353CC}">
              <c16:uniqueId val="{00000002-3AAD-4340-8DE6-25018E845887}"/>
            </c:ext>
          </c:extLst>
        </c:ser>
        <c:ser>
          <c:idx val="3"/>
          <c:order val="3"/>
          <c:tx>
            <c:strRef>
              <c:f>Hoja2!$B$45</c:f>
              <c:strCache>
                <c:ptCount val="1"/>
                <c:pt idx="0">
                  <c:v>Prendas De Vestir Y Calzado</c:v>
                </c:pt>
              </c:strCache>
            </c:strRef>
          </c:tx>
          <c:spPr>
            <a:ln w="28575" cap="rnd">
              <a:solidFill>
                <a:schemeClr val="accent4"/>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Hoja2!$C$41:$L$41</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Hoja2!$C$45:$L$45</c:f>
              <c:numCache>
                <c:formatCode>0.0%</c:formatCode>
                <c:ptCount val="10"/>
                <c:pt idx="0">
                  <c:v>0.10272412072627851</c:v>
                </c:pt>
                <c:pt idx="1">
                  <c:v>8.359222689439684E-2</c:v>
                </c:pt>
                <c:pt idx="2">
                  <c:v>7.7849661530003542E-2</c:v>
                </c:pt>
                <c:pt idx="3">
                  <c:v>7.4623418859463442E-2</c:v>
                </c:pt>
                <c:pt idx="4">
                  <c:v>7.3999485715403712E-2</c:v>
                </c:pt>
                <c:pt idx="5">
                  <c:v>7.122998135422616E-2</c:v>
                </c:pt>
                <c:pt idx="6">
                  <c:v>7.4405619865150846E-2</c:v>
                </c:pt>
                <c:pt idx="7">
                  <c:v>7.5407038507818575E-2</c:v>
                </c:pt>
                <c:pt idx="8">
                  <c:v>6.6526749366150634E-2</c:v>
                </c:pt>
                <c:pt idx="9">
                  <c:v>7.3017371451179994E-2</c:v>
                </c:pt>
              </c:numCache>
            </c:numRef>
          </c:val>
          <c:smooth val="0"/>
          <c:extLst>
            <c:ext xmlns:c16="http://schemas.microsoft.com/office/drawing/2014/chart" uri="{C3380CC4-5D6E-409C-BE32-E72D297353CC}">
              <c16:uniqueId val="{00000003-3AAD-4340-8DE6-25018E845887}"/>
            </c:ext>
          </c:extLst>
        </c:ser>
        <c:ser>
          <c:idx val="4"/>
          <c:order val="4"/>
          <c:tx>
            <c:strRef>
              <c:f>Hoja2!$B$46</c:f>
              <c:strCache>
                <c:ptCount val="1"/>
                <c:pt idx="0">
                  <c:v>Vivienda, Agua, Electricidad, Gas Y Otros Combustibles</c:v>
                </c:pt>
              </c:strCache>
            </c:strRef>
          </c:tx>
          <c:spPr>
            <a:ln w="28575" cap="rnd">
              <a:solidFill>
                <a:schemeClr val="accent5"/>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Hoja2!$C$41:$L$41</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Hoja2!$C$46:$L$46</c:f>
              <c:numCache>
                <c:formatCode>0.0%</c:formatCode>
                <c:ptCount val="10"/>
                <c:pt idx="0">
                  <c:v>9.9257152140448196E-2</c:v>
                </c:pt>
                <c:pt idx="1">
                  <c:v>0.10489125522899098</c:v>
                </c:pt>
                <c:pt idx="2">
                  <c:v>0.11533197252849448</c:v>
                </c:pt>
                <c:pt idx="3">
                  <c:v>0.10974426791794151</c:v>
                </c:pt>
                <c:pt idx="4">
                  <c:v>9.1383835158671337E-2</c:v>
                </c:pt>
                <c:pt idx="5">
                  <c:v>0.10324981572381457</c:v>
                </c:pt>
                <c:pt idx="6">
                  <c:v>9.7415837088439469E-2</c:v>
                </c:pt>
                <c:pt idx="7">
                  <c:v>9.2741633030454421E-2</c:v>
                </c:pt>
                <c:pt idx="8">
                  <c:v>8.4158883560998612E-2</c:v>
                </c:pt>
                <c:pt idx="9">
                  <c:v>7.3175193342731953E-2</c:v>
                </c:pt>
              </c:numCache>
            </c:numRef>
          </c:val>
          <c:smooth val="0"/>
          <c:extLst>
            <c:ext xmlns:c16="http://schemas.microsoft.com/office/drawing/2014/chart" uri="{C3380CC4-5D6E-409C-BE32-E72D297353CC}">
              <c16:uniqueId val="{00000004-3AAD-4340-8DE6-25018E845887}"/>
            </c:ext>
          </c:extLst>
        </c:ser>
        <c:ser>
          <c:idx val="5"/>
          <c:order val="5"/>
          <c:tx>
            <c:strRef>
              <c:f>Hoja2!$B$47</c:f>
              <c:strCache>
                <c:ptCount val="1"/>
                <c:pt idx="0">
                  <c:v>Muebles, Artículos Para El Hogar Y Para La Conservación Ordinaria Del Hogar</c:v>
                </c:pt>
              </c:strCache>
            </c:strRef>
          </c:tx>
          <c:spPr>
            <a:ln w="28575" cap="rnd">
              <a:solidFill>
                <a:schemeClr val="accent6"/>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Hoja2!$C$41:$L$41</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Hoja2!$C$47:$L$47</c:f>
              <c:numCache>
                <c:formatCode>0.0%</c:formatCode>
                <c:ptCount val="10"/>
                <c:pt idx="0">
                  <c:v>7.1641461887688496E-2</c:v>
                </c:pt>
                <c:pt idx="1">
                  <c:v>6.4487991793526364E-2</c:v>
                </c:pt>
                <c:pt idx="2">
                  <c:v>5.4927347640189965E-2</c:v>
                </c:pt>
                <c:pt idx="3">
                  <c:v>5.869082745848634E-2</c:v>
                </c:pt>
                <c:pt idx="4">
                  <c:v>6.1565555173227676E-2</c:v>
                </c:pt>
                <c:pt idx="5">
                  <c:v>6.2140591670828332E-2</c:v>
                </c:pt>
                <c:pt idx="6">
                  <c:v>6.1774307015166376E-2</c:v>
                </c:pt>
                <c:pt idx="7">
                  <c:v>6.5092108837386642E-2</c:v>
                </c:pt>
                <c:pt idx="8">
                  <c:v>6.7444582464667668E-2</c:v>
                </c:pt>
                <c:pt idx="9">
                  <c:v>9.4811213894799698E-2</c:v>
                </c:pt>
              </c:numCache>
            </c:numRef>
          </c:val>
          <c:smooth val="0"/>
          <c:extLst>
            <c:ext xmlns:c16="http://schemas.microsoft.com/office/drawing/2014/chart" uri="{C3380CC4-5D6E-409C-BE32-E72D297353CC}">
              <c16:uniqueId val="{00000005-3AAD-4340-8DE6-25018E845887}"/>
            </c:ext>
          </c:extLst>
        </c:ser>
        <c:dLbls>
          <c:dLblPos val="t"/>
          <c:showLegendKey val="0"/>
          <c:showVal val="1"/>
          <c:showCatName val="0"/>
          <c:showSerName val="0"/>
          <c:showPercent val="0"/>
          <c:showBubbleSize val="0"/>
        </c:dLbls>
        <c:smooth val="0"/>
        <c:axId val="196518848"/>
        <c:axId val="196519264"/>
      </c:lineChart>
      <c:catAx>
        <c:axId val="1965188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C"/>
          </a:p>
        </c:txPr>
        <c:crossAx val="196519264"/>
        <c:crosses val="autoZero"/>
        <c:auto val="1"/>
        <c:lblAlgn val="ctr"/>
        <c:lblOffset val="100"/>
        <c:noMultiLvlLbl val="0"/>
      </c:catAx>
      <c:valAx>
        <c:axId val="196519264"/>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C"/>
          </a:p>
        </c:txPr>
        <c:crossAx val="196518848"/>
        <c:crosses val="autoZero"/>
        <c:crossBetween val="between"/>
      </c:valAx>
      <c:spPr>
        <a:noFill/>
        <a:ln w="25400">
          <a:noFill/>
        </a:ln>
        <a:effectLst/>
      </c:spPr>
    </c:plotArea>
    <c:legend>
      <c:legendPos val="b"/>
      <c:layout>
        <c:manualLayout>
          <c:xMode val="edge"/>
          <c:yMode val="edge"/>
          <c:x val="0"/>
          <c:y val="0.86259690712035908"/>
          <c:w val="1"/>
          <c:h val="0.11210742600745832"/>
        </c:manualLayout>
      </c:layout>
      <c:overlay val="0"/>
      <c:spPr>
        <a:noFill/>
        <a:ln>
          <a:noFill/>
        </a:ln>
        <a:effectLst/>
      </c:spPr>
      <c:txPr>
        <a:bodyPr rot="0" spcFirstLastPara="1" vertOverflow="ellipsis" vert="horz" wrap="square" anchor="ctr" anchorCtr="1"/>
        <a:lstStyle/>
        <a:p>
          <a:pPr>
            <a:defRPr sz="700" b="0" i="0" u="none" strike="noStrike" kern="1200" baseline="0">
              <a:solidFill>
                <a:schemeClr val="tx1">
                  <a:lumMod val="65000"/>
                  <a:lumOff val="35000"/>
                </a:schemeClr>
              </a:solidFill>
              <a:latin typeface="+mn-lt"/>
              <a:ea typeface="+mn-ea"/>
              <a:cs typeface="+mn-cs"/>
            </a:defRPr>
          </a:pPr>
          <a:endParaRPr lang="es-EC"/>
        </a:p>
      </c:txPr>
    </c:legend>
    <c:plotVisOnly val="1"/>
    <c:dispBlanksAs val="gap"/>
    <c:showDLblsOverMax val="0"/>
  </c:chart>
  <c:spPr>
    <a:noFill/>
    <a:ln>
      <a:noFill/>
    </a:ln>
    <a:effectLst/>
  </c:spPr>
  <c:txPr>
    <a:bodyPr/>
    <a:lstStyle/>
    <a:p>
      <a:pPr>
        <a:defRPr/>
      </a:pPr>
      <a:endParaRPr lang="es-EC"/>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654317284355849"/>
          <c:y val="5.6300294837698883E-2"/>
          <c:w val="0.85980817336071413"/>
          <c:h val="0.71568646646567513"/>
        </c:manualLayout>
      </c:layout>
      <c:lineChart>
        <c:grouping val="standard"/>
        <c:varyColors val="0"/>
        <c:ser>
          <c:idx val="0"/>
          <c:order val="0"/>
          <c:tx>
            <c:strRef>
              <c:f>Hoja2!$B$80</c:f>
              <c:strCache>
                <c:ptCount val="1"/>
                <c:pt idx="0">
                  <c:v>Salud</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Hoja2!$C$79:$L$79</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Hoja2!$C$80:$L$80</c:f>
              <c:numCache>
                <c:formatCode>0.0%</c:formatCode>
                <c:ptCount val="10"/>
                <c:pt idx="0">
                  <c:v>5.2043167096338792E-2</c:v>
                </c:pt>
                <c:pt idx="1">
                  <c:v>6.4237499110547713E-2</c:v>
                </c:pt>
                <c:pt idx="2">
                  <c:v>7.5803032709105017E-2</c:v>
                </c:pt>
                <c:pt idx="3">
                  <c:v>7.2296533331826465E-2</c:v>
                </c:pt>
                <c:pt idx="4">
                  <c:v>8.2812901469367664E-2</c:v>
                </c:pt>
                <c:pt idx="5">
                  <c:v>7.625992274514995E-2</c:v>
                </c:pt>
                <c:pt idx="6">
                  <c:v>8.6092716056496821E-2</c:v>
                </c:pt>
                <c:pt idx="7">
                  <c:v>8.3425051934496217E-2</c:v>
                </c:pt>
                <c:pt idx="8">
                  <c:v>7.4773644521573909E-2</c:v>
                </c:pt>
                <c:pt idx="9">
                  <c:v>9.4506058323430814E-2</c:v>
                </c:pt>
              </c:numCache>
            </c:numRef>
          </c:val>
          <c:smooth val="0"/>
          <c:extLst>
            <c:ext xmlns:c16="http://schemas.microsoft.com/office/drawing/2014/chart" uri="{C3380CC4-5D6E-409C-BE32-E72D297353CC}">
              <c16:uniqueId val="{00000000-DAFB-492B-A03B-803BE0BF6861}"/>
            </c:ext>
          </c:extLst>
        </c:ser>
        <c:ser>
          <c:idx val="1"/>
          <c:order val="1"/>
          <c:tx>
            <c:strRef>
              <c:f>Hoja2!$B$81</c:f>
              <c:strCache>
                <c:ptCount val="1"/>
                <c:pt idx="0">
                  <c:v>Recreacion, Deporte Y Cultura</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Hoja2!$C$79:$L$79</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Hoja2!$C$81:$L$81</c:f>
              <c:numCache>
                <c:formatCode>0.0%</c:formatCode>
                <c:ptCount val="10"/>
                <c:pt idx="0">
                  <c:v>4.960310025056177E-2</c:v>
                </c:pt>
                <c:pt idx="1">
                  <c:v>3.3394025999684551E-2</c:v>
                </c:pt>
                <c:pt idx="2">
                  <c:v>2.8440238958493694E-2</c:v>
                </c:pt>
                <c:pt idx="3">
                  <c:v>2.7795902284498662E-2</c:v>
                </c:pt>
                <c:pt idx="4">
                  <c:v>2.3297397364082505E-2</c:v>
                </c:pt>
                <c:pt idx="5">
                  <c:v>2.4014512126484693E-2</c:v>
                </c:pt>
                <c:pt idx="6">
                  <c:v>2.7615728327703429E-2</c:v>
                </c:pt>
                <c:pt idx="7">
                  <c:v>2.6027866296257803E-2</c:v>
                </c:pt>
                <c:pt idx="8">
                  <c:v>3.1305608707430307E-2</c:v>
                </c:pt>
                <c:pt idx="9">
                  <c:v>4.1977806678794673E-2</c:v>
                </c:pt>
              </c:numCache>
            </c:numRef>
          </c:val>
          <c:smooth val="0"/>
          <c:extLst>
            <c:ext xmlns:c16="http://schemas.microsoft.com/office/drawing/2014/chart" uri="{C3380CC4-5D6E-409C-BE32-E72D297353CC}">
              <c16:uniqueId val="{00000001-DAFB-492B-A03B-803BE0BF6861}"/>
            </c:ext>
          </c:extLst>
        </c:ser>
        <c:ser>
          <c:idx val="2"/>
          <c:order val="2"/>
          <c:tx>
            <c:strRef>
              <c:f>Hoja2!$B$82</c:f>
              <c:strCache>
                <c:ptCount val="1"/>
                <c:pt idx="0">
                  <c:v>Información Y Comunicación</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Hoja2!$C$79:$L$79</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Hoja2!$C$82:$L$82</c:f>
              <c:numCache>
                <c:formatCode>0.0%</c:formatCode>
                <c:ptCount val="10"/>
                <c:pt idx="0">
                  <c:v>4.6620406101651836E-2</c:v>
                </c:pt>
                <c:pt idx="1">
                  <c:v>5.6953783684582177E-2</c:v>
                </c:pt>
                <c:pt idx="2">
                  <c:v>5.8363509866676565E-2</c:v>
                </c:pt>
                <c:pt idx="3">
                  <c:v>6.0117711600633374E-2</c:v>
                </c:pt>
                <c:pt idx="4">
                  <c:v>6.0377158140051332E-2</c:v>
                </c:pt>
                <c:pt idx="5">
                  <c:v>6.1165258659345322E-2</c:v>
                </c:pt>
                <c:pt idx="6">
                  <c:v>6.2467265492701068E-2</c:v>
                </c:pt>
                <c:pt idx="7">
                  <c:v>6.1188601892369868E-2</c:v>
                </c:pt>
                <c:pt idx="8">
                  <c:v>6.3814576076379206E-2</c:v>
                </c:pt>
                <c:pt idx="9">
                  <c:v>6.564727352777508E-2</c:v>
                </c:pt>
              </c:numCache>
            </c:numRef>
          </c:val>
          <c:smooth val="0"/>
          <c:extLst>
            <c:ext xmlns:c16="http://schemas.microsoft.com/office/drawing/2014/chart" uri="{C3380CC4-5D6E-409C-BE32-E72D297353CC}">
              <c16:uniqueId val="{00000002-DAFB-492B-A03B-803BE0BF6861}"/>
            </c:ext>
          </c:extLst>
        </c:ser>
        <c:ser>
          <c:idx val="3"/>
          <c:order val="3"/>
          <c:tx>
            <c:strRef>
              <c:f>Hoja2!$B$83</c:f>
              <c:strCache>
                <c:ptCount val="1"/>
                <c:pt idx="0">
                  <c:v>Servicios De Restaurantes Y Alojamiento</c:v>
                </c:pt>
              </c:strCache>
            </c:strRef>
          </c:tx>
          <c:spPr>
            <a:ln w="28575" cap="rnd">
              <a:solidFill>
                <a:schemeClr val="accent4"/>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Hoja2!$C$79:$L$79</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Hoja2!$C$83:$L$83</c:f>
              <c:numCache>
                <c:formatCode>0.0%</c:formatCode>
                <c:ptCount val="10"/>
                <c:pt idx="0">
                  <c:v>3.6101296620920438E-2</c:v>
                </c:pt>
                <c:pt idx="1">
                  <c:v>4.5362129670324887E-2</c:v>
                </c:pt>
                <c:pt idx="2">
                  <c:v>6.1430025889244788E-2</c:v>
                </c:pt>
                <c:pt idx="3">
                  <c:v>5.9491576531810392E-2</c:v>
                </c:pt>
                <c:pt idx="4">
                  <c:v>6.4181705448360563E-2</c:v>
                </c:pt>
                <c:pt idx="5">
                  <c:v>6.9139198586613382E-2</c:v>
                </c:pt>
                <c:pt idx="6">
                  <c:v>7.8894274516587842E-2</c:v>
                </c:pt>
                <c:pt idx="7">
                  <c:v>8.1406623465118483E-2</c:v>
                </c:pt>
                <c:pt idx="8">
                  <c:v>9.265532570546528E-2</c:v>
                </c:pt>
                <c:pt idx="9">
                  <c:v>9.6286582661544981E-2</c:v>
                </c:pt>
              </c:numCache>
            </c:numRef>
          </c:val>
          <c:smooth val="0"/>
          <c:extLst>
            <c:ext xmlns:c16="http://schemas.microsoft.com/office/drawing/2014/chart" uri="{C3380CC4-5D6E-409C-BE32-E72D297353CC}">
              <c16:uniqueId val="{00000003-DAFB-492B-A03B-803BE0BF6861}"/>
            </c:ext>
          </c:extLst>
        </c:ser>
        <c:ser>
          <c:idx val="4"/>
          <c:order val="4"/>
          <c:tx>
            <c:strRef>
              <c:f>Hoja2!$B$84</c:f>
              <c:strCache>
                <c:ptCount val="1"/>
                <c:pt idx="0">
                  <c:v>Servicios Educativos</c:v>
                </c:pt>
              </c:strCache>
            </c:strRef>
          </c:tx>
          <c:spPr>
            <a:ln w="28575" cap="rnd">
              <a:solidFill>
                <a:schemeClr val="accent5"/>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Hoja2!$C$79:$L$79</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Hoja2!$C$84:$L$84</c:f>
              <c:numCache>
                <c:formatCode>0.0%</c:formatCode>
                <c:ptCount val="10"/>
                <c:pt idx="0">
                  <c:v>8.4162765116042124E-3</c:v>
                </c:pt>
                <c:pt idx="1">
                  <c:v>1.2491678236206854E-2</c:v>
                </c:pt>
                <c:pt idx="2">
                  <c:v>1.2364507659500781E-2</c:v>
                </c:pt>
                <c:pt idx="3">
                  <c:v>2.0069557367347154E-2</c:v>
                </c:pt>
                <c:pt idx="4">
                  <c:v>1.9337705017231446E-2</c:v>
                </c:pt>
                <c:pt idx="5">
                  <c:v>2.0826910279255002E-2</c:v>
                </c:pt>
                <c:pt idx="6">
                  <c:v>3.6289475400905567E-2</c:v>
                </c:pt>
                <c:pt idx="7">
                  <c:v>4.6880999196404642E-2</c:v>
                </c:pt>
                <c:pt idx="8">
                  <c:v>5.9424963340278518E-2</c:v>
                </c:pt>
                <c:pt idx="9">
                  <c:v>6.1151088536026438E-2</c:v>
                </c:pt>
              </c:numCache>
            </c:numRef>
          </c:val>
          <c:smooth val="0"/>
          <c:extLst>
            <c:ext xmlns:c16="http://schemas.microsoft.com/office/drawing/2014/chart" uri="{C3380CC4-5D6E-409C-BE32-E72D297353CC}">
              <c16:uniqueId val="{00000004-DAFB-492B-A03B-803BE0BF6861}"/>
            </c:ext>
          </c:extLst>
        </c:ser>
        <c:ser>
          <c:idx val="5"/>
          <c:order val="5"/>
          <c:tx>
            <c:strRef>
              <c:f>Hoja2!$B$85</c:f>
              <c:strCache>
                <c:ptCount val="1"/>
                <c:pt idx="0">
                  <c:v>Bebidas Alcohólicas, Tabaco Y Estupefacientes</c:v>
                </c:pt>
              </c:strCache>
            </c:strRef>
          </c:tx>
          <c:spPr>
            <a:ln w="28575" cap="rnd">
              <a:solidFill>
                <a:schemeClr val="accent6"/>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Hoja2!$C$79:$L$79</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Hoja2!$C$85:$L$85</c:f>
              <c:numCache>
                <c:formatCode>0.0%</c:formatCode>
                <c:ptCount val="10"/>
                <c:pt idx="0">
                  <c:v>5.2418544568320312E-3</c:v>
                </c:pt>
                <c:pt idx="1">
                  <c:v>7.6760845237238296E-3</c:v>
                </c:pt>
                <c:pt idx="2">
                  <c:v>6.8090686504081403E-3</c:v>
                </c:pt>
                <c:pt idx="3">
                  <c:v>6.2717299203067746E-3</c:v>
                </c:pt>
                <c:pt idx="4">
                  <c:v>6.4105510496854272E-3</c:v>
                </c:pt>
                <c:pt idx="5">
                  <c:v>5.6239801493517122E-3</c:v>
                </c:pt>
                <c:pt idx="6">
                  <c:v>5.3597197438354548E-3</c:v>
                </c:pt>
                <c:pt idx="7">
                  <c:v>4.4268106318230433E-3</c:v>
                </c:pt>
                <c:pt idx="8">
                  <c:v>7.1549787350613609E-3</c:v>
                </c:pt>
                <c:pt idx="9">
                  <c:v>5.2548456587477978E-3</c:v>
                </c:pt>
              </c:numCache>
            </c:numRef>
          </c:val>
          <c:smooth val="0"/>
          <c:extLst>
            <c:ext xmlns:c16="http://schemas.microsoft.com/office/drawing/2014/chart" uri="{C3380CC4-5D6E-409C-BE32-E72D297353CC}">
              <c16:uniqueId val="{00000005-DAFB-492B-A03B-803BE0BF6861}"/>
            </c:ext>
          </c:extLst>
        </c:ser>
        <c:ser>
          <c:idx val="6"/>
          <c:order val="6"/>
          <c:tx>
            <c:strRef>
              <c:f>Hoja2!$B$86</c:f>
              <c:strCache>
                <c:ptCount val="1"/>
                <c:pt idx="0">
                  <c:v>Seguros Y Servicios Financieros</c:v>
                </c:pt>
              </c:strCache>
            </c:strRef>
          </c:tx>
          <c:spPr>
            <a:ln w="28575" cap="rnd">
              <a:solidFill>
                <a:schemeClr val="accent1">
                  <a:lumMod val="60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Hoja2!$C$79:$L$79</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Hoja2!$C$86:$L$86</c:f>
              <c:numCache>
                <c:formatCode>0.0%</c:formatCode>
                <c:ptCount val="10"/>
                <c:pt idx="0">
                  <c:v>6.6650161577815731E-4</c:v>
                </c:pt>
                <c:pt idx="1">
                  <c:v>1.8165782305495019E-3</c:v>
                </c:pt>
                <c:pt idx="2">
                  <c:v>8.1690372264845562E-4</c:v>
                </c:pt>
                <c:pt idx="3">
                  <c:v>1.8329489968588121E-3</c:v>
                </c:pt>
                <c:pt idx="4">
                  <c:v>3.8167645078523403E-3</c:v>
                </c:pt>
                <c:pt idx="5">
                  <c:v>1.1098181414202967E-2</c:v>
                </c:pt>
                <c:pt idx="6">
                  <c:v>6.0925946095620048E-3</c:v>
                </c:pt>
                <c:pt idx="7">
                  <c:v>8.1428385772999538E-3</c:v>
                </c:pt>
                <c:pt idx="8">
                  <c:v>1.1864905121051452E-2</c:v>
                </c:pt>
                <c:pt idx="9">
                  <c:v>1.2869996702902523E-2</c:v>
                </c:pt>
              </c:numCache>
            </c:numRef>
          </c:val>
          <c:smooth val="0"/>
          <c:extLst>
            <c:ext xmlns:c16="http://schemas.microsoft.com/office/drawing/2014/chart" uri="{C3380CC4-5D6E-409C-BE32-E72D297353CC}">
              <c16:uniqueId val="{00000006-DAFB-492B-A03B-803BE0BF6861}"/>
            </c:ext>
          </c:extLst>
        </c:ser>
        <c:dLbls>
          <c:dLblPos val="t"/>
          <c:showLegendKey val="0"/>
          <c:showVal val="1"/>
          <c:showCatName val="0"/>
          <c:showSerName val="0"/>
          <c:showPercent val="0"/>
          <c:showBubbleSize val="0"/>
        </c:dLbls>
        <c:smooth val="0"/>
        <c:axId val="196537152"/>
        <c:axId val="196541312"/>
      </c:lineChart>
      <c:catAx>
        <c:axId val="19653715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C"/>
          </a:p>
        </c:txPr>
        <c:crossAx val="196541312"/>
        <c:crosses val="autoZero"/>
        <c:auto val="1"/>
        <c:lblAlgn val="ctr"/>
        <c:lblOffset val="100"/>
        <c:noMultiLvlLbl val="0"/>
      </c:catAx>
      <c:valAx>
        <c:axId val="196541312"/>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C"/>
          </a:p>
        </c:txPr>
        <c:crossAx val="196537152"/>
        <c:crosses val="autoZero"/>
        <c:crossBetween val="between"/>
      </c:valAx>
      <c:spPr>
        <a:noFill/>
        <a:ln w="25400">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C"/>
        </a:p>
      </c:txPr>
    </c:legend>
    <c:plotVisOnly val="1"/>
    <c:dispBlanksAs val="gap"/>
    <c:showDLblsOverMax val="0"/>
  </c:chart>
  <c:spPr>
    <a:noFill/>
    <a:ln>
      <a:noFill/>
    </a:ln>
    <a:effectLst/>
  </c:spPr>
  <c:txPr>
    <a:bodyPr/>
    <a:lstStyle/>
    <a:p>
      <a:pPr>
        <a:defRPr/>
      </a:pPr>
      <a:endParaRPr lang="es-EC"/>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Hoja2!$R$145</c:f>
              <c:strCache>
                <c:ptCount val="1"/>
                <c:pt idx="0">
                  <c:v>Servicios De Restaurantes Y Alojamiento</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Hoja2!$S$145:$AB$145</c:f>
              <c:numCache>
                <c:formatCode>0.0%</c:formatCode>
                <c:ptCount val="10"/>
                <c:pt idx="0">
                  <c:v>5.6821592117562089E-2</c:v>
                </c:pt>
                <c:pt idx="1">
                  <c:v>7.4428843171467404E-2</c:v>
                </c:pt>
                <c:pt idx="2">
                  <c:v>7.6482667479210786E-2</c:v>
                </c:pt>
                <c:pt idx="3">
                  <c:v>8.4673540134135264E-2</c:v>
                </c:pt>
                <c:pt idx="4">
                  <c:v>9.8307993340147865E-2</c:v>
                </c:pt>
                <c:pt idx="5">
                  <c:v>9.3748081343971584E-2</c:v>
                </c:pt>
                <c:pt idx="6">
                  <c:v>0.10412610746060233</c:v>
                </c:pt>
                <c:pt idx="7">
                  <c:v>9.9354602866953204E-2</c:v>
                </c:pt>
                <c:pt idx="8">
                  <c:v>0.1041824906701071</c:v>
                </c:pt>
                <c:pt idx="9">
                  <c:v>9.8283088181550446E-2</c:v>
                </c:pt>
              </c:numCache>
            </c:numRef>
          </c:val>
          <c:smooth val="0"/>
          <c:extLst>
            <c:ext xmlns:c16="http://schemas.microsoft.com/office/drawing/2014/chart" uri="{C3380CC4-5D6E-409C-BE32-E72D297353CC}">
              <c16:uniqueId val="{00000000-744D-4194-86D5-5A3D277F414C}"/>
            </c:ext>
          </c:extLst>
        </c:ser>
        <c:ser>
          <c:idx val="1"/>
          <c:order val="1"/>
          <c:tx>
            <c:strRef>
              <c:f>Hoja2!$R$146</c:f>
              <c:strCache>
                <c:ptCount val="1"/>
                <c:pt idx="0">
                  <c:v>Servicios Educativos</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Hoja2!$S$146:$AB$146</c:f>
              <c:numCache>
                <c:formatCode>0.0%</c:formatCode>
                <c:ptCount val="10"/>
                <c:pt idx="0">
                  <c:v>9.6358139386776807E-3</c:v>
                </c:pt>
                <c:pt idx="1">
                  <c:v>2.351104960937422E-2</c:v>
                </c:pt>
                <c:pt idx="2">
                  <c:v>2.6049318621377947E-2</c:v>
                </c:pt>
                <c:pt idx="3">
                  <c:v>4.1921961501433354E-2</c:v>
                </c:pt>
                <c:pt idx="4">
                  <c:v>5.7158789649483066E-2</c:v>
                </c:pt>
                <c:pt idx="5">
                  <c:v>6.9614069929102004E-2</c:v>
                </c:pt>
                <c:pt idx="6">
                  <c:v>6.566870248683708E-2</c:v>
                </c:pt>
                <c:pt idx="7">
                  <c:v>8.0845288608603863E-2</c:v>
                </c:pt>
                <c:pt idx="8">
                  <c:v>0.10087285498352454</c:v>
                </c:pt>
                <c:pt idx="9">
                  <c:v>9.7823318745565491E-2</c:v>
                </c:pt>
              </c:numCache>
            </c:numRef>
          </c:val>
          <c:smooth val="0"/>
          <c:extLst>
            <c:ext xmlns:c16="http://schemas.microsoft.com/office/drawing/2014/chart" uri="{C3380CC4-5D6E-409C-BE32-E72D297353CC}">
              <c16:uniqueId val="{00000001-744D-4194-86D5-5A3D277F414C}"/>
            </c:ext>
          </c:extLst>
        </c:ser>
        <c:ser>
          <c:idx val="2"/>
          <c:order val="2"/>
          <c:tx>
            <c:strRef>
              <c:f>Hoja2!$R$147</c:f>
              <c:strCache>
                <c:ptCount val="1"/>
                <c:pt idx="0">
                  <c:v>Transporte</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Hoja2!$S$147:$AB$147</c:f>
              <c:numCache>
                <c:formatCode>0.0%</c:formatCode>
                <c:ptCount val="10"/>
                <c:pt idx="0">
                  <c:v>8.9285534471074846E-2</c:v>
                </c:pt>
                <c:pt idx="1">
                  <c:v>9.586750856129056E-2</c:v>
                </c:pt>
                <c:pt idx="2">
                  <c:v>0.11663153033075446</c:v>
                </c:pt>
                <c:pt idx="3">
                  <c:v>0.11946473071479229</c:v>
                </c:pt>
                <c:pt idx="4">
                  <c:v>0.12133635260998778</c:v>
                </c:pt>
                <c:pt idx="5">
                  <c:v>0.12756116532527409</c:v>
                </c:pt>
                <c:pt idx="6">
                  <c:v>0.13862761550048769</c:v>
                </c:pt>
                <c:pt idx="7">
                  <c:v>0.16857191913739539</c:v>
                </c:pt>
                <c:pt idx="8">
                  <c:v>0.16215554086421224</c:v>
                </c:pt>
                <c:pt idx="9">
                  <c:v>0.16172442853297123</c:v>
                </c:pt>
              </c:numCache>
            </c:numRef>
          </c:val>
          <c:smooth val="0"/>
          <c:extLst>
            <c:ext xmlns:c16="http://schemas.microsoft.com/office/drawing/2014/chart" uri="{C3380CC4-5D6E-409C-BE32-E72D297353CC}">
              <c16:uniqueId val="{00000002-744D-4194-86D5-5A3D277F414C}"/>
            </c:ext>
          </c:extLst>
        </c:ser>
        <c:ser>
          <c:idx val="3"/>
          <c:order val="3"/>
          <c:tx>
            <c:strRef>
              <c:f>Hoja2!$R$148</c:f>
              <c:strCache>
                <c:ptCount val="1"/>
                <c:pt idx="0">
                  <c:v>Vivienda, Agua, Electricidad, Gas Y Otros Combustibles</c:v>
                </c:pt>
              </c:strCache>
            </c:strRef>
          </c:tx>
          <c:spPr>
            <a:ln w="28575" cap="rnd">
              <a:solidFill>
                <a:schemeClr val="accent4"/>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Hoja2!$S$148:$AB$148</c:f>
              <c:numCache>
                <c:formatCode>0.0%</c:formatCode>
                <c:ptCount val="10"/>
                <c:pt idx="0">
                  <c:v>0.16962034648636201</c:v>
                </c:pt>
                <c:pt idx="1">
                  <c:v>0.158759340871541</c:v>
                </c:pt>
                <c:pt idx="2">
                  <c:v>0.14703229312155658</c:v>
                </c:pt>
                <c:pt idx="3">
                  <c:v>0.13719231160120024</c:v>
                </c:pt>
                <c:pt idx="4">
                  <c:v>0.1247108263440098</c:v>
                </c:pt>
                <c:pt idx="5">
                  <c:v>0.11885907223611478</c:v>
                </c:pt>
                <c:pt idx="6">
                  <c:v>0.12300513872493173</c:v>
                </c:pt>
                <c:pt idx="7">
                  <c:v>9.6081380806391628E-2</c:v>
                </c:pt>
                <c:pt idx="8">
                  <c:v>9.0072315921692209E-2</c:v>
                </c:pt>
                <c:pt idx="9">
                  <c:v>8.7476380650434504E-2</c:v>
                </c:pt>
              </c:numCache>
            </c:numRef>
          </c:val>
          <c:smooth val="0"/>
          <c:extLst>
            <c:ext xmlns:c16="http://schemas.microsoft.com/office/drawing/2014/chart" uri="{C3380CC4-5D6E-409C-BE32-E72D297353CC}">
              <c16:uniqueId val="{00000003-744D-4194-86D5-5A3D277F414C}"/>
            </c:ext>
          </c:extLst>
        </c:ser>
        <c:dLbls>
          <c:dLblPos val="t"/>
          <c:showLegendKey val="0"/>
          <c:showVal val="1"/>
          <c:showCatName val="0"/>
          <c:showSerName val="0"/>
          <c:showPercent val="0"/>
          <c:showBubbleSize val="0"/>
        </c:dLbls>
        <c:smooth val="0"/>
        <c:axId val="1630988751"/>
        <c:axId val="1630985007"/>
      </c:lineChart>
      <c:catAx>
        <c:axId val="1630988751"/>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C"/>
          </a:p>
        </c:txPr>
        <c:crossAx val="1630985007"/>
        <c:crosses val="autoZero"/>
        <c:auto val="1"/>
        <c:lblAlgn val="ctr"/>
        <c:lblOffset val="100"/>
        <c:noMultiLvlLbl val="0"/>
      </c:catAx>
      <c:valAx>
        <c:axId val="1630985007"/>
        <c:scaling>
          <c:orientation val="minMax"/>
        </c:scaling>
        <c:delete val="1"/>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crossAx val="163098875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C"/>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EC"/>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cked"/>
        <c:varyColors val="0"/>
        <c:ser>
          <c:idx val="0"/>
          <c:order val="0"/>
          <c:tx>
            <c:strRef>
              <c:f>Hoja2!$B$146</c:f>
              <c:strCache>
                <c:ptCount val="1"/>
                <c:pt idx="0">
                  <c:v>Alimentos Y Bebidas No Alcohólicas                                                                                                    </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Hoja2!$C$145:$L$145</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Hoja2!$C$146:$L$146</c:f>
              <c:numCache>
                <c:formatCode>0.0%</c:formatCode>
                <c:ptCount val="10"/>
                <c:pt idx="0">
                  <c:v>0.307591468386468</c:v>
                </c:pt>
                <c:pt idx="1">
                  <c:v>0.2824893727828614</c:v>
                </c:pt>
                <c:pt idx="2">
                  <c:v>0.26203786532184337</c:v>
                </c:pt>
                <c:pt idx="3">
                  <c:v>0.24150592815623417</c:v>
                </c:pt>
                <c:pt idx="4">
                  <c:v>0.21914394175904903</c:v>
                </c:pt>
                <c:pt idx="5">
                  <c:v>0.2023990434724828</c:v>
                </c:pt>
                <c:pt idx="6">
                  <c:v>0.17846824326245897</c:v>
                </c:pt>
                <c:pt idx="7">
                  <c:v>0.16015057197451446</c:v>
                </c:pt>
                <c:pt idx="8">
                  <c:v>0.12824355192487735</c:v>
                </c:pt>
                <c:pt idx="9">
                  <c:v>9.9886743256597077E-2</c:v>
                </c:pt>
              </c:numCache>
            </c:numRef>
          </c:val>
          <c:smooth val="0"/>
          <c:extLst>
            <c:ext xmlns:c16="http://schemas.microsoft.com/office/drawing/2014/chart" uri="{C3380CC4-5D6E-409C-BE32-E72D297353CC}">
              <c16:uniqueId val="{00000000-3C92-4651-940F-0B418AD5E7C4}"/>
            </c:ext>
          </c:extLst>
        </c:ser>
        <c:ser>
          <c:idx val="1"/>
          <c:order val="1"/>
          <c:tx>
            <c:strRef>
              <c:f>Hoja2!$B$147</c:f>
              <c:strCache>
                <c:ptCount val="1"/>
                <c:pt idx="0">
                  <c:v>Bebidas Alcohólicas, Tabaco Y Estupefacientes</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Hoja2!$C$145:$L$145</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Hoja2!$C$147:$L$147</c:f>
              <c:numCache>
                <c:formatCode>0.0%</c:formatCode>
                <c:ptCount val="10"/>
                <c:pt idx="0">
                  <c:v>3.17372256716389E-3</c:v>
                </c:pt>
                <c:pt idx="1">
                  <c:v>3.5214070242373238E-3</c:v>
                </c:pt>
                <c:pt idx="2">
                  <c:v>3.3725277898639123E-3</c:v>
                </c:pt>
                <c:pt idx="3">
                  <c:v>4.0226927568235557E-3</c:v>
                </c:pt>
                <c:pt idx="4">
                  <c:v>3.6418800167950681E-3</c:v>
                </c:pt>
                <c:pt idx="5">
                  <c:v>2.8955800553090278E-3</c:v>
                </c:pt>
                <c:pt idx="6">
                  <c:v>4.1632710784486058E-3</c:v>
                </c:pt>
                <c:pt idx="7">
                  <c:v>3.5619619972679095E-3</c:v>
                </c:pt>
                <c:pt idx="8">
                  <c:v>3.2717090018218702E-3</c:v>
                </c:pt>
                <c:pt idx="9">
                  <c:v>2.3036169940031676E-3</c:v>
                </c:pt>
              </c:numCache>
            </c:numRef>
          </c:val>
          <c:smooth val="0"/>
          <c:extLst>
            <c:ext xmlns:c16="http://schemas.microsoft.com/office/drawing/2014/chart" uri="{C3380CC4-5D6E-409C-BE32-E72D297353CC}">
              <c16:uniqueId val="{00000001-3C92-4651-940F-0B418AD5E7C4}"/>
            </c:ext>
          </c:extLst>
        </c:ser>
        <c:ser>
          <c:idx val="2"/>
          <c:order val="2"/>
          <c:tx>
            <c:strRef>
              <c:f>Hoja2!$B$148</c:f>
              <c:strCache>
                <c:ptCount val="1"/>
                <c:pt idx="0">
                  <c:v>Cuidado Personal, Previsión Social Y Bienes Y Servicios Diversos</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Hoja2!$C$145:$L$145</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Hoja2!$C$148:$L$148</c:f>
              <c:numCache>
                <c:formatCode>0.0%</c:formatCode>
                <c:ptCount val="10"/>
                <c:pt idx="0">
                  <c:v>9.9425605269730627E-2</c:v>
                </c:pt>
                <c:pt idx="1">
                  <c:v>8.8404314137992226E-2</c:v>
                </c:pt>
                <c:pt idx="2">
                  <c:v>8.7751072598695273E-2</c:v>
                </c:pt>
                <c:pt idx="3">
                  <c:v>8.2326136334478509E-2</c:v>
                </c:pt>
                <c:pt idx="4">
                  <c:v>8.4637758679089015E-2</c:v>
                </c:pt>
                <c:pt idx="5">
                  <c:v>8.0120461717815381E-2</c:v>
                </c:pt>
                <c:pt idx="6">
                  <c:v>7.7584878630120382E-2</c:v>
                </c:pt>
                <c:pt idx="7">
                  <c:v>7.7484367858032754E-2</c:v>
                </c:pt>
                <c:pt idx="8">
                  <c:v>7.1325315946275808E-2</c:v>
                </c:pt>
                <c:pt idx="9">
                  <c:v>6.558055160283513E-2</c:v>
                </c:pt>
              </c:numCache>
            </c:numRef>
          </c:val>
          <c:smooth val="0"/>
          <c:extLst>
            <c:ext xmlns:c16="http://schemas.microsoft.com/office/drawing/2014/chart" uri="{C3380CC4-5D6E-409C-BE32-E72D297353CC}">
              <c16:uniqueId val="{00000002-3C92-4651-940F-0B418AD5E7C4}"/>
            </c:ext>
          </c:extLst>
        </c:ser>
        <c:ser>
          <c:idx val="3"/>
          <c:order val="3"/>
          <c:tx>
            <c:strRef>
              <c:f>Hoja2!$B$149</c:f>
              <c:strCache>
                <c:ptCount val="1"/>
                <c:pt idx="0">
                  <c:v>Información Y Comunicación</c:v>
                </c:pt>
              </c:strCache>
            </c:strRef>
          </c:tx>
          <c:spPr>
            <a:ln w="28575" cap="rnd">
              <a:solidFill>
                <a:schemeClr val="accent4"/>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Hoja2!$C$145:$L$145</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Hoja2!$C$149:$L$149</c:f>
              <c:numCache>
                <c:formatCode>0.0%</c:formatCode>
                <c:ptCount val="10"/>
                <c:pt idx="0">
                  <c:v>5.2187057102251591E-2</c:v>
                </c:pt>
                <c:pt idx="1">
                  <c:v>5.9327970445754379E-2</c:v>
                </c:pt>
                <c:pt idx="2">
                  <c:v>5.7826869306530977E-2</c:v>
                </c:pt>
                <c:pt idx="3">
                  <c:v>5.8132489356743915E-2</c:v>
                </c:pt>
                <c:pt idx="4">
                  <c:v>6.4715450732541854E-2</c:v>
                </c:pt>
                <c:pt idx="5">
                  <c:v>5.7862622919489626E-2</c:v>
                </c:pt>
                <c:pt idx="6">
                  <c:v>6.3043175583737884E-2</c:v>
                </c:pt>
                <c:pt idx="7">
                  <c:v>5.5578062457842012E-2</c:v>
                </c:pt>
                <c:pt idx="8">
                  <c:v>5.805194620890769E-2</c:v>
                </c:pt>
                <c:pt idx="9">
                  <c:v>5.7065933342713641E-2</c:v>
                </c:pt>
              </c:numCache>
            </c:numRef>
          </c:val>
          <c:smooth val="0"/>
          <c:extLst>
            <c:ext xmlns:c16="http://schemas.microsoft.com/office/drawing/2014/chart" uri="{C3380CC4-5D6E-409C-BE32-E72D297353CC}">
              <c16:uniqueId val="{00000003-3C92-4651-940F-0B418AD5E7C4}"/>
            </c:ext>
          </c:extLst>
        </c:ser>
        <c:ser>
          <c:idx val="4"/>
          <c:order val="4"/>
          <c:tx>
            <c:strRef>
              <c:f>Hoja2!$B$150</c:f>
              <c:strCache>
                <c:ptCount val="1"/>
                <c:pt idx="0">
                  <c:v>Muebles, Artículos Para El Hogar Y Para La Conservación Ordinaria Del Hogar</c:v>
                </c:pt>
              </c:strCache>
            </c:strRef>
          </c:tx>
          <c:spPr>
            <a:ln w="28575" cap="rnd">
              <a:solidFill>
                <a:schemeClr val="accent5"/>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Hoja2!$C$145:$L$145</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Hoja2!$C$150:$L$150</c:f>
              <c:numCache>
                <c:formatCode>0.0%</c:formatCode>
                <c:ptCount val="10"/>
                <c:pt idx="0">
                  <c:v>4.7694213140280099E-2</c:v>
                </c:pt>
                <c:pt idx="1">
                  <c:v>4.6220049960249025E-2</c:v>
                </c:pt>
                <c:pt idx="2">
                  <c:v>5.0618098876231643E-2</c:v>
                </c:pt>
                <c:pt idx="3">
                  <c:v>5.0244878166030724E-2</c:v>
                </c:pt>
                <c:pt idx="4">
                  <c:v>4.9333893047932356E-2</c:v>
                </c:pt>
                <c:pt idx="5">
                  <c:v>4.9443582688657527E-2</c:v>
                </c:pt>
                <c:pt idx="6">
                  <c:v>5.6173336948077537E-2</c:v>
                </c:pt>
                <c:pt idx="7">
                  <c:v>5.4383918594132184E-2</c:v>
                </c:pt>
                <c:pt idx="8">
                  <c:v>6.3316375366742769E-2</c:v>
                </c:pt>
                <c:pt idx="9">
                  <c:v>9.8101907817467776E-2</c:v>
                </c:pt>
              </c:numCache>
            </c:numRef>
          </c:val>
          <c:smooth val="0"/>
          <c:extLst>
            <c:ext xmlns:c16="http://schemas.microsoft.com/office/drawing/2014/chart" uri="{C3380CC4-5D6E-409C-BE32-E72D297353CC}">
              <c16:uniqueId val="{00000004-3C92-4651-940F-0B418AD5E7C4}"/>
            </c:ext>
          </c:extLst>
        </c:ser>
        <c:ser>
          <c:idx val="5"/>
          <c:order val="5"/>
          <c:tx>
            <c:strRef>
              <c:f>Hoja2!$B$151</c:f>
              <c:strCache>
                <c:ptCount val="1"/>
                <c:pt idx="0">
                  <c:v>Prendas De Vestir Y Calzado</c:v>
                </c:pt>
              </c:strCache>
            </c:strRef>
          </c:tx>
          <c:spPr>
            <a:ln w="28575" cap="rnd">
              <a:solidFill>
                <a:schemeClr val="accent6"/>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Hoja2!$C$145:$L$145</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Hoja2!$C$151:$L$151</c:f>
              <c:numCache>
                <c:formatCode>0.0%</c:formatCode>
                <c:ptCount val="10"/>
                <c:pt idx="0">
                  <c:v>7.0256596495257409E-2</c:v>
                </c:pt>
                <c:pt idx="1">
                  <c:v>7.0714976556736087E-2</c:v>
                </c:pt>
                <c:pt idx="2">
                  <c:v>6.5066702943159138E-2</c:v>
                </c:pt>
                <c:pt idx="3">
                  <c:v>6.838178664095336E-2</c:v>
                </c:pt>
                <c:pt idx="4">
                  <c:v>6.866500939583689E-2</c:v>
                </c:pt>
                <c:pt idx="5">
                  <c:v>6.5108358500672328E-2</c:v>
                </c:pt>
                <c:pt idx="6">
                  <c:v>6.5802767915738289E-2</c:v>
                </c:pt>
                <c:pt idx="7">
                  <c:v>6.4531483822034469E-2</c:v>
                </c:pt>
                <c:pt idx="8">
                  <c:v>6.7694151490793317E-2</c:v>
                </c:pt>
                <c:pt idx="9">
                  <c:v>5.8092159807325218E-2</c:v>
                </c:pt>
              </c:numCache>
            </c:numRef>
          </c:val>
          <c:smooth val="0"/>
          <c:extLst>
            <c:ext xmlns:c16="http://schemas.microsoft.com/office/drawing/2014/chart" uri="{C3380CC4-5D6E-409C-BE32-E72D297353CC}">
              <c16:uniqueId val="{00000005-3C92-4651-940F-0B418AD5E7C4}"/>
            </c:ext>
          </c:extLst>
        </c:ser>
        <c:ser>
          <c:idx val="6"/>
          <c:order val="6"/>
          <c:tx>
            <c:strRef>
              <c:f>Hoja2!$B$152</c:f>
              <c:strCache>
                <c:ptCount val="1"/>
                <c:pt idx="0">
                  <c:v>Recreación, Deporte Y Cultura</c:v>
                </c:pt>
              </c:strCache>
            </c:strRef>
          </c:tx>
          <c:spPr>
            <a:ln w="28575" cap="rnd">
              <a:solidFill>
                <a:schemeClr val="accent1">
                  <a:lumMod val="60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Hoja2!$C$145:$L$145</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Hoja2!$C$152:$L$152</c:f>
              <c:numCache>
                <c:formatCode>0.0%</c:formatCode>
                <c:ptCount val="10"/>
                <c:pt idx="0">
                  <c:v>2.5705947075821512E-2</c:v>
                </c:pt>
                <c:pt idx="1">
                  <c:v>2.2963265476849706E-2</c:v>
                </c:pt>
                <c:pt idx="2">
                  <c:v>2.0638970110004692E-2</c:v>
                </c:pt>
                <c:pt idx="3">
                  <c:v>2.2819231036583523E-2</c:v>
                </c:pt>
                <c:pt idx="4">
                  <c:v>2.3519046579440771E-2</c:v>
                </c:pt>
                <c:pt idx="5">
                  <c:v>2.5394908604378159E-2</c:v>
                </c:pt>
                <c:pt idx="6">
                  <c:v>2.3476409153636794E-2</c:v>
                </c:pt>
                <c:pt idx="7">
                  <c:v>3.3215016476110144E-2</c:v>
                </c:pt>
                <c:pt idx="8">
                  <c:v>3.7141317798346597E-2</c:v>
                </c:pt>
                <c:pt idx="9">
                  <c:v>5.0622821143652533E-2</c:v>
                </c:pt>
              </c:numCache>
            </c:numRef>
          </c:val>
          <c:smooth val="0"/>
          <c:extLst>
            <c:ext xmlns:c16="http://schemas.microsoft.com/office/drawing/2014/chart" uri="{C3380CC4-5D6E-409C-BE32-E72D297353CC}">
              <c16:uniqueId val="{00000006-3C92-4651-940F-0B418AD5E7C4}"/>
            </c:ext>
          </c:extLst>
        </c:ser>
        <c:ser>
          <c:idx val="7"/>
          <c:order val="7"/>
          <c:tx>
            <c:strRef>
              <c:f>Hoja2!$B$153</c:f>
              <c:strCache>
                <c:ptCount val="1"/>
                <c:pt idx="0">
                  <c:v>Salud</c:v>
                </c:pt>
              </c:strCache>
            </c:strRef>
          </c:tx>
          <c:spPr>
            <a:ln w="28575" cap="rnd">
              <a:solidFill>
                <a:schemeClr val="accent2">
                  <a:lumMod val="60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Hoja2!$C$145:$L$145</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Hoja2!$C$153:$L$153</c:f>
              <c:numCache>
                <c:formatCode>0.0%</c:formatCode>
                <c:ptCount val="10"/>
                <c:pt idx="0">
                  <c:v>6.3488717425560406E-2</c:v>
                </c:pt>
                <c:pt idx="1">
                  <c:v>6.9041763377537618E-2</c:v>
                </c:pt>
                <c:pt idx="2">
                  <c:v>7.9321925626506765E-2</c:v>
                </c:pt>
                <c:pt idx="3">
                  <c:v>8.1094658658255575E-2</c:v>
                </c:pt>
                <c:pt idx="4">
                  <c:v>7.3332046376956103E-2</c:v>
                </c:pt>
                <c:pt idx="5">
                  <c:v>9.2541692063290687E-2</c:v>
                </c:pt>
                <c:pt idx="6">
                  <c:v>8.4310508693980726E-2</c:v>
                </c:pt>
                <c:pt idx="7">
                  <c:v>8.8846628644192266E-2</c:v>
                </c:pt>
                <c:pt idx="8">
                  <c:v>9.1866641535939902E-2</c:v>
                </c:pt>
                <c:pt idx="9">
                  <c:v>8.9730476050195462E-2</c:v>
                </c:pt>
              </c:numCache>
            </c:numRef>
          </c:val>
          <c:smooth val="0"/>
          <c:extLst>
            <c:ext xmlns:c16="http://schemas.microsoft.com/office/drawing/2014/chart" uri="{C3380CC4-5D6E-409C-BE32-E72D297353CC}">
              <c16:uniqueId val="{00000007-3C92-4651-940F-0B418AD5E7C4}"/>
            </c:ext>
          </c:extLst>
        </c:ser>
        <c:ser>
          <c:idx val="8"/>
          <c:order val="8"/>
          <c:tx>
            <c:strRef>
              <c:f>Hoja2!$B$154</c:f>
              <c:strCache>
                <c:ptCount val="1"/>
                <c:pt idx="0">
                  <c:v>Seguros Y Servicios Financieros</c:v>
                </c:pt>
              </c:strCache>
            </c:strRef>
          </c:tx>
          <c:spPr>
            <a:ln w="28575" cap="rnd">
              <a:solidFill>
                <a:schemeClr val="accent3">
                  <a:lumMod val="60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Hoja2!$C$145:$L$145</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Hoja2!$C$154:$L$154</c:f>
              <c:numCache>
                <c:formatCode>0.0%</c:formatCode>
                <c:ptCount val="10"/>
                <c:pt idx="0">
                  <c:v>5.1133855237899765E-3</c:v>
                </c:pt>
                <c:pt idx="1">
                  <c:v>4.7501380241090369E-3</c:v>
                </c:pt>
                <c:pt idx="2">
                  <c:v>7.1701578742644255E-3</c:v>
                </c:pt>
                <c:pt idx="3">
                  <c:v>8.2196549423355462E-3</c:v>
                </c:pt>
                <c:pt idx="4">
                  <c:v>1.1497011468730292E-2</c:v>
                </c:pt>
                <c:pt idx="5">
                  <c:v>1.4451361143441891E-2</c:v>
                </c:pt>
                <c:pt idx="6">
                  <c:v>1.5549844560941876E-2</c:v>
                </c:pt>
                <c:pt idx="7">
                  <c:v>1.7394796756529857E-2</c:v>
                </c:pt>
                <c:pt idx="8">
                  <c:v>2.1805788286758623E-2</c:v>
                </c:pt>
                <c:pt idx="9">
                  <c:v>3.3308573874688274E-2</c:v>
                </c:pt>
              </c:numCache>
            </c:numRef>
          </c:val>
          <c:smooth val="0"/>
          <c:extLst>
            <c:ext xmlns:c16="http://schemas.microsoft.com/office/drawing/2014/chart" uri="{C3380CC4-5D6E-409C-BE32-E72D297353CC}">
              <c16:uniqueId val="{00000008-3C92-4651-940F-0B418AD5E7C4}"/>
            </c:ext>
          </c:extLst>
        </c:ser>
        <c:dLbls>
          <c:dLblPos val="t"/>
          <c:showLegendKey val="0"/>
          <c:showVal val="1"/>
          <c:showCatName val="0"/>
          <c:showSerName val="0"/>
          <c:showPercent val="0"/>
          <c:showBubbleSize val="0"/>
        </c:dLbls>
        <c:smooth val="0"/>
        <c:axId val="1633444463"/>
        <c:axId val="1633453615"/>
      </c:lineChart>
      <c:catAx>
        <c:axId val="16334444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C"/>
          </a:p>
        </c:txPr>
        <c:crossAx val="1633453615"/>
        <c:crosses val="autoZero"/>
        <c:auto val="1"/>
        <c:lblAlgn val="ctr"/>
        <c:lblOffset val="100"/>
        <c:noMultiLvlLbl val="0"/>
      </c:catAx>
      <c:valAx>
        <c:axId val="1633453615"/>
        <c:scaling>
          <c:orientation val="minMax"/>
        </c:scaling>
        <c:delete val="1"/>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crossAx val="163344446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C"/>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EC"/>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920" b="0" i="0" u="none" strike="noStrike" kern="1200" spc="0" baseline="0">
                <a:solidFill>
                  <a:schemeClr val="tx1"/>
                </a:solidFill>
                <a:latin typeface="Century Gothic" panose="020B0502020202020204" pitchFamily="34" charset="0"/>
                <a:ea typeface="+mn-ea"/>
                <a:cs typeface="+mn-cs"/>
              </a:defRPr>
            </a:pPr>
            <a:r>
              <a:rPr lang="en-US"/>
              <a:t>Distribución marginal: Perceptor de ingresos</a:t>
            </a:r>
            <a:endParaRPr lang="es-EC"/>
          </a:p>
        </c:rich>
      </c:tx>
      <c:overlay val="0"/>
      <c:spPr>
        <a:noFill/>
        <a:ln>
          <a:noFill/>
        </a:ln>
        <a:effectLst/>
      </c:spPr>
    </c:title>
    <c:autoTitleDeleted val="0"/>
    <c:plotArea>
      <c:layout>
        <c:manualLayout>
          <c:layoutTarget val="inner"/>
          <c:xMode val="edge"/>
          <c:yMode val="edge"/>
          <c:x val="0.14921288685068212"/>
          <c:y val="0.17886051710063552"/>
          <c:w val="0.823925086287291"/>
          <c:h val="0.66292297310324877"/>
        </c:manualLayout>
      </c:layout>
      <c:barChart>
        <c:barDir val="col"/>
        <c:grouping val="clustered"/>
        <c:varyColors val="0"/>
        <c:ser>
          <c:idx val="0"/>
          <c:order val="0"/>
          <c:spPr>
            <a:gradFill rotWithShape="1">
              <a:gsLst>
                <a:gs pos="0">
                  <a:schemeClr val="accent1">
                    <a:lumMod val="110000"/>
                    <a:satMod val="105000"/>
                    <a:tint val="67000"/>
                  </a:schemeClr>
                </a:gs>
                <a:gs pos="50000">
                  <a:schemeClr val="accent1">
                    <a:lumMod val="105000"/>
                    <a:satMod val="103000"/>
                    <a:tint val="73000"/>
                  </a:schemeClr>
                </a:gs>
                <a:gs pos="100000">
                  <a:schemeClr val="accent1">
                    <a:lumMod val="105000"/>
                    <a:satMod val="109000"/>
                    <a:tint val="81000"/>
                  </a:schemeClr>
                </a:gs>
              </a:gsLst>
              <a:lin ang="5400000" scaled="0"/>
            </a:gradFill>
            <a:ln w="6350" cap="flat" cmpd="sng" algn="ctr">
              <a:solidFill>
                <a:schemeClr val="accent1"/>
              </a:solidFill>
              <a:prstDash val="solid"/>
              <a:miter lim="800000"/>
            </a:ln>
            <a:effectLst/>
          </c:spPr>
          <c:invertIfNegative val="0"/>
          <c:dLbls>
            <c:dLbl>
              <c:idx val="0"/>
              <c:layout>
                <c:manualLayout>
                  <c:x val="-4.4769527588641733E-17"/>
                  <c:y val="0.29166666666666657"/>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0.11264034303404383"/>
                      <c:h val="0.10395669291338583"/>
                    </c:manualLayout>
                  </c15:layout>
                </c:ext>
                <c:ext xmlns:c16="http://schemas.microsoft.com/office/drawing/2014/chart" uri="{C3380CC4-5D6E-409C-BE32-E72D297353CC}">
                  <c16:uniqueId val="{00000001-E260-4FE0-A65B-B424608475FB}"/>
                </c:ext>
              </c:extLst>
            </c:dLbl>
            <c:dLbl>
              <c:idx val="1"/>
              <c:layout>
                <c:manualLayout>
                  <c:x val="8.9539055177283466E-17"/>
                  <c:y val="0.29629629629629622"/>
                </c:manualLayout>
              </c:layout>
              <c:tx>
                <c:rich>
                  <a:bodyPr/>
                  <a:lstStyle/>
                  <a:p>
                    <a:r>
                      <a:rPr lang="en-US" dirty="0"/>
                      <a:t>0,577</a:t>
                    </a:r>
                  </a:p>
                </c:rich>
              </c:tx>
              <c:dLblPos val="outEnd"/>
              <c:showLegendKey val="0"/>
              <c:showVal val="1"/>
              <c:showCatName val="0"/>
              <c:showSerName val="0"/>
              <c:showPercent val="0"/>
              <c:showBubbleSize val="0"/>
              <c:extLst>
                <c:ext xmlns:c15="http://schemas.microsoft.com/office/drawing/2012/chart" uri="{CE6537A1-D6FC-4f65-9D91-7224C49458BB}">
                  <c15:layout>
                    <c:manualLayout>
                      <c:w val="0.11264034303404383"/>
                      <c:h val="0.10395669291338583"/>
                    </c:manualLayout>
                  </c15:layout>
                  <c15:showDataLabelsRange val="0"/>
                </c:ext>
                <c:ext xmlns:c16="http://schemas.microsoft.com/office/drawing/2014/chart" uri="{C3380CC4-5D6E-409C-BE32-E72D297353CC}">
                  <c16:uniqueId val="{00000002-E260-4FE0-A65B-B424608475FB}"/>
                </c:ext>
              </c:extLst>
            </c:dLbl>
            <c:spPr>
              <a:noFill/>
              <a:ln>
                <a:noFill/>
              </a:ln>
              <a:effectLst/>
            </c:spPr>
            <c:txPr>
              <a:bodyPr rot="0" spcFirstLastPara="1" vertOverflow="ellipsis" vert="horz" wrap="square" anchor="ctr" anchorCtr="1"/>
              <a:lstStyle/>
              <a:p>
                <a:pPr>
                  <a:defRPr sz="1600" b="0" i="0" u="none" strike="noStrike" kern="1200" baseline="0">
                    <a:solidFill>
                      <a:schemeClr val="tx1"/>
                    </a:solidFill>
                    <a:latin typeface="Century Gothic" panose="020B0502020202020204" pitchFamily="34" charset="0"/>
                    <a:ea typeface="+mn-ea"/>
                    <a:cs typeface="+mn-cs"/>
                  </a:defRPr>
                </a:pPr>
                <a:endParaRPr lang="es-EC"/>
              </a:p>
            </c:txPr>
            <c:dLblPos val="outEnd"/>
            <c:showLegendKey val="0"/>
            <c:showVal val="1"/>
            <c:showCatName val="0"/>
            <c:showSerName val="0"/>
            <c:showPercent val="0"/>
            <c:showBubbleSize val="0"/>
            <c:showLeaderLines val="0"/>
            <c:extLst>
              <c:ext xmlns:c15="http://schemas.microsoft.com/office/drawing/2012/chart" uri="{CE6537A1-D6FC-4f65-9D91-7224C49458BB}">
                <c15:spPr xmlns:c15="http://schemas.microsoft.com/office/drawing/2012/chart">
                  <a:prstGeom prst="rect">
                    <a:avLst/>
                  </a:prstGeom>
                </c15:spPr>
                <c15:showLeaderLines val="1"/>
                <c15:leaderLines>
                  <c:spPr>
                    <a:ln w="9525" cap="flat" cmpd="sng" algn="ctr">
                      <a:solidFill>
                        <a:schemeClr val="tx1">
                          <a:lumMod val="35000"/>
                          <a:lumOff val="65000"/>
                        </a:schemeClr>
                      </a:solidFill>
                      <a:round/>
                    </a:ln>
                    <a:effectLst/>
                  </c:spPr>
                </c15:leaderLines>
              </c:ext>
            </c:extLst>
          </c:dLbls>
          <c:cat>
            <c:strRef>
              <c:f>Hoja1!$N$22:$N$23</c:f>
              <c:strCache>
                <c:ptCount val="2"/>
                <c:pt idx="0">
                  <c:v>No</c:v>
                </c:pt>
                <c:pt idx="1">
                  <c:v>Sí</c:v>
                </c:pt>
              </c:strCache>
            </c:strRef>
          </c:cat>
          <c:val>
            <c:numRef>
              <c:f>Hoja1!$P$22:$P$23</c:f>
              <c:numCache>
                <c:formatCode>0.000</c:formatCode>
                <c:ptCount val="2"/>
                <c:pt idx="0">
                  <c:v>0.49893950494686667</c:v>
                </c:pt>
                <c:pt idx="1">
                  <c:v>0.50106049505313333</c:v>
                </c:pt>
              </c:numCache>
            </c:numRef>
          </c:val>
          <c:extLst>
            <c:ext xmlns:c16="http://schemas.microsoft.com/office/drawing/2014/chart" uri="{C3380CC4-5D6E-409C-BE32-E72D297353CC}">
              <c16:uniqueId val="{00000000-E260-4FE0-A65B-B424608475FB}"/>
            </c:ext>
          </c:extLst>
        </c:ser>
        <c:dLbls>
          <c:showLegendKey val="0"/>
          <c:showVal val="0"/>
          <c:showCatName val="0"/>
          <c:showSerName val="0"/>
          <c:showPercent val="0"/>
          <c:showBubbleSize val="0"/>
        </c:dLbls>
        <c:gapWidth val="219"/>
        <c:overlap val="-27"/>
        <c:axId val="2004588448"/>
        <c:axId val="2004588864"/>
      </c:barChart>
      <c:catAx>
        <c:axId val="20045884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600" b="0" i="0" u="none" strike="noStrike" kern="1200" baseline="0">
                <a:solidFill>
                  <a:schemeClr val="tx1"/>
                </a:solidFill>
                <a:latin typeface="Century Gothic" panose="020B0502020202020204" pitchFamily="34" charset="0"/>
                <a:ea typeface="+mn-ea"/>
                <a:cs typeface="+mn-cs"/>
              </a:defRPr>
            </a:pPr>
            <a:endParaRPr lang="es-EC"/>
          </a:p>
        </c:txPr>
        <c:crossAx val="2004588864"/>
        <c:crosses val="autoZero"/>
        <c:auto val="1"/>
        <c:lblAlgn val="ctr"/>
        <c:lblOffset val="100"/>
        <c:noMultiLvlLbl val="0"/>
      </c:catAx>
      <c:valAx>
        <c:axId val="2004588864"/>
        <c:scaling>
          <c:orientation val="minMax"/>
          <c:min val="0"/>
        </c:scaling>
        <c:delete val="0"/>
        <c:axPos val="l"/>
        <c:numFmt formatCode="0.000"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tx1"/>
                </a:solidFill>
                <a:latin typeface="Century Gothic" panose="020B0502020202020204" pitchFamily="34" charset="0"/>
                <a:ea typeface="+mn-ea"/>
                <a:cs typeface="+mn-cs"/>
              </a:defRPr>
            </a:pPr>
            <a:endParaRPr lang="es-EC"/>
          </a:p>
        </c:txPr>
        <c:crossAx val="2004588448"/>
        <c:crosses val="autoZero"/>
        <c:crossBetween val="between"/>
      </c:valAx>
      <c:spPr>
        <a:noFill/>
        <a:ln>
          <a:noFill/>
        </a:ln>
        <a:effectLst/>
      </c:spPr>
    </c:plotArea>
    <c:plotVisOnly val="1"/>
    <c:dispBlanksAs val="gap"/>
    <c:showDLblsOverMax val="0"/>
  </c:chart>
  <c:spPr>
    <a:noFill/>
    <a:ln>
      <a:noFill/>
    </a:ln>
    <a:effectLst/>
  </c:spPr>
  <c:txPr>
    <a:bodyPr/>
    <a:lstStyle/>
    <a:p>
      <a:pPr>
        <a:defRPr sz="1600">
          <a:solidFill>
            <a:schemeClr val="tx1"/>
          </a:solidFill>
          <a:latin typeface="Century Gothic" panose="020B0502020202020204" pitchFamily="34" charset="0"/>
        </a:defRPr>
      </a:pPr>
      <a:endParaRPr lang="es-EC"/>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cked"/>
        <c:varyColors val="0"/>
        <c:ser>
          <c:idx val="0"/>
          <c:order val="0"/>
          <c:tx>
            <c:strRef>
              <c:f>Hoja2!$B$146</c:f>
              <c:strCache>
                <c:ptCount val="1"/>
                <c:pt idx="0">
                  <c:v>Alimentos Y Bebidas No Alcohólicas                                                                                                    </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Hoja2!$C$145:$L$145</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Hoja2!$C$146:$L$146</c:f>
              <c:numCache>
                <c:formatCode>0.0%</c:formatCode>
                <c:ptCount val="10"/>
                <c:pt idx="0">
                  <c:v>0.307591468386468</c:v>
                </c:pt>
                <c:pt idx="1">
                  <c:v>0.2824893727828614</c:v>
                </c:pt>
                <c:pt idx="2">
                  <c:v>0.26203786532184337</c:v>
                </c:pt>
                <c:pt idx="3">
                  <c:v>0.24150592815623417</c:v>
                </c:pt>
                <c:pt idx="4">
                  <c:v>0.21914394175904903</c:v>
                </c:pt>
                <c:pt idx="5">
                  <c:v>0.2023990434724828</c:v>
                </c:pt>
                <c:pt idx="6">
                  <c:v>0.17846824326245897</c:v>
                </c:pt>
                <c:pt idx="7">
                  <c:v>0.16015057197451446</c:v>
                </c:pt>
                <c:pt idx="8">
                  <c:v>0.12824355192487735</c:v>
                </c:pt>
                <c:pt idx="9">
                  <c:v>9.9886743256597077E-2</c:v>
                </c:pt>
              </c:numCache>
            </c:numRef>
          </c:val>
          <c:smooth val="0"/>
          <c:extLst>
            <c:ext xmlns:c16="http://schemas.microsoft.com/office/drawing/2014/chart" uri="{C3380CC4-5D6E-409C-BE32-E72D297353CC}">
              <c16:uniqueId val="{00000000-FEAA-40A4-A052-662FF16F0222}"/>
            </c:ext>
          </c:extLst>
        </c:ser>
        <c:ser>
          <c:idx val="1"/>
          <c:order val="1"/>
          <c:tx>
            <c:strRef>
              <c:f>Hoja2!$B$147</c:f>
              <c:strCache>
                <c:ptCount val="1"/>
                <c:pt idx="0">
                  <c:v>Bebidas Alcohólicas, Tabaco Y Estupefacientes</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Hoja2!$C$145:$L$145</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Hoja2!$C$147:$L$147</c:f>
              <c:numCache>
                <c:formatCode>0.0%</c:formatCode>
                <c:ptCount val="10"/>
                <c:pt idx="0">
                  <c:v>3.17372256716389E-3</c:v>
                </c:pt>
                <c:pt idx="1">
                  <c:v>3.5214070242373238E-3</c:v>
                </c:pt>
                <c:pt idx="2">
                  <c:v>3.3725277898639123E-3</c:v>
                </c:pt>
                <c:pt idx="3">
                  <c:v>4.0226927568235557E-3</c:v>
                </c:pt>
                <c:pt idx="4">
                  <c:v>3.6418800167950681E-3</c:v>
                </c:pt>
                <c:pt idx="5">
                  <c:v>2.8955800553090278E-3</c:v>
                </c:pt>
                <c:pt idx="6">
                  <c:v>4.1632710784486058E-3</c:v>
                </c:pt>
                <c:pt idx="7">
                  <c:v>3.5619619972679095E-3</c:v>
                </c:pt>
                <c:pt idx="8">
                  <c:v>3.2717090018218702E-3</c:v>
                </c:pt>
                <c:pt idx="9">
                  <c:v>2.3036169940031676E-3</c:v>
                </c:pt>
              </c:numCache>
            </c:numRef>
          </c:val>
          <c:smooth val="0"/>
          <c:extLst>
            <c:ext xmlns:c16="http://schemas.microsoft.com/office/drawing/2014/chart" uri="{C3380CC4-5D6E-409C-BE32-E72D297353CC}">
              <c16:uniqueId val="{00000001-FEAA-40A4-A052-662FF16F0222}"/>
            </c:ext>
          </c:extLst>
        </c:ser>
        <c:ser>
          <c:idx val="2"/>
          <c:order val="2"/>
          <c:tx>
            <c:strRef>
              <c:f>Hoja2!$B$148</c:f>
              <c:strCache>
                <c:ptCount val="1"/>
                <c:pt idx="0">
                  <c:v>Cuidado Personal, Previsión Social Y Bienes Y Servicios Diversos</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Hoja2!$C$145:$L$145</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Hoja2!$C$148:$L$148</c:f>
              <c:numCache>
                <c:formatCode>0.0%</c:formatCode>
                <c:ptCount val="10"/>
                <c:pt idx="0">
                  <c:v>9.9425605269730627E-2</c:v>
                </c:pt>
                <c:pt idx="1">
                  <c:v>8.8404314137992226E-2</c:v>
                </c:pt>
                <c:pt idx="2">
                  <c:v>8.7751072598695273E-2</c:v>
                </c:pt>
                <c:pt idx="3">
                  <c:v>8.2326136334478509E-2</c:v>
                </c:pt>
                <c:pt idx="4">
                  <c:v>8.4637758679089015E-2</c:v>
                </c:pt>
                <c:pt idx="5">
                  <c:v>8.0120461717815381E-2</c:v>
                </c:pt>
                <c:pt idx="6">
                  <c:v>7.7584878630120382E-2</c:v>
                </c:pt>
                <c:pt idx="7">
                  <c:v>7.7484367858032754E-2</c:v>
                </c:pt>
                <c:pt idx="8">
                  <c:v>7.1325315946275808E-2</c:v>
                </c:pt>
                <c:pt idx="9">
                  <c:v>6.558055160283513E-2</c:v>
                </c:pt>
              </c:numCache>
            </c:numRef>
          </c:val>
          <c:smooth val="0"/>
          <c:extLst>
            <c:ext xmlns:c16="http://schemas.microsoft.com/office/drawing/2014/chart" uri="{C3380CC4-5D6E-409C-BE32-E72D297353CC}">
              <c16:uniqueId val="{00000002-FEAA-40A4-A052-662FF16F0222}"/>
            </c:ext>
          </c:extLst>
        </c:ser>
        <c:ser>
          <c:idx val="3"/>
          <c:order val="3"/>
          <c:tx>
            <c:strRef>
              <c:f>Hoja2!$B$149</c:f>
              <c:strCache>
                <c:ptCount val="1"/>
                <c:pt idx="0">
                  <c:v>Información Y Comunicación</c:v>
                </c:pt>
              </c:strCache>
            </c:strRef>
          </c:tx>
          <c:spPr>
            <a:ln w="28575" cap="rnd">
              <a:solidFill>
                <a:schemeClr val="accent4"/>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Hoja2!$C$145:$L$145</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Hoja2!$C$149:$L$149</c:f>
              <c:numCache>
                <c:formatCode>0.0%</c:formatCode>
                <c:ptCount val="10"/>
                <c:pt idx="0">
                  <c:v>5.2187057102251591E-2</c:v>
                </c:pt>
                <c:pt idx="1">
                  <c:v>5.9327970445754379E-2</c:v>
                </c:pt>
                <c:pt idx="2">
                  <c:v>5.7826869306530977E-2</c:v>
                </c:pt>
                <c:pt idx="3">
                  <c:v>5.8132489356743915E-2</c:v>
                </c:pt>
                <c:pt idx="4">
                  <c:v>6.4715450732541854E-2</c:v>
                </c:pt>
                <c:pt idx="5">
                  <c:v>5.7862622919489626E-2</c:v>
                </c:pt>
                <c:pt idx="6">
                  <c:v>6.3043175583737884E-2</c:v>
                </c:pt>
                <c:pt idx="7">
                  <c:v>5.5578062457842012E-2</c:v>
                </c:pt>
                <c:pt idx="8">
                  <c:v>5.805194620890769E-2</c:v>
                </c:pt>
                <c:pt idx="9">
                  <c:v>5.7065933342713641E-2</c:v>
                </c:pt>
              </c:numCache>
            </c:numRef>
          </c:val>
          <c:smooth val="0"/>
          <c:extLst>
            <c:ext xmlns:c16="http://schemas.microsoft.com/office/drawing/2014/chart" uri="{C3380CC4-5D6E-409C-BE32-E72D297353CC}">
              <c16:uniqueId val="{00000003-FEAA-40A4-A052-662FF16F0222}"/>
            </c:ext>
          </c:extLst>
        </c:ser>
        <c:ser>
          <c:idx val="4"/>
          <c:order val="4"/>
          <c:tx>
            <c:strRef>
              <c:f>Hoja2!$B$150</c:f>
              <c:strCache>
                <c:ptCount val="1"/>
                <c:pt idx="0">
                  <c:v>Muebles, Artículos Para El Hogar Y Para La Conservación Ordinaria Del Hogar</c:v>
                </c:pt>
              </c:strCache>
            </c:strRef>
          </c:tx>
          <c:spPr>
            <a:ln w="28575" cap="rnd">
              <a:solidFill>
                <a:schemeClr val="accent5"/>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Hoja2!$C$145:$L$145</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Hoja2!$C$150:$L$150</c:f>
              <c:numCache>
                <c:formatCode>0.0%</c:formatCode>
                <c:ptCount val="10"/>
                <c:pt idx="0">
                  <c:v>4.7694213140280099E-2</c:v>
                </c:pt>
                <c:pt idx="1">
                  <c:v>4.6220049960249025E-2</c:v>
                </c:pt>
                <c:pt idx="2">
                  <c:v>5.0618098876231643E-2</c:v>
                </c:pt>
                <c:pt idx="3">
                  <c:v>5.0244878166030724E-2</c:v>
                </c:pt>
                <c:pt idx="4">
                  <c:v>4.9333893047932356E-2</c:v>
                </c:pt>
                <c:pt idx="5">
                  <c:v>4.9443582688657527E-2</c:v>
                </c:pt>
                <c:pt idx="6">
                  <c:v>5.6173336948077537E-2</c:v>
                </c:pt>
                <c:pt idx="7">
                  <c:v>5.4383918594132184E-2</c:v>
                </c:pt>
                <c:pt idx="8">
                  <c:v>6.3316375366742769E-2</c:v>
                </c:pt>
                <c:pt idx="9">
                  <c:v>9.8101907817467776E-2</c:v>
                </c:pt>
              </c:numCache>
            </c:numRef>
          </c:val>
          <c:smooth val="0"/>
          <c:extLst>
            <c:ext xmlns:c16="http://schemas.microsoft.com/office/drawing/2014/chart" uri="{C3380CC4-5D6E-409C-BE32-E72D297353CC}">
              <c16:uniqueId val="{00000004-FEAA-40A4-A052-662FF16F0222}"/>
            </c:ext>
          </c:extLst>
        </c:ser>
        <c:ser>
          <c:idx val="5"/>
          <c:order val="5"/>
          <c:tx>
            <c:strRef>
              <c:f>Hoja2!$B$151</c:f>
              <c:strCache>
                <c:ptCount val="1"/>
                <c:pt idx="0">
                  <c:v>Prendas De Vestir Y Calzado</c:v>
                </c:pt>
              </c:strCache>
            </c:strRef>
          </c:tx>
          <c:spPr>
            <a:ln w="28575" cap="rnd">
              <a:solidFill>
                <a:schemeClr val="accent6"/>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Hoja2!$C$145:$L$145</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Hoja2!$C$151:$L$151</c:f>
              <c:numCache>
                <c:formatCode>0.0%</c:formatCode>
                <c:ptCount val="10"/>
                <c:pt idx="0">
                  <c:v>7.0256596495257409E-2</c:v>
                </c:pt>
                <c:pt idx="1">
                  <c:v>7.0714976556736087E-2</c:v>
                </c:pt>
                <c:pt idx="2">
                  <c:v>6.5066702943159138E-2</c:v>
                </c:pt>
                <c:pt idx="3">
                  <c:v>6.838178664095336E-2</c:v>
                </c:pt>
                <c:pt idx="4">
                  <c:v>6.866500939583689E-2</c:v>
                </c:pt>
                <c:pt idx="5">
                  <c:v>6.5108358500672328E-2</c:v>
                </c:pt>
                <c:pt idx="6">
                  <c:v>6.5802767915738289E-2</c:v>
                </c:pt>
                <c:pt idx="7">
                  <c:v>6.4531483822034469E-2</c:v>
                </c:pt>
                <c:pt idx="8">
                  <c:v>6.7694151490793317E-2</c:v>
                </c:pt>
                <c:pt idx="9">
                  <c:v>5.8092159807325218E-2</c:v>
                </c:pt>
              </c:numCache>
            </c:numRef>
          </c:val>
          <c:smooth val="0"/>
          <c:extLst>
            <c:ext xmlns:c16="http://schemas.microsoft.com/office/drawing/2014/chart" uri="{C3380CC4-5D6E-409C-BE32-E72D297353CC}">
              <c16:uniqueId val="{00000005-FEAA-40A4-A052-662FF16F0222}"/>
            </c:ext>
          </c:extLst>
        </c:ser>
        <c:ser>
          <c:idx val="6"/>
          <c:order val="6"/>
          <c:tx>
            <c:strRef>
              <c:f>Hoja2!$B$152</c:f>
              <c:strCache>
                <c:ptCount val="1"/>
                <c:pt idx="0">
                  <c:v>Recreación, Deporte Y Cultura</c:v>
                </c:pt>
              </c:strCache>
            </c:strRef>
          </c:tx>
          <c:spPr>
            <a:ln w="28575" cap="rnd">
              <a:solidFill>
                <a:schemeClr val="accent1">
                  <a:lumMod val="60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Hoja2!$C$145:$L$145</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Hoja2!$C$152:$L$152</c:f>
              <c:numCache>
                <c:formatCode>0.0%</c:formatCode>
                <c:ptCount val="10"/>
                <c:pt idx="0">
                  <c:v>2.5705947075821512E-2</c:v>
                </c:pt>
                <c:pt idx="1">
                  <c:v>2.2963265476849706E-2</c:v>
                </c:pt>
                <c:pt idx="2">
                  <c:v>2.0638970110004692E-2</c:v>
                </c:pt>
                <c:pt idx="3">
                  <c:v>2.2819231036583523E-2</c:v>
                </c:pt>
                <c:pt idx="4">
                  <c:v>2.3519046579440771E-2</c:v>
                </c:pt>
                <c:pt idx="5">
                  <c:v>2.5394908604378159E-2</c:v>
                </c:pt>
                <c:pt idx="6">
                  <c:v>2.3476409153636794E-2</c:v>
                </c:pt>
                <c:pt idx="7">
                  <c:v>3.3215016476110144E-2</c:v>
                </c:pt>
                <c:pt idx="8">
                  <c:v>3.7141317798346597E-2</c:v>
                </c:pt>
                <c:pt idx="9">
                  <c:v>5.0622821143652533E-2</c:v>
                </c:pt>
              </c:numCache>
            </c:numRef>
          </c:val>
          <c:smooth val="0"/>
          <c:extLst>
            <c:ext xmlns:c16="http://schemas.microsoft.com/office/drawing/2014/chart" uri="{C3380CC4-5D6E-409C-BE32-E72D297353CC}">
              <c16:uniqueId val="{00000006-FEAA-40A4-A052-662FF16F0222}"/>
            </c:ext>
          </c:extLst>
        </c:ser>
        <c:ser>
          <c:idx val="7"/>
          <c:order val="7"/>
          <c:tx>
            <c:strRef>
              <c:f>Hoja2!$B$153</c:f>
              <c:strCache>
                <c:ptCount val="1"/>
                <c:pt idx="0">
                  <c:v>Salud</c:v>
                </c:pt>
              </c:strCache>
            </c:strRef>
          </c:tx>
          <c:spPr>
            <a:ln w="28575" cap="rnd">
              <a:solidFill>
                <a:schemeClr val="accent2">
                  <a:lumMod val="60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Hoja2!$C$145:$L$145</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Hoja2!$C$153:$L$153</c:f>
              <c:numCache>
                <c:formatCode>0.0%</c:formatCode>
                <c:ptCount val="10"/>
                <c:pt idx="0">
                  <c:v>6.3488717425560406E-2</c:v>
                </c:pt>
                <c:pt idx="1">
                  <c:v>6.9041763377537618E-2</c:v>
                </c:pt>
                <c:pt idx="2">
                  <c:v>7.9321925626506765E-2</c:v>
                </c:pt>
                <c:pt idx="3">
                  <c:v>8.1094658658255575E-2</c:v>
                </c:pt>
                <c:pt idx="4">
                  <c:v>7.3332046376956103E-2</c:v>
                </c:pt>
                <c:pt idx="5">
                  <c:v>9.2541692063290687E-2</c:v>
                </c:pt>
                <c:pt idx="6">
                  <c:v>8.4310508693980726E-2</c:v>
                </c:pt>
                <c:pt idx="7">
                  <c:v>8.8846628644192266E-2</c:v>
                </c:pt>
                <c:pt idx="8">
                  <c:v>9.1866641535939902E-2</c:v>
                </c:pt>
                <c:pt idx="9">
                  <c:v>8.9730476050195462E-2</c:v>
                </c:pt>
              </c:numCache>
            </c:numRef>
          </c:val>
          <c:smooth val="0"/>
          <c:extLst>
            <c:ext xmlns:c16="http://schemas.microsoft.com/office/drawing/2014/chart" uri="{C3380CC4-5D6E-409C-BE32-E72D297353CC}">
              <c16:uniqueId val="{00000007-FEAA-40A4-A052-662FF16F0222}"/>
            </c:ext>
          </c:extLst>
        </c:ser>
        <c:ser>
          <c:idx val="8"/>
          <c:order val="8"/>
          <c:tx>
            <c:strRef>
              <c:f>Hoja2!$B$154</c:f>
              <c:strCache>
                <c:ptCount val="1"/>
                <c:pt idx="0">
                  <c:v>Seguros Y Servicios Financieros</c:v>
                </c:pt>
              </c:strCache>
            </c:strRef>
          </c:tx>
          <c:spPr>
            <a:ln w="28575" cap="rnd">
              <a:solidFill>
                <a:schemeClr val="accent3">
                  <a:lumMod val="60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Hoja2!$C$145:$L$145</c:f>
              <c:strCache>
                <c:ptCount val="10"/>
                <c:pt idx="0">
                  <c:v>decil 1</c:v>
                </c:pt>
                <c:pt idx="1">
                  <c:v>decil 2</c:v>
                </c:pt>
                <c:pt idx="2">
                  <c:v>decil 3</c:v>
                </c:pt>
                <c:pt idx="3">
                  <c:v>decil 4</c:v>
                </c:pt>
                <c:pt idx="4">
                  <c:v>decil 5</c:v>
                </c:pt>
                <c:pt idx="5">
                  <c:v>decil 6</c:v>
                </c:pt>
                <c:pt idx="6">
                  <c:v>decil 7</c:v>
                </c:pt>
                <c:pt idx="7">
                  <c:v>decil 8</c:v>
                </c:pt>
                <c:pt idx="8">
                  <c:v>decil 9</c:v>
                </c:pt>
                <c:pt idx="9">
                  <c:v>decil 10</c:v>
                </c:pt>
              </c:strCache>
            </c:strRef>
          </c:cat>
          <c:val>
            <c:numRef>
              <c:f>Hoja2!$C$154:$L$154</c:f>
              <c:numCache>
                <c:formatCode>0.0%</c:formatCode>
                <c:ptCount val="10"/>
                <c:pt idx="0">
                  <c:v>5.1133855237899765E-3</c:v>
                </c:pt>
                <c:pt idx="1">
                  <c:v>4.7501380241090369E-3</c:v>
                </c:pt>
                <c:pt idx="2">
                  <c:v>7.1701578742644255E-3</c:v>
                </c:pt>
                <c:pt idx="3">
                  <c:v>8.2196549423355462E-3</c:v>
                </c:pt>
                <c:pt idx="4">
                  <c:v>1.1497011468730292E-2</c:v>
                </c:pt>
                <c:pt idx="5">
                  <c:v>1.4451361143441891E-2</c:v>
                </c:pt>
                <c:pt idx="6">
                  <c:v>1.5549844560941876E-2</c:v>
                </c:pt>
                <c:pt idx="7">
                  <c:v>1.7394796756529857E-2</c:v>
                </c:pt>
                <c:pt idx="8">
                  <c:v>2.1805788286758623E-2</c:v>
                </c:pt>
                <c:pt idx="9">
                  <c:v>3.3308573874688274E-2</c:v>
                </c:pt>
              </c:numCache>
            </c:numRef>
          </c:val>
          <c:smooth val="0"/>
          <c:extLst>
            <c:ext xmlns:c16="http://schemas.microsoft.com/office/drawing/2014/chart" uri="{C3380CC4-5D6E-409C-BE32-E72D297353CC}">
              <c16:uniqueId val="{00000008-FEAA-40A4-A052-662FF16F0222}"/>
            </c:ext>
          </c:extLst>
        </c:ser>
        <c:dLbls>
          <c:dLblPos val="t"/>
          <c:showLegendKey val="0"/>
          <c:showVal val="1"/>
          <c:showCatName val="0"/>
          <c:showSerName val="0"/>
          <c:showPercent val="0"/>
          <c:showBubbleSize val="0"/>
        </c:dLbls>
        <c:smooth val="0"/>
        <c:axId val="1633444463"/>
        <c:axId val="1633453615"/>
      </c:lineChart>
      <c:catAx>
        <c:axId val="163344446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C"/>
          </a:p>
        </c:txPr>
        <c:crossAx val="1633453615"/>
        <c:crosses val="autoZero"/>
        <c:auto val="1"/>
        <c:lblAlgn val="ctr"/>
        <c:lblOffset val="100"/>
        <c:noMultiLvlLbl val="0"/>
      </c:catAx>
      <c:valAx>
        <c:axId val="1633453615"/>
        <c:scaling>
          <c:orientation val="minMax"/>
        </c:scaling>
        <c:delete val="1"/>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crossAx val="1633444463"/>
        <c:crosses val="autoZero"/>
        <c:crossBetween val="between"/>
      </c:valAx>
      <c:spPr>
        <a:noFill/>
        <a:ln>
          <a:noFill/>
        </a:ln>
        <a:effectLst/>
      </c:spPr>
    </c:plotArea>
    <c:legend>
      <c:legendPos val="b"/>
      <c:layout>
        <c:manualLayout>
          <c:xMode val="edge"/>
          <c:yMode val="edge"/>
          <c:x val="7.0280482701173402E-2"/>
          <c:y val="0.44612365163755952"/>
          <c:w val="0.89549305257699208"/>
          <c:h val="0.5538763483624404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C"/>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EC"/>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Hoja2!$R$145</c:f>
              <c:strCache>
                <c:ptCount val="1"/>
                <c:pt idx="0">
                  <c:v>Servicios De Restaurantes Y Alojamiento</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Hoja2!$S$145:$AB$145</c:f>
              <c:numCache>
                <c:formatCode>0.0%</c:formatCode>
                <c:ptCount val="10"/>
                <c:pt idx="0">
                  <c:v>5.6821592117562089E-2</c:v>
                </c:pt>
                <c:pt idx="1">
                  <c:v>7.4428843171467404E-2</c:v>
                </c:pt>
                <c:pt idx="2">
                  <c:v>7.6482667479210786E-2</c:v>
                </c:pt>
                <c:pt idx="3">
                  <c:v>8.4673540134135264E-2</c:v>
                </c:pt>
                <c:pt idx="4">
                  <c:v>9.8307993340147865E-2</c:v>
                </c:pt>
                <c:pt idx="5">
                  <c:v>9.3748081343971584E-2</c:v>
                </c:pt>
                <c:pt idx="6">
                  <c:v>0.10412610746060233</c:v>
                </c:pt>
                <c:pt idx="7">
                  <c:v>9.9354602866953204E-2</c:v>
                </c:pt>
                <c:pt idx="8">
                  <c:v>0.1041824906701071</c:v>
                </c:pt>
                <c:pt idx="9">
                  <c:v>9.8283088181550446E-2</c:v>
                </c:pt>
              </c:numCache>
            </c:numRef>
          </c:val>
          <c:smooth val="0"/>
          <c:extLst>
            <c:ext xmlns:c16="http://schemas.microsoft.com/office/drawing/2014/chart" uri="{C3380CC4-5D6E-409C-BE32-E72D297353CC}">
              <c16:uniqueId val="{00000000-9357-4BDE-BDCB-5CABD57606EB}"/>
            </c:ext>
          </c:extLst>
        </c:ser>
        <c:ser>
          <c:idx val="1"/>
          <c:order val="1"/>
          <c:tx>
            <c:strRef>
              <c:f>Hoja2!$R$146</c:f>
              <c:strCache>
                <c:ptCount val="1"/>
                <c:pt idx="0">
                  <c:v>Servicios Educativos</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Hoja2!$S$146:$AB$146</c:f>
              <c:numCache>
                <c:formatCode>0.0%</c:formatCode>
                <c:ptCount val="10"/>
                <c:pt idx="0">
                  <c:v>9.6358139386776807E-3</c:v>
                </c:pt>
                <c:pt idx="1">
                  <c:v>2.351104960937422E-2</c:v>
                </c:pt>
                <c:pt idx="2">
                  <c:v>2.6049318621377947E-2</c:v>
                </c:pt>
                <c:pt idx="3">
                  <c:v>4.1921961501433354E-2</c:v>
                </c:pt>
                <c:pt idx="4">
                  <c:v>5.7158789649483066E-2</c:v>
                </c:pt>
                <c:pt idx="5">
                  <c:v>6.9614069929102004E-2</c:v>
                </c:pt>
                <c:pt idx="6">
                  <c:v>6.566870248683708E-2</c:v>
                </c:pt>
                <c:pt idx="7">
                  <c:v>8.0845288608603863E-2</c:v>
                </c:pt>
                <c:pt idx="8">
                  <c:v>0.10087285498352454</c:v>
                </c:pt>
                <c:pt idx="9">
                  <c:v>9.7823318745565491E-2</c:v>
                </c:pt>
              </c:numCache>
            </c:numRef>
          </c:val>
          <c:smooth val="0"/>
          <c:extLst>
            <c:ext xmlns:c16="http://schemas.microsoft.com/office/drawing/2014/chart" uri="{C3380CC4-5D6E-409C-BE32-E72D297353CC}">
              <c16:uniqueId val="{00000001-9357-4BDE-BDCB-5CABD57606EB}"/>
            </c:ext>
          </c:extLst>
        </c:ser>
        <c:ser>
          <c:idx val="2"/>
          <c:order val="2"/>
          <c:tx>
            <c:strRef>
              <c:f>Hoja2!$R$147</c:f>
              <c:strCache>
                <c:ptCount val="1"/>
                <c:pt idx="0">
                  <c:v>Transporte</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Hoja2!$S$147:$AB$147</c:f>
              <c:numCache>
                <c:formatCode>0.0%</c:formatCode>
                <c:ptCount val="10"/>
                <c:pt idx="0">
                  <c:v>8.9285534471074846E-2</c:v>
                </c:pt>
                <c:pt idx="1">
                  <c:v>9.586750856129056E-2</c:v>
                </c:pt>
                <c:pt idx="2">
                  <c:v>0.11663153033075446</c:v>
                </c:pt>
                <c:pt idx="3">
                  <c:v>0.11946473071479229</c:v>
                </c:pt>
                <c:pt idx="4">
                  <c:v>0.12133635260998778</c:v>
                </c:pt>
                <c:pt idx="5">
                  <c:v>0.12756116532527409</c:v>
                </c:pt>
                <c:pt idx="6">
                  <c:v>0.13862761550048769</c:v>
                </c:pt>
                <c:pt idx="7">
                  <c:v>0.16857191913739539</c:v>
                </c:pt>
                <c:pt idx="8">
                  <c:v>0.16215554086421224</c:v>
                </c:pt>
                <c:pt idx="9">
                  <c:v>0.16172442853297123</c:v>
                </c:pt>
              </c:numCache>
            </c:numRef>
          </c:val>
          <c:smooth val="0"/>
          <c:extLst>
            <c:ext xmlns:c16="http://schemas.microsoft.com/office/drawing/2014/chart" uri="{C3380CC4-5D6E-409C-BE32-E72D297353CC}">
              <c16:uniqueId val="{00000002-9357-4BDE-BDCB-5CABD57606EB}"/>
            </c:ext>
          </c:extLst>
        </c:ser>
        <c:ser>
          <c:idx val="3"/>
          <c:order val="3"/>
          <c:tx>
            <c:strRef>
              <c:f>Hoja2!$R$148</c:f>
              <c:strCache>
                <c:ptCount val="1"/>
                <c:pt idx="0">
                  <c:v>Vivienda, Agua, Electricidad, Gas Y Otros Combustibles</c:v>
                </c:pt>
              </c:strCache>
            </c:strRef>
          </c:tx>
          <c:spPr>
            <a:ln w="28575" cap="rnd">
              <a:solidFill>
                <a:schemeClr val="accent4"/>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Hoja2!$S$148:$AB$148</c:f>
              <c:numCache>
                <c:formatCode>0.0%</c:formatCode>
                <c:ptCount val="10"/>
                <c:pt idx="0">
                  <c:v>0.16962034648636201</c:v>
                </c:pt>
                <c:pt idx="1">
                  <c:v>0.158759340871541</c:v>
                </c:pt>
                <c:pt idx="2">
                  <c:v>0.14703229312155658</c:v>
                </c:pt>
                <c:pt idx="3">
                  <c:v>0.13719231160120024</c:v>
                </c:pt>
                <c:pt idx="4">
                  <c:v>0.1247108263440098</c:v>
                </c:pt>
                <c:pt idx="5">
                  <c:v>0.11885907223611478</c:v>
                </c:pt>
                <c:pt idx="6">
                  <c:v>0.12300513872493173</c:v>
                </c:pt>
                <c:pt idx="7">
                  <c:v>9.6081380806391628E-2</c:v>
                </c:pt>
                <c:pt idx="8">
                  <c:v>9.0072315921692209E-2</c:v>
                </c:pt>
                <c:pt idx="9">
                  <c:v>8.7476380650434504E-2</c:v>
                </c:pt>
              </c:numCache>
            </c:numRef>
          </c:val>
          <c:smooth val="0"/>
          <c:extLst>
            <c:ext xmlns:c16="http://schemas.microsoft.com/office/drawing/2014/chart" uri="{C3380CC4-5D6E-409C-BE32-E72D297353CC}">
              <c16:uniqueId val="{00000003-9357-4BDE-BDCB-5CABD57606EB}"/>
            </c:ext>
          </c:extLst>
        </c:ser>
        <c:dLbls>
          <c:dLblPos val="t"/>
          <c:showLegendKey val="0"/>
          <c:showVal val="1"/>
          <c:showCatName val="0"/>
          <c:showSerName val="0"/>
          <c:showPercent val="0"/>
          <c:showBubbleSize val="0"/>
        </c:dLbls>
        <c:smooth val="0"/>
        <c:axId val="1630988751"/>
        <c:axId val="1630985007"/>
      </c:lineChart>
      <c:catAx>
        <c:axId val="1630988751"/>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C"/>
          </a:p>
        </c:txPr>
        <c:crossAx val="1630985007"/>
        <c:crosses val="autoZero"/>
        <c:auto val="1"/>
        <c:lblAlgn val="ctr"/>
        <c:lblOffset val="100"/>
        <c:noMultiLvlLbl val="0"/>
      </c:catAx>
      <c:valAx>
        <c:axId val="1630985007"/>
        <c:scaling>
          <c:orientation val="minMax"/>
        </c:scaling>
        <c:delete val="1"/>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crossAx val="163098875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C"/>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EC"/>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Hoja2!$A$88</c:f>
              <c:strCache>
                <c:ptCount val="1"/>
                <c:pt idx="0">
                  <c:v>01122401 Pollo entero fresco, refrigerado o congelado</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Hoja2!$B$87:$K$87</c:f>
              <c:strCache>
                <c:ptCount val="10"/>
                <c:pt idx="0">
                  <c:v>Decil1</c:v>
                </c:pt>
                <c:pt idx="1">
                  <c:v>Decil2</c:v>
                </c:pt>
                <c:pt idx="2">
                  <c:v>Decil3</c:v>
                </c:pt>
                <c:pt idx="3">
                  <c:v>Decil4</c:v>
                </c:pt>
                <c:pt idx="4">
                  <c:v>Decil5</c:v>
                </c:pt>
                <c:pt idx="5">
                  <c:v>Decil6</c:v>
                </c:pt>
                <c:pt idx="6">
                  <c:v>Decil7</c:v>
                </c:pt>
                <c:pt idx="7">
                  <c:v>Decil8</c:v>
                </c:pt>
                <c:pt idx="8">
                  <c:v>Decil9</c:v>
                </c:pt>
                <c:pt idx="9">
                  <c:v>Decil10</c:v>
                </c:pt>
              </c:strCache>
            </c:strRef>
          </c:cat>
          <c:val>
            <c:numRef>
              <c:f>Hoja2!$B$88:$K$88</c:f>
              <c:numCache>
                <c:formatCode>0.00%</c:formatCode>
                <c:ptCount val="10"/>
                <c:pt idx="0">
                  <c:v>0.22029111346545452</c:v>
                </c:pt>
                <c:pt idx="1">
                  <c:v>0.21396819453954521</c:v>
                </c:pt>
                <c:pt idx="2">
                  <c:v>0.2288430138303498</c:v>
                </c:pt>
                <c:pt idx="3">
                  <c:v>0.22321424426628211</c:v>
                </c:pt>
                <c:pt idx="4">
                  <c:v>0.21582973125541774</c:v>
                </c:pt>
                <c:pt idx="5">
                  <c:v>0.23358372275467837</c:v>
                </c:pt>
                <c:pt idx="6">
                  <c:v>0.21638852775537651</c:v>
                </c:pt>
                <c:pt idx="7">
                  <c:v>0.21542302164703769</c:v>
                </c:pt>
                <c:pt idx="8">
                  <c:v>0.23545686041908573</c:v>
                </c:pt>
                <c:pt idx="9">
                  <c:v>0.19761632693894668</c:v>
                </c:pt>
              </c:numCache>
            </c:numRef>
          </c:val>
          <c:smooth val="0"/>
          <c:extLst>
            <c:ext xmlns:c16="http://schemas.microsoft.com/office/drawing/2014/chart" uri="{C3380CC4-5D6E-409C-BE32-E72D297353CC}">
              <c16:uniqueId val="{00000000-B061-4510-A67A-47B32C65908F}"/>
            </c:ext>
          </c:extLst>
        </c:ser>
        <c:ser>
          <c:idx val="1"/>
          <c:order val="1"/>
          <c:tx>
            <c:strRef>
              <c:f>Hoja2!$A$89</c:f>
              <c:strCache>
                <c:ptCount val="1"/>
                <c:pt idx="0">
                  <c:v>01111201 Arroz blanco</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Hoja2!$B$87:$K$87</c:f>
              <c:strCache>
                <c:ptCount val="10"/>
                <c:pt idx="0">
                  <c:v>Decil1</c:v>
                </c:pt>
                <c:pt idx="1">
                  <c:v>Decil2</c:v>
                </c:pt>
                <c:pt idx="2">
                  <c:v>Decil3</c:v>
                </c:pt>
                <c:pt idx="3">
                  <c:v>Decil4</c:v>
                </c:pt>
                <c:pt idx="4">
                  <c:v>Decil5</c:v>
                </c:pt>
                <c:pt idx="5">
                  <c:v>Decil6</c:v>
                </c:pt>
                <c:pt idx="6">
                  <c:v>Decil7</c:v>
                </c:pt>
                <c:pt idx="7">
                  <c:v>Decil8</c:v>
                </c:pt>
                <c:pt idx="8">
                  <c:v>Decil9</c:v>
                </c:pt>
                <c:pt idx="9">
                  <c:v>Decil10</c:v>
                </c:pt>
              </c:strCache>
            </c:strRef>
          </c:cat>
          <c:val>
            <c:numRef>
              <c:f>Hoja2!$B$89:$K$89</c:f>
              <c:numCache>
                <c:formatCode>0.00%</c:formatCode>
                <c:ptCount val="10"/>
                <c:pt idx="0">
                  <c:v>0.13859900427097249</c:v>
                </c:pt>
                <c:pt idx="1">
                  <c:v>0.12470351925268044</c:v>
                </c:pt>
                <c:pt idx="2">
                  <c:v>0.11994409646240436</c:v>
                </c:pt>
                <c:pt idx="3">
                  <c:v>0.11063829350498104</c:v>
                </c:pt>
                <c:pt idx="4">
                  <c:v>0.11294102722716653</c:v>
                </c:pt>
                <c:pt idx="5">
                  <c:v>9.8684209367246589E-2</c:v>
                </c:pt>
                <c:pt idx="6">
                  <c:v>9.3388426114971806E-2</c:v>
                </c:pt>
                <c:pt idx="7">
                  <c:v>0.1025382590754487</c:v>
                </c:pt>
                <c:pt idx="8">
                  <c:v>7.6414646825670271E-2</c:v>
                </c:pt>
                <c:pt idx="9">
                  <c:v>9.9454495318303068E-2</c:v>
                </c:pt>
              </c:numCache>
            </c:numRef>
          </c:val>
          <c:smooth val="0"/>
          <c:extLst>
            <c:ext xmlns:c16="http://schemas.microsoft.com/office/drawing/2014/chart" uri="{C3380CC4-5D6E-409C-BE32-E72D297353CC}">
              <c16:uniqueId val="{00000001-B061-4510-A67A-47B32C65908F}"/>
            </c:ext>
          </c:extLst>
        </c:ser>
        <c:ser>
          <c:idx val="2"/>
          <c:order val="2"/>
          <c:tx>
            <c:strRef>
              <c:f>Hoja2!$A$90</c:f>
              <c:strCache>
                <c:ptCount val="1"/>
                <c:pt idx="0">
                  <c:v>01122102 Carne de res sin hueso fresca, refrigerada o congelada</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Hoja2!$B$87:$K$87</c:f>
              <c:strCache>
                <c:ptCount val="10"/>
                <c:pt idx="0">
                  <c:v>Decil1</c:v>
                </c:pt>
                <c:pt idx="1">
                  <c:v>Decil2</c:v>
                </c:pt>
                <c:pt idx="2">
                  <c:v>Decil3</c:v>
                </c:pt>
                <c:pt idx="3">
                  <c:v>Decil4</c:v>
                </c:pt>
                <c:pt idx="4">
                  <c:v>Decil5</c:v>
                </c:pt>
                <c:pt idx="5">
                  <c:v>Decil6</c:v>
                </c:pt>
                <c:pt idx="6">
                  <c:v>Decil7</c:v>
                </c:pt>
                <c:pt idx="7">
                  <c:v>Decil8</c:v>
                </c:pt>
                <c:pt idx="8">
                  <c:v>Decil9</c:v>
                </c:pt>
                <c:pt idx="9">
                  <c:v>Decil10</c:v>
                </c:pt>
              </c:strCache>
            </c:strRef>
          </c:cat>
          <c:val>
            <c:numRef>
              <c:f>Hoja2!$B$90:$K$90</c:f>
              <c:numCache>
                <c:formatCode>0.00%</c:formatCode>
                <c:ptCount val="10"/>
                <c:pt idx="0">
                  <c:v>0.13632168207843051</c:v>
                </c:pt>
                <c:pt idx="1">
                  <c:v>0.13852275612335646</c:v>
                </c:pt>
                <c:pt idx="2">
                  <c:v>0.13807473398671027</c:v>
                </c:pt>
                <c:pt idx="3">
                  <c:v>0.13981289453002069</c:v>
                </c:pt>
                <c:pt idx="4">
                  <c:v>0.15248875043270935</c:v>
                </c:pt>
                <c:pt idx="5">
                  <c:v>0.15466257500178002</c:v>
                </c:pt>
                <c:pt idx="6">
                  <c:v>0.16349093058271352</c:v>
                </c:pt>
                <c:pt idx="7">
                  <c:v>0.14417812070671887</c:v>
                </c:pt>
                <c:pt idx="8">
                  <c:v>0.15616635604169163</c:v>
                </c:pt>
                <c:pt idx="9">
                  <c:v>0.16132916167209777</c:v>
                </c:pt>
              </c:numCache>
            </c:numRef>
          </c:val>
          <c:smooth val="0"/>
          <c:extLst>
            <c:ext xmlns:c16="http://schemas.microsoft.com/office/drawing/2014/chart" uri="{C3380CC4-5D6E-409C-BE32-E72D297353CC}">
              <c16:uniqueId val="{00000002-B061-4510-A67A-47B32C65908F}"/>
            </c:ext>
          </c:extLst>
        </c:ser>
        <c:ser>
          <c:idx val="3"/>
          <c:order val="3"/>
          <c:tx>
            <c:strRef>
              <c:f>Hoja2!$A$91</c:f>
              <c:strCache>
                <c:ptCount val="1"/>
                <c:pt idx="0">
                  <c:v>01113101 Pan común blanco (Redondos, Cachitos, Enrollados, Injertos, Rosas, Reventados, Tapados, pan</c:v>
                </c:pt>
              </c:strCache>
            </c:strRef>
          </c:tx>
          <c:spPr>
            <a:ln w="28575" cap="rnd">
              <a:solidFill>
                <a:schemeClr val="accent4"/>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Hoja2!$B$87:$K$87</c:f>
              <c:strCache>
                <c:ptCount val="10"/>
                <c:pt idx="0">
                  <c:v>Decil1</c:v>
                </c:pt>
                <c:pt idx="1">
                  <c:v>Decil2</c:v>
                </c:pt>
                <c:pt idx="2">
                  <c:v>Decil3</c:v>
                </c:pt>
                <c:pt idx="3">
                  <c:v>Decil4</c:v>
                </c:pt>
                <c:pt idx="4">
                  <c:v>Decil5</c:v>
                </c:pt>
                <c:pt idx="5">
                  <c:v>Decil6</c:v>
                </c:pt>
                <c:pt idx="6">
                  <c:v>Decil7</c:v>
                </c:pt>
                <c:pt idx="7">
                  <c:v>Decil8</c:v>
                </c:pt>
                <c:pt idx="8">
                  <c:v>Decil9</c:v>
                </c:pt>
                <c:pt idx="9">
                  <c:v>Decil10</c:v>
                </c:pt>
              </c:strCache>
            </c:strRef>
          </c:cat>
          <c:val>
            <c:numRef>
              <c:f>Hoja2!$B$91:$K$91</c:f>
              <c:numCache>
                <c:formatCode>0.00%</c:formatCode>
                <c:ptCount val="10"/>
                <c:pt idx="0">
                  <c:v>0.10482473726937427</c:v>
                </c:pt>
                <c:pt idx="1">
                  <c:v>0.10575181884336554</c:v>
                </c:pt>
                <c:pt idx="2">
                  <c:v>0.10124996070584788</c:v>
                </c:pt>
                <c:pt idx="3">
                  <c:v>0.10499952665618391</c:v>
                </c:pt>
                <c:pt idx="4">
                  <c:v>0.10597526583305793</c:v>
                </c:pt>
                <c:pt idx="5">
                  <c:v>9.8759163991978552E-2</c:v>
                </c:pt>
                <c:pt idx="6">
                  <c:v>9.7695867733865099E-2</c:v>
                </c:pt>
                <c:pt idx="7">
                  <c:v>9.7699714215766689E-2</c:v>
                </c:pt>
                <c:pt idx="8">
                  <c:v>9.3794758002780809E-2</c:v>
                </c:pt>
                <c:pt idx="9">
                  <c:v>9.6815584126080212E-2</c:v>
                </c:pt>
              </c:numCache>
            </c:numRef>
          </c:val>
          <c:smooth val="0"/>
          <c:extLst>
            <c:ext xmlns:c16="http://schemas.microsoft.com/office/drawing/2014/chart" uri="{C3380CC4-5D6E-409C-BE32-E72D297353CC}">
              <c16:uniqueId val="{00000003-B061-4510-A67A-47B32C65908F}"/>
            </c:ext>
          </c:extLst>
        </c:ser>
        <c:ser>
          <c:idx val="4"/>
          <c:order val="4"/>
          <c:tx>
            <c:strRef>
              <c:f>Hoja2!$A$92</c:f>
              <c:strCache>
                <c:ptCount val="1"/>
                <c:pt idx="0">
                  <c:v>01122101 Carne de res con hueso fresca, refrigerada o congelada</c:v>
                </c:pt>
              </c:strCache>
            </c:strRef>
          </c:tx>
          <c:spPr>
            <a:ln w="28575" cap="rnd">
              <a:solidFill>
                <a:schemeClr val="accent5"/>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Hoja2!$B$87:$K$87</c:f>
              <c:strCache>
                <c:ptCount val="10"/>
                <c:pt idx="0">
                  <c:v>Decil1</c:v>
                </c:pt>
                <c:pt idx="1">
                  <c:v>Decil2</c:v>
                </c:pt>
                <c:pt idx="2">
                  <c:v>Decil3</c:v>
                </c:pt>
                <c:pt idx="3">
                  <c:v>Decil4</c:v>
                </c:pt>
                <c:pt idx="4">
                  <c:v>Decil5</c:v>
                </c:pt>
                <c:pt idx="5">
                  <c:v>Decil6</c:v>
                </c:pt>
                <c:pt idx="6">
                  <c:v>Decil7</c:v>
                </c:pt>
                <c:pt idx="7">
                  <c:v>Decil8</c:v>
                </c:pt>
                <c:pt idx="8">
                  <c:v>Decil9</c:v>
                </c:pt>
                <c:pt idx="9">
                  <c:v>Decil10</c:v>
                </c:pt>
              </c:strCache>
            </c:strRef>
          </c:cat>
          <c:val>
            <c:numRef>
              <c:f>Hoja2!$B$92:$K$92</c:f>
              <c:numCache>
                <c:formatCode>0.00%</c:formatCode>
                <c:ptCount val="10"/>
                <c:pt idx="0">
                  <c:v>0.10025184747953765</c:v>
                </c:pt>
                <c:pt idx="1">
                  <c:v>0.10668336374293785</c:v>
                </c:pt>
                <c:pt idx="2">
                  <c:v>0.105838237688186</c:v>
                </c:pt>
                <c:pt idx="3">
                  <c:v>0.10547086910526124</c:v>
                </c:pt>
                <c:pt idx="4">
                  <c:v>0.10433142077345639</c:v>
                </c:pt>
                <c:pt idx="5">
                  <c:v>0.10518214789037607</c:v>
                </c:pt>
                <c:pt idx="6">
                  <c:v>0.11159774453825379</c:v>
                </c:pt>
                <c:pt idx="7">
                  <c:v>0.11582041168498865</c:v>
                </c:pt>
                <c:pt idx="8">
                  <c:v>0.11156783260989027</c:v>
                </c:pt>
                <c:pt idx="9">
                  <c:v>0.12190606337282658</c:v>
                </c:pt>
              </c:numCache>
            </c:numRef>
          </c:val>
          <c:smooth val="0"/>
          <c:extLst>
            <c:ext xmlns:c16="http://schemas.microsoft.com/office/drawing/2014/chart" uri="{C3380CC4-5D6E-409C-BE32-E72D297353CC}">
              <c16:uniqueId val="{00000004-B061-4510-A67A-47B32C65908F}"/>
            </c:ext>
          </c:extLst>
        </c:ser>
        <c:dLbls>
          <c:dLblPos val="t"/>
          <c:showLegendKey val="0"/>
          <c:showVal val="1"/>
          <c:showCatName val="0"/>
          <c:showSerName val="0"/>
          <c:showPercent val="0"/>
          <c:showBubbleSize val="0"/>
        </c:dLbls>
        <c:smooth val="0"/>
        <c:axId val="982348416"/>
        <c:axId val="1033992784"/>
      </c:lineChart>
      <c:catAx>
        <c:axId val="982348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C"/>
          </a:p>
        </c:txPr>
        <c:crossAx val="1033992784"/>
        <c:crosses val="autoZero"/>
        <c:auto val="1"/>
        <c:lblAlgn val="ctr"/>
        <c:lblOffset val="100"/>
        <c:noMultiLvlLbl val="0"/>
      </c:catAx>
      <c:valAx>
        <c:axId val="1033992784"/>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C"/>
          </a:p>
        </c:txPr>
        <c:crossAx val="9823484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C"/>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EC"/>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Hoja2!$A$102</c:f>
              <c:strCache>
                <c:ptCount val="1"/>
                <c:pt idx="0">
                  <c:v>01148001 Huevos de gallina (incubadora)</c:v>
                </c:pt>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Hoja2!$B$101:$K$101</c:f>
              <c:strCache>
                <c:ptCount val="10"/>
                <c:pt idx="0">
                  <c:v>Decil1</c:v>
                </c:pt>
                <c:pt idx="1">
                  <c:v>Decil2</c:v>
                </c:pt>
                <c:pt idx="2">
                  <c:v>Decil3</c:v>
                </c:pt>
                <c:pt idx="3">
                  <c:v>Decil4</c:v>
                </c:pt>
                <c:pt idx="4">
                  <c:v>Decil5</c:v>
                </c:pt>
                <c:pt idx="5">
                  <c:v>Decil6</c:v>
                </c:pt>
                <c:pt idx="6">
                  <c:v>Decil7</c:v>
                </c:pt>
                <c:pt idx="7">
                  <c:v>Decil8</c:v>
                </c:pt>
                <c:pt idx="8">
                  <c:v>Decil9</c:v>
                </c:pt>
                <c:pt idx="9">
                  <c:v>Decil10</c:v>
                </c:pt>
              </c:strCache>
            </c:strRef>
          </c:cat>
          <c:val>
            <c:numRef>
              <c:f>Hoja2!$B$102:$K$102</c:f>
              <c:numCache>
                <c:formatCode>0.00%</c:formatCode>
                <c:ptCount val="10"/>
                <c:pt idx="0">
                  <c:v>8.0665230453836459E-2</c:v>
                </c:pt>
                <c:pt idx="1">
                  <c:v>8.3565179674491785E-2</c:v>
                </c:pt>
                <c:pt idx="2">
                  <c:v>8.0423102435923488E-2</c:v>
                </c:pt>
                <c:pt idx="3">
                  <c:v>8.3448220915525687E-2</c:v>
                </c:pt>
                <c:pt idx="4">
                  <c:v>7.5036551069551427E-2</c:v>
                </c:pt>
                <c:pt idx="5">
                  <c:v>8.0245462820091693E-2</c:v>
                </c:pt>
                <c:pt idx="6">
                  <c:v>7.6738529353730892E-2</c:v>
                </c:pt>
                <c:pt idx="7">
                  <c:v>7.3755940934726344E-2</c:v>
                </c:pt>
                <c:pt idx="8">
                  <c:v>7.5910158881632744E-2</c:v>
                </c:pt>
                <c:pt idx="9">
                  <c:v>7.6681705828598679E-2</c:v>
                </c:pt>
              </c:numCache>
            </c:numRef>
          </c:val>
          <c:smooth val="0"/>
          <c:extLst>
            <c:ext xmlns:c16="http://schemas.microsoft.com/office/drawing/2014/chart" uri="{C3380CC4-5D6E-409C-BE32-E72D297353CC}">
              <c16:uniqueId val="{00000000-BA49-4E8A-84A1-0D510FC8C321}"/>
            </c:ext>
          </c:extLst>
        </c:ser>
        <c:ser>
          <c:idx val="1"/>
          <c:order val="1"/>
          <c:tx>
            <c:strRef>
              <c:f>Hoja2!$A$103</c:f>
              <c:strCache>
                <c:ptCount val="1"/>
                <c:pt idx="0">
                  <c:v>01145001 Queso fresco (queso de mesa)</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Hoja2!$B$101:$K$101</c:f>
              <c:strCache>
                <c:ptCount val="10"/>
                <c:pt idx="0">
                  <c:v>Decil1</c:v>
                </c:pt>
                <c:pt idx="1">
                  <c:v>Decil2</c:v>
                </c:pt>
                <c:pt idx="2">
                  <c:v>Decil3</c:v>
                </c:pt>
                <c:pt idx="3">
                  <c:v>Decil4</c:v>
                </c:pt>
                <c:pt idx="4">
                  <c:v>Decil5</c:v>
                </c:pt>
                <c:pt idx="5">
                  <c:v>Decil6</c:v>
                </c:pt>
                <c:pt idx="6">
                  <c:v>Decil7</c:v>
                </c:pt>
                <c:pt idx="7">
                  <c:v>Decil8</c:v>
                </c:pt>
                <c:pt idx="8">
                  <c:v>Decil9</c:v>
                </c:pt>
                <c:pt idx="9">
                  <c:v>Decil10</c:v>
                </c:pt>
              </c:strCache>
            </c:strRef>
          </c:cat>
          <c:val>
            <c:numRef>
              <c:f>Hoja2!$B$103:$K$103</c:f>
              <c:numCache>
                <c:formatCode>0.00%</c:formatCode>
                <c:ptCount val="10"/>
                <c:pt idx="0">
                  <c:v>7.6292126278803385E-2</c:v>
                </c:pt>
                <c:pt idx="1">
                  <c:v>7.8962376989179045E-2</c:v>
                </c:pt>
                <c:pt idx="2">
                  <c:v>7.398583020710145E-2</c:v>
                </c:pt>
                <c:pt idx="3">
                  <c:v>7.6135460394300414E-2</c:v>
                </c:pt>
                <c:pt idx="4">
                  <c:v>7.8662576552371424E-2</c:v>
                </c:pt>
                <c:pt idx="5">
                  <c:v>7.2129761194362152E-2</c:v>
                </c:pt>
                <c:pt idx="6">
                  <c:v>7.878955023049114E-2</c:v>
                </c:pt>
                <c:pt idx="7">
                  <c:v>8.0008431702885213E-2</c:v>
                </c:pt>
                <c:pt idx="8">
                  <c:v>8.7233588960591676E-2</c:v>
                </c:pt>
                <c:pt idx="9">
                  <c:v>8.0584953996971409E-2</c:v>
                </c:pt>
              </c:numCache>
            </c:numRef>
          </c:val>
          <c:smooth val="0"/>
          <c:extLst>
            <c:ext xmlns:c16="http://schemas.microsoft.com/office/drawing/2014/chart" uri="{C3380CC4-5D6E-409C-BE32-E72D297353CC}">
              <c16:uniqueId val="{00000001-BA49-4E8A-84A1-0D510FC8C321}"/>
            </c:ext>
          </c:extLst>
        </c:ser>
        <c:ser>
          <c:idx val="2"/>
          <c:order val="2"/>
          <c:tx>
            <c:strRef>
              <c:f>Hoja2!$A$104</c:f>
              <c:strCache>
                <c:ptCount val="1"/>
                <c:pt idx="0">
                  <c:v>01141001 Leche entera pasteurizada / ultra pasteurizada UHT en funda</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Hoja2!$B$101:$K$101</c:f>
              <c:strCache>
                <c:ptCount val="10"/>
                <c:pt idx="0">
                  <c:v>Decil1</c:v>
                </c:pt>
                <c:pt idx="1">
                  <c:v>Decil2</c:v>
                </c:pt>
                <c:pt idx="2">
                  <c:v>Decil3</c:v>
                </c:pt>
                <c:pt idx="3">
                  <c:v>Decil4</c:v>
                </c:pt>
                <c:pt idx="4">
                  <c:v>Decil5</c:v>
                </c:pt>
                <c:pt idx="5">
                  <c:v>Decil6</c:v>
                </c:pt>
                <c:pt idx="6">
                  <c:v>Decil7</c:v>
                </c:pt>
                <c:pt idx="7">
                  <c:v>Decil8</c:v>
                </c:pt>
                <c:pt idx="8">
                  <c:v>Decil9</c:v>
                </c:pt>
                <c:pt idx="9">
                  <c:v>Decil10</c:v>
                </c:pt>
              </c:strCache>
            </c:strRef>
          </c:cat>
          <c:val>
            <c:numRef>
              <c:f>Hoja2!$B$104:$K$104</c:f>
              <c:numCache>
                <c:formatCode>0.00%</c:formatCode>
                <c:ptCount val="10"/>
                <c:pt idx="0">
                  <c:v>7.3114268606191343E-2</c:v>
                </c:pt>
                <c:pt idx="1">
                  <c:v>7.38479340731895E-2</c:v>
                </c:pt>
                <c:pt idx="2">
                  <c:v>7.8130768380010845E-2</c:v>
                </c:pt>
                <c:pt idx="3">
                  <c:v>7.9663703987221224E-2</c:v>
                </c:pt>
                <c:pt idx="4">
                  <c:v>8.0432023944341222E-2</c:v>
                </c:pt>
                <c:pt idx="5">
                  <c:v>7.9183746589176346E-2</c:v>
                </c:pt>
                <c:pt idx="6">
                  <c:v>8.0054708135627525E-2</c:v>
                </c:pt>
                <c:pt idx="7">
                  <c:v>8.4741829798511664E-2</c:v>
                </c:pt>
                <c:pt idx="8">
                  <c:v>7.8521440602932535E-2</c:v>
                </c:pt>
                <c:pt idx="9">
                  <c:v>7.8868948939491104E-2</c:v>
                </c:pt>
              </c:numCache>
            </c:numRef>
          </c:val>
          <c:smooth val="0"/>
          <c:extLst>
            <c:ext xmlns:c16="http://schemas.microsoft.com/office/drawing/2014/chart" uri="{C3380CC4-5D6E-409C-BE32-E72D297353CC}">
              <c16:uniqueId val="{00000002-BA49-4E8A-84A1-0D510FC8C321}"/>
            </c:ext>
          </c:extLst>
        </c:ser>
        <c:ser>
          <c:idx val="3"/>
          <c:order val="3"/>
          <c:tx>
            <c:strRef>
              <c:f>Hoja2!$A$105</c:f>
              <c:strCache>
                <c:ptCount val="1"/>
                <c:pt idx="0">
                  <c:v>01172001 Tomate riñón (de carne) fresco o refrigerado</c:v>
                </c:pt>
              </c:strCache>
            </c:strRef>
          </c:tx>
          <c:spPr>
            <a:ln w="28575" cap="rnd">
              <a:solidFill>
                <a:schemeClr val="accent4"/>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Hoja2!$B$101:$K$101</c:f>
              <c:strCache>
                <c:ptCount val="10"/>
                <c:pt idx="0">
                  <c:v>Decil1</c:v>
                </c:pt>
                <c:pt idx="1">
                  <c:v>Decil2</c:v>
                </c:pt>
                <c:pt idx="2">
                  <c:v>Decil3</c:v>
                </c:pt>
                <c:pt idx="3">
                  <c:v>Decil4</c:v>
                </c:pt>
                <c:pt idx="4">
                  <c:v>Decil5</c:v>
                </c:pt>
                <c:pt idx="5">
                  <c:v>Decil6</c:v>
                </c:pt>
                <c:pt idx="6">
                  <c:v>Decil7</c:v>
                </c:pt>
                <c:pt idx="7">
                  <c:v>Decil8</c:v>
                </c:pt>
                <c:pt idx="8">
                  <c:v>Decil9</c:v>
                </c:pt>
                <c:pt idx="9">
                  <c:v>Decil10</c:v>
                </c:pt>
              </c:strCache>
            </c:strRef>
          </c:cat>
          <c:val>
            <c:numRef>
              <c:f>Hoja2!$B$105:$K$105</c:f>
              <c:numCache>
                <c:formatCode>0.00%</c:formatCode>
                <c:ptCount val="10"/>
                <c:pt idx="0">
                  <c:v>3.4844687715078017E-2</c:v>
                </c:pt>
                <c:pt idx="1">
                  <c:v>3.2637618174206878E-2</c:v>
                </c:pt>
                <c:pt idx="2">
                  <c:v>3.223287102790505E-2</c:v>
                </c:pt>
                <c:pt idx="3">
                  <c:v>3.3575187940153364E-2</c:v>
                </c:pt>
                <c:pt idx="4">
                  <c:v>3.1533374461560522E-2</c:v>
                </c:pt>
                <c:pt idx="5">
                  <c:v>3.1094534062448394E-2</c:v>
                </c:pt>
                <c:pt idx="6">
                  <c:v>3.1742754265536147E-2</c:v>
                </c:pt>
                <c:pt idx="7">
                  <c:v>3.0306261687483169E-2</c:v>
                </c:pt>
                <c:pt idx="8">
                  <c:v>3.1314668011412541E-2</c:v>
                </c:pt>
                <c:pt idx="9">
                  <c:v>3.2203395024532587E-2</c:v>
                </c:pt>
              </c:numCache>
            </c:numRef>
          </c:val>
          <c:smooth val="0"/>
          <c:extLst>
            <c:ext xmlns:c16="http://schemas.microsoft.com/office/drawing/2014/chart" uri="{C3380CC4-5D6E-409C-BE32-E72D297353CC}">
              <c16:uniqueId val="{00000003-BA49-4E8A-84A1-0D510FC8C321}"/>
            </c:ext>
          </c:extLst>
        </c:ser>
        <c:ser>
          <c:idx val="4"/>
          <c:order val="4"/>
          <c:tx>
            <c:strRef>
              <c:f>Hoja2!$A$106</c:f>
              <c:strCache>
                <c:ptCount val="1"/>
                <c:pt idx="0">
                  <c:v>01250001 Agua purificada sin gas personal</c:v>
                </c:pt>
              </c:strCache>
            </c:strRef>
          </c:tx>
          <c:spPr>
            <a:ln w="28575" cap="rnd">
              <a:solidFill>
                <a:schemeClr val="accent5"/>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Hoja2!$B$101:$K$101</c:f>
              <c:strCache>
                <c:ptCount val="10"/>
                <c:pt idx="0">
                  <c:v>Decil1</c:v>
                </c:pt>
                <c:pt idx="1">
                  <c:v>Decil2</c:v>
                </c:pt>
                <c:pt idx="2">
                  <c:v>Decil3</c:v>
                </c:pt>
                <c:pt idx="3">
                  <c:v>Decil4</c:v>
                </c:pt>
                <c:pt idx="4">
                  <c:v>Decil5</c:v>
                </c:pt>
                <c:pt idx="5">
                  <c:v>Decil6</c:v>
                </c:pt>
                <c:pt idx="6">
                  <c:v>Decil7</c:v>
                </c:pt>
                <c:pt idx="7">
                  <c:v>Decil8</c:v>
                </c:pt>
                <c:pt idx="8">
                  <c:v>Decil9</c:v>
                </c:pt>
                <c:pt idx="9">
                  <c:v>Decil10</c:v>
                </c:pt>
              </c:strCache>
            </c:strRef>
          </c:cat>
          <c:val>
            <c:numRef>
              <c:f>Hoja2!$B$106:$K$106</c:f>
              <c:numCache>
                <c:formatCode>0.00%</c:formatCode>
                <c:ptCount val="10"/>
                <c:pt idx="0">
                  <c:v>3.4795302382321341E-2</c:v>
                </c:pt>
                <c:pt idx="1">
                  <c:v>4.1357238587047256E-2</c:v>
                </c:pt>
                <c:pt idx="2">
                  <c:v>4.1277385275560866E-2</c:v>
                </c:pt>
                <c:pt idx="3">
                  <c:v>4.3041598700070266E-2</c:v>
                </c:pt>
                <c:pt idx="4">
                  <c:v>4.2769278450367487E-2</c:v>
                </c:pt>
                <c:pt idx="5">
                  <c:v>4.64746763278618E-2</c:v>
                </c:pt>
                <c:pt idx="6">
                  <c:v>5.011296128943353E-2</c:v>
                </c:pt>
                <c:pt idx="7">
                  <c:v>5.5528008546432986E-2</c:v>
                </c:pt>
                <c:pt idx="8">
                  <c:v>5.3619689644311908E-2</c:v>
                </c:pt>
                <c:pt idx="9">
                  <c:v>5.4539364782151968E-2</c:v>
                </c:pt>
              </c:numCache>
            </c:numRef>
          </c:val>
          <c:smooth val="0"/>
          <c:extLst>
            <c:ext xmlns:c16="http://schemas.microsoft.com/office/drawing/2014/chart" uri="{C3380CC4-5D6E-409C-BE32-E72D297353CC}">
              <c16:uniqueId val="{00000004-BA49-4E8A-84A1-0D510FC8C321}"/>
            </c:ext>
          </c:extLst>
        </c:ser>
        <c:dLbls>
          <c:dLblPos val="t"/>
          <c:showLegendKey val="0"/>
          <c:showVal val="1"/>
          <c:showCatName val="0"/>
          <c:showSerName val="0"/>
          <c:showPercent val="0"/>
          <c:showBubbleSize val="0"/>
        </c:dLbls>
        <c:smooth val="0"/>
        <c:axId val="961141360"/>
        <c:axId val="1034075824"/>
      </c:lineChart>
      <c:catAx>
        <c:axId val="9611413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C"/>
          </a:p>
        </c:txPr>
        <c:crossAx val="1034075824"/>
        <c:crosses val="autoZero"/>
        <c:auto val="1"/>
        <c:lblAlgn val="ctr"/>
        <c:lblOffset val="100"/>
        <c:noMultiLvlLbl val="0"/>
      </c:catAx>
      <c:valAx>
        <c:axId val="1034075824"/>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C"/>
          </a:p>
        </c:txPr>
        <c:crossAx val="96114136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C"/>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s-EC"/>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Hoja2!$B$31</c:f>
              <c:strCache>
                <c:ptCount val="1"/>
                <c:pt idx="0">
                  <c:v>01111201 Arroz blanco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Hoja2!$A$32:$A$41</c:f>
              <c:strCache>
                <c:ptCount val="10"/>
                <c:pt idx="0">
                  <c:v>Decil1</c:v>
                </c:pt>
                <c:pt idx="1">
                  <c:v>Decil2</c:v>
                </c:pt>
                <c:pt idx="2">
                  <c:v>Decil3</c:v>
                </c:pt>
                <c:pt idx="3">
                  <c:v>Decil4</c:v>
                </c:pt>
                <c:pt idx="4">
                  <c:v>Decil5</c:v>
                </c:pt>
                <c:pt idx="5">
                  <c:v>Decil6</c:v>
                </c:pt>
                <c:pt idx="6">
                  <c:v>Decil7</c:v>
                </c:pt>
                <c:pt idx="7">
                  <c:v>Decil8</c:v>
                </c:pt>
                <c:pt idx="8">
                  <c:v>Decil9</c:v>
                </c:pt>
                <c:pt idx="9">
                  <c:v>Decil10</c:v>
                </c:pt>
              </c:strCache>
            </c:strRef>
          </c:cat>
          <c:val>
            <c:numRef>
              <c:f>Hoja2!$B$32:$B$41</c:f>
              <c:numCache>
                <c:formatCode>0.00%</c:formatCode>
                <c:ptCount val="10"/>
                <c:pt idx="0">
                  <c:v>0.13859900427097249</c:v>
                </c:pt>
                <c:pt idx="1">
                  <c:v>0.12470351925268044</c:v>
                </c:pt>
                <c:pt idx="2">
                  <c:v>0.11994409646240436</c:v>
                </c:pt>
                <c:pt idx="3">
                  <c:v>0.11063829350498104</c:v>
                </c:pt>
                <c:pt idx="4">
                  <c:v>0.11294102722716653</c:v>
                </c:pt>
                <c:pt idx="5">
                  <c:v>9.8684209367246589E-2</c:v>
                </c:pt>
                <c:pt idx="6">
                  <c:v>9.3388426114971806E-2</c:v>
                </c:pt>
                <c:pt idx="7">
                  <c:v>0.1025382590754487</c:v>
                </c:pt>
                <c:pt idx="8">
                  <c:v>7.6414646825670271E-2</c:v>
                </c:pt>
                <c:pt idx="9">
                  <c:v>9.9454495318303068E-2</c:v>
                </c:pt>
              </c:numCache>
            </c:numRef>
          </c:val>
          <c:extLst>
            <c:ext xmlns:c16="http://schemas.microsoft.com/office/drawing/2014/chart" uri="{C3380CC4-5D6E-409C-BE32-E72D297353CC}">
              <c16:uniqueId val="{00000000-08F0-4904-A5C6-A9533D559EB1}"/>
            </c:ext>
          </c:extLst>
        </c:ser>
        <c:ser>
          <c:idx val="1"/>
          <c:order val="1"/>
          <c:tx>
            <c:strRef>
              <c:f>Hoja2!$C$31</c:f>
              <c:strCache>
                <c:ptCount val="1"/>
                <c:pt idx="0">
                  <c:v>01113101 Pan común blanco (Redondos, Cachitos, Enrollados, Injertos, Rosas, Reventados, Tapados, pan</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Hoja2!$A$32:$A$41</c:f>
              <c:strCache>
                <c:ptCount val="10"/>
                <c:pt idx="0">
                  <c:v>Decil1</c:v>
                </c:pt>
                <c:pt idx="1">
                  <c:v>Decil2</c:v>
                </c:pt>
                <c:pt idx="2">
                  <c:v>Decil3</c:v>
                </c:pt>
                <c:pt idx="3">
                  <c:v>Decil4</c:v>
                </c:pt>
                <c:pt idx="4">
                  <c:v>Decil5</c:v>
                </c:pt>
                <c:pt idx="5">
                  <c:v>Decil6</c:v>
                </c:pt>
                <c:pt idx="6">
                  <c:v>Decil7</c:v>
                </c:pt>
                <c:pt idx="7">
                  <c:v>Decil8</c:v>
                </c:pt>
                <c:pt idx="8">
                  <c:v>Decil9</c:v>
                </c:pt>
                <c:pt idx="9">
                  <c:v>Decil10</c:v>
                </c:pt>
              </c:strCache>
            </c:strRef>
          </c:cat>
          <c:val>
            <c:numRef>
              <c:f>Hoja2!$C$32:$C$41</c:f>
              <c:numCache>
                <c:formatCode>0.00%</c:formatCode>
                <c:ptCount val="10"/>
                <c:pt idx="0">
                  <c:v>0.10482473726937427</c:v>
                </c:pt>
                <c:pt idx="1">
                  <c:v>0.10575181884336554</c:v>
                </c:pt>
                <c:pt idx="2">
                  <c:v>0.10124996070584788</c:v>
                </c:pt>
                <c:pt idx="3">
                  <c:v>0.10499952665618391</c:v>
                </c:pt>
                <c:pt idx="4">
                  <c:v>0.10597526583305793</c:v>
                </c:pt>
                <c:pt idx="5">
                  <c:v>9.8759163991978552E-2</c:v>
                </c:pt>
                <c:pt idx="6">
                  <c:v>9.7695867733865099E-2</c:v>
                </c:pt>
                <c:pt idx="7">
                  <c:v>9.7699714215766689E-2</c:v>
                </c:pt>
                <c:pt idx="8">
                  <c:v>9.3794758002780809E-2</c:v>
                </c:pt>
                <c:pt idx="9">
                  <c:v>9.6815584126080212E-2</c:v>
                </c:pt>
              </c:numCache>
            </c:numRef>
          </c:val>
          <c:extLst>
            <c:ext xmlns:c16="http://schemas.microsoft.com/office/drawing/2014/chart" uri="{C3380CC4-5D6E-409C-BE32-E72D297353CC}">
              <c16:uniqueId val="{00000001-08F0-4904-A5C6-A9533D559EB1}"/>
            </c:ext>
          </c:extLst>
        </c:ser>
        <c:ser>
          <c:idx val="2"/>
          <c:order val="2"/>
          <c:tx>
            <c:strRef>
              <c:f>Hoja2!$D$31</c:f>
              <c:strCache>
                <c:ptCount val="1"/>
                <c:pt idx="0">
                  <c:v>01122101 Carne de res con hueso fresca, refrigerada o congelada</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Hoja2!$A$32:$A$41</c:f>
              <c:strCache>
                <c:ptCount val="10"/>
                <c:pt idx="0">
                  <c:v>Decil1</c:v>
                </c:pt>
                <c:pt idx="1">
                  <c:v>Decil2</c:v>
                </c:pt>
                <c:pt idx="2">
                  <c:v>Decil3</c:v>
                </c:pt>
                <c:pt idx="3">
                  <c:v>Decil4</c:v>
                </c:pt>
                <c:pt idx="4">
                  <c:v>Decil5</c:v>
                </c:pt>
                <c:pt idx="5">
                  <c:v>Decil6</c:v>
                </c:pt>
                <c:pt idx="6">
                  <c:v>Decil7</c:v>
                </c:pt>
                <c:pt idx="7">
                  <c:v>Decil8</c:v>
                </c:pt>
                <c:pt idx="8">
                  <c:v>Decil9</c:v>
                </c:pt>
                <c:pt idx="9">
                  <c:v>Decil10</c:v>
                </c:pt>
              </c:strCache>
            </c:strRef>
          </c:cat>
          <c:val>
            <c:numRef>
              <c:f>Hoja2!$D$32:$D$41</c:f>
              <c:numCache>
                <c:formatCode>0.00%</c:formatCode>
                <c:ptCount val="10"/>
                <c:pt idx="0">
                  <c:v>0.10025184747953765</c:v>
                </c:pt>
                <c:pt idx="1">
                  <c:v>0.10668336374293785</c:v>
                </c:pt>
                <c:pt idx="2">
                  <c:v>0.105838237688186</c:v>
                </c:pt>
                <c:pt idx="3">
                  <c:v>0.10547086910526124</c:v>
                </c:pt>
                <c:pt idx="4">
                  <c:v>0.10433142077345639</c:v>
                </c:pt>
                <c:pt idx="5">
                  <c:v>0.10518214789037607</c:v>
                </c:pt>
                <c:pt idx="6">
                  <c:v>0.11159774453825379</c:v>
                </c:pt>
                <c:pt idx="7">
                  <c:v>0.11582041168498865</c:v>
                </c:pt>
                <c:pt idx="8">
                  <c:v>0.11156783260989027</c:v>
                </c:pt>
                <c:pt idx="9">
                  <c:v>0.12190606337282658</c:v>
                </c:pt>
              </c:numCache>
            </c:numRef>
          </c:val>
          <c:extLst>
            <c:ext xmlns:c16="http://schemas.microsoft.com/office/drawing/2014/chart" uri="{C3380CC4-5D6E-409C-BE32-E72D297353CC}">
              <c16:uniqueId val="{00000002-08F0-4904-A5C6-A9533D559EB1}"/>
            </c:ext>
          </c:extLst>
        </c:ser>
        <c:ser>
          <c:idx val="3"/>
          <c:order val="3"/>
          <c:tx>
            <c:strRef>
              <c:f>Hoja2!$E$31</c:f>
              <c:strCache>
                <c:ptCount val="1"/>
                <c:pt idx="0">
                  <c:v>01122102 Carne de res sin hueso fresca, refrigerada o congelada</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Hoja2!$A$32:$A$41</c:f>
              <c:strCache>
                <c:ptCount val="10"/>
                <c:pt idx="0">
                  <c:v>Decil1</c:v>
                </c:pt>
                <c:pt idx="1">
                  <c:v>Decil2</c:v>
                </c:pt>
                <c:pt idx="2">
                  <c:v>Decil3</c:v>
                </c:pt>
                <c:pt idx="3">
                  <c:v>Decil4</c:v>
                </c:pt>
                <c:pt idx="4">
                  <c:v>Decil5</c:v>
                </c:pt>
                <c:pt idx="5">
                  <c:v>Decil6</c:v>
                </c:pt>
                <c:pt idx="6">
                  <c:v>Decil7</c:v>
                </c:pt>
                <c:pt idx="7">
                  <c:v>Decil8</c:v>
                </c:pt>
                <c:pt idx="8">
                  <c:v>Decil9</c:v>
                </c:pt>
                <c:pt idx="9">
                  <c:v>Decil10</c:v>
                </c:pt>
              </c:strCache>
            </c:strRef>
          </c:cat>
          <c:val>
            <c:numRef>
              <c:f>Hoja2!$E$32:$E$41</c:f>
              <c:numCache>
                <c:formatCode>0.00%</c:formatCode>
                <c:ptCount val="10"/>
                <c:pt idx="0">
                  <c:v>0.13632168207843051</c:v>
                </c:pt>
                <c:pt idx="1">
                  <c:v>0.13852275612335646</c:v>
                </c:pt>
                <c:pt idx="2">
                  <c:v>0.13807473398671027</c:v>
                </c:pt>
                <c:pt idx="3">
                  <c:v>0.13981289453002069</c:v>
                </c:pt>
                <c:pt idx="4">
                  <c:v>0.15248875043270935</c:v>
                </c:pt>
                <c:pt idx="5">
                  <c:v>0.15466257500178002</c:v>
                </c:pt>
                <c:pt idx="6">
                  <c:v>0.16349093058271352</c:v>
                </c:pt>
                <c:pt idx="7">
                  <c:v>0.14417812070671887</c:v>
                </c:pt>
                <c:pt idx="8">
                  <c:v>0.15616635604169163</c:v>
                </c:pt>
                <c:pt idx="9">
                  <c:v>0.16132916167209777</c:v>
                </c:pt>
              </c:numCache>
            </c:numRef>
          </c:val>
          <c:extLst>
            <c:ext xmlns:c16="http://schemas.microsoft.com/office/drawing/2014/chart" uri="{C3380CC4-5D6E-409C-BE32-E72D297353CC}">
              <c16:uniqueId val="{00000003-08F0-4904-A5C6-A9533D559EB1}"/>
            </c:ext>
          </c:extLst>
        </c:ser>
        <c:ser>
          <c:idx val="4"/>
          <c:order val="4"/>
          <c:tx>
            <c:strRef>
              <c:f>Hoja2!$F$31</c:f>
              <c:strCache>
                <c:ptCount val="1"/>
                <c:pt idx="0">
                  <c:v>01122401 Pollo entero fresco, refrigerado o congelado</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Hoja2!$A$32:$A$41</c:f>
              <c:strCache>
                <c:ptCount val="10"/>
                <c:pt idx="0">
                  <c:v>Decil1</c:v>
                </c:pt>
                <c:pt idx="1">
                  <c:v>Decil2</c:v>
                </c:pt>
                <c:pt idx="2">
                  <c:v>Decil3</c:v>
                </c:pt>
                <c:pt idx="3">
                  <c:v>Decil4</c:v>
                </c:pt>
                <c:pt idx="4">
                  <c:v>Decil5</c:v>
                </c:pt>
                <c:pt idx="5">
                  <c:v>Decil6</c:v>
                </c:pt>
                <c:pt idx="6">
                  <c:v>Decil7</c:v>
                </c:pt>
                <c:pt idx="7">
                  <c:v>Decil8</c:v>
                </c:pt>
                <c:pt idx="8">
                  <c:v>Decil9</c:v>
                </c:pt>
                <c:pt idx="9">
                  <c:v>Decil10</c:v>
                </c:pt>
              </c:strCache>
            </c:strRef>
          </c:cat>
          <c:val>
            <c:numRef>
              <c:f>Hoja2!$F$32:$F$41</c:f>
              <c:numCache>
                <c:formatCode>0.00%</c:formatCode>
                <c:ptCount val="10"/>
                <c:pt idx="0">
                  <c:v>0.22029111346545452</c:v>
                </c:pt>
                <c:pt idx="1">
                  <c:v>0.21396819453954521</c:v>
                </c:pt>
                <c:pt idx="2">
                  <c:v>0.2288430138303498</c:v>
                </c:pt>
                <c:pt idx="3">
                  <c:v>0.22321424426628211</c:v>
                </c:pt>
                <c:pt idx="4">
                  <c:v>0.21582973125541774</c:v>
                </c:pt>
                <c:pt idx="5">
                  <c:v>0.23358372275467837</c:v>
                </c:pt>
                <c:pt idx="6">
                  <c:v>0.21638852775537651</c:v>
                </c:pt>
                <c:pt idx="7">
                  <c:v>0.21542302164703769</c:v>
                </c:pt>
                <c:pt idx="8">
                  <c:v>0.23545686041908573</c:v>
                </c:pt>
                <c:pt idx="9">
                  <c:v>0.19761632693894668</c:v>
                </c:pt>
              </c:numCache>
            </c:numRef>
          </c:val>
          <c:extLst>
            <c:ext xmlns:c16="http://schemas.microsoft.com/office/drawing/2014/chart" uri="{C3380CC4-5D6E-409C-BE32-E72D297353CC}">
              <c16:uniqueId val="{00000004-08F0-4904-A5C6-A9533D559EB1}"/>
            </c:ext>
          </c:extLst>
        </c:ser>
        <c:ser>
          <c:idx val="5"/>
          <c:order val="5"/>
          <c:tx>
            <c:strRef>
              <c:f>Hoja2!$G$31</c:f>
              <c:strCache>
                <c:ptCount val="1"/>
                <c:pt idx="0">
                  <c:v>01141001 Leche entera pasteurizada / ultra pasteurizada UHT en funda</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Hoja2!$A$32:$A$41</c:f>
              <c:strCache>
                <c:ptCount val="10"/>
                <c:pt idx="0">
                  <c:v>Decil1</c:v>
                </c:pt>
                <c:pt idx="1">
                  <c:v>Decil2</c:v>
                </c:pt>
                <c:pt idx="2">
                  <c:v>Decil3</c:v>
                </c:pt>
                <c:pt idx="3">
                  <c:v>Decil4</c:v>
                </c:pt>
                <c:pt idx="4">
                  <c:v>Decil5</c:v>
                </c:pt>
                <c:pt idx="5">
                  <c:v>Decil6</c:v>
                </c:pt>
                <c:pt idx="6">
                  <c:v>Decil7</c:v>
                </c:pt>
                <c:pt idx="7">
                  <c:v>Decil8</c:v>
                </c:pt>
                <c:pt idx="8">
                  <c:v>Decil9</c:v>
                </c:pt>
                <c:pt idx="9">
                  <c:v>Decil10</c:v>
                </c:pt>
              </c:strCache>
            </c:strRef>
          </c:cat>
          <c:val>
            <c:numRef>
              <c:f>Hoja2!$G$32:$G$41</c:f>
              <c:numCache>
                <c:formatCode>0.00%</c:formatCode>
                <c:ptCount val="10"/>
                <c:pt idx="0">
                  <c:v>7.3114268606191343E-2</c:v>
                </c:pt>
                <c:pt idx="1">
                  <c:v>7.38479340731895E-2</c:v>
                </c:pt>
                <c:pt idx="2">
                  <c:v>7.8130768380010845E-2</c:v>
                </c:pt>
                <c:pt idx="3">
                  <c:v>7.9663703987221224E-2</c:v>
                </c:pt>
                <c:pt idx="4">
                  <c:v>8.0432023944341222E-2</c:v>
                </c:pt>
                <c:pt idx="5">
                  <c:v>7.9183746589176346E-2</c:v>
                </c:pt>
                <c:pt idx="6">
                  <c:v>8.0054708135627525E-2</c:v>
                </c:pt>
                <c:pt idx="7">
                  <c:v>8.4741829798511664E-2</c:v>
                </c:pt>
                <c:pt idx="8">
                  <c:v>7.8521440602932535E-2</c:v>
                </c:pt>
                <c:pt idx="9">
                  <c:v>7.8868948939491104E-2</c:v>
                </c:pt>
              </c:numCache>
            </c:numRef>
          </c:val>
          <c:extLst>
            <c:ext xmlns:c16="http://schemas.microsoft.com/office/drawing/2014/chart" uri="{C3380CC4-5D6E-409C-BE32-E72D297353CC}">
              <c16:uniqueId val="{00000005-08F0-4904-A5C6-A9533D559EB1}"/>
            </c:ext>
          </c:extLst>
        </c:ser>
        <c:ser>
          <c:idx val="6"/>
          <c:order val="6"/>
          <c:tx>
            <c:strRef>
              <c:f>Hoja2!$H$31</c:f>
              <c:strCache>
                <c:ptCount val="1"/>
                <c:pt idx="0">
                  <c:v>01145001 Queso fresco (queso de mesa)</c:v>
                </c:pt>
              </c:strCache>
            </c:strRef>
          </c:tx>
          <c:spPr>
            <a:solidFill>
              <a:schemeClr val="accent1">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Hoja2!$A$32:$A$41</c:f>
              <c:strCache>
                <c:ptCount val="10"/>
                <c:pt idx="0">
                  <c:v>Decil1</c:v>
                </c:pt>
                <c:pt idx="1">
                  <c:v>Decil2</c:v>
                </c:pt>
                <c:pt idx="2">
                  <c:v>Decil3</c:v>
                </c:pt>
                <c:pt idx="3">
                  <c:v>Decil4</c:v>
                </c:pt>
                <c:pt idx="4">
                  <c:v>Decil5</c:v>
                </c:pt>
                <c:pt idx="5">
                  <c:v>Decil6</c:v>
                </c:pt>
                <c:pt idx="6">
                  <c:v>Decil7</c:v>
                </c:pt>
                <c:pt idx="7">
                  <c:v>Decil8</c:v>
                </c:pt>
                <c:pt idx="8">
                  <c:v>Decil9</c:v>
                </c:pt>
                <c:pt idx="9">
                  <c:v>Decil10</c:v>
                </c:pt>
              </c:strCache>
            </c:strRef>
          </c:cat>
          <c:val>
            <c:numRef>
              <c:f>Hoja2!$H$32:$H$41</c:f>
              <c:numCache>
                <c:formatCode>0.00%</c:formatCode>
                <c:ptCount val="10"/>
                <c:pt idx="0">
                  <c:v>7.6292126278803385E-2</c:v>
                </c:pt>
                <c:pt idx="1">
                  <c:v>7.8962376989179045E-2</c:v>
                </c:pt>
                <c:pt idx="2">
                  <c:v>7.398583020710145E-2</c:v>
                </c:pt>
                <c:pt idx="3">
                  <c:v>7.6135460394300414E-2</c:v>
                </c:pt>
                <c:pt idx="4">
                  <c:v>7.8662576552371424E-2</c:v>
                </c:pt>
                <c:pt idx="5">
                  <c:v>7.2129761194362152E-2</c:v>
                </c:pt>
                <c:pt idx="6">
                  <c:v>7.878955023049114E-2</c:v>
                </c:pt>
                <c:pt idx="7">
                  <c:v>8.0008431702885213E-2</c:v>
                </c:pt>
                <c:pt idx="8">
                  <c:v>8.7233588960591676E-2</c:v>
                </c:pt>
                <c:pt idx="9">
                  <c:v>8.0584953996971409E-2</c:v>
                </c:pt>
              </c:numCache>
            </c:numRef>
          </c:val>
          <c:extLst>
            <c:ext xmlns:c16="http://schemas.microsoft.com/office/drawing/2014/chart" uri="{C3380CC4-5D6E-409C-BE32-E72D297353CC}">
              <c16:uniqueId val="{00000006-08F0-4904-A5C6-A9533D559EB1}"/>
            </c:ext>
          </c:extLst>
        </c:ser>
        <c:ser>
          <c:idx val="7"/>
          <c:order val="7"/>
          <c:tx>
            <c:strRef>
              <c:f>Hoja2!$I$31</c:f>
              <c:strCache>
                <c:ptCount val="1"/>
                <c:pt idx="0">
                  <c:v>01148001 Huevos de gallina (incubadora)</c:v>
                </c:pt>
              </c:strCache>
            </c:strRef>
          </c:tx>
          <c:spPr>
            <a:solidFill>
              <a:schemeClr val="accent2">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Hoja2!$A$32:$A$41</c:f>
              <c:strCache>
                <c:ptCount val="10"/>
                <c:pt idx="0">
                  <c:v>Decil1</c:v>
                </c:pt>
                <c:pt idx="1">
                  <c:v>Decil2</c:v>
                </c:pt>
                <c:pt idx="2">
                  <c:v>Decil3</c:v>
                </c:pt>
                <c:pt idx="3">
                  <c:v>Decil4</c:v>
                </c:pt>
                <c:pt idx="4">
                  <c:v>Decil5</c:v>
                </c:pt>
                <c:pt idx="5">
                  <c:v>Decil6</c:v>
                </c:pt>
                <c:pt idx="6">
                  <c:v>Decil7</c:v>
                </c:pt>
                <c:pt idx="7">
                  <c:v>Decil8</c:v>
                </c:pt>
                <c:pt idx="8">
                  <c:v>Decil9</c:v>
                </c:pt>
                <c:pt idx="9">
                  <c:v>Decil10</c:v>
                </c:pt>
              </c:strCache>
            </c:strRef>
          </c:cat>
          <c:val>
            <c:numRef>
              <c:f>Hoja2!$I$32:$I$41</c:f>
              <c:numCache>
                <c:formatCode>0.00%</c:formatCode>
                <c:ptCount val="10"/>
                <c:pt idx="0">
                  <c:v>8.0665230453836459E-2</c:v>
                </c:pt>
                <c:pt idx="1">
                  <c:v>8.3565179674491785E-2</c:v>
                </c:pt>
                <c:pt idx="2">
                  <c:v>8.0423102435923488E-2</c:v>
                </c:pt>
                <c:pt idx="3">
                  <c:v>8.3448220915525687E-2</c:v>
                </c:pt>
                <c:pt idx="4">
                  <c:v>7.5036551069551427E-2</c:v>
                </c:pt>
                <c:pt idx="5">
                  <c:v>8.0245462820091693E-2</c:v>
                </c:pt>
                <c:pt idx="6">
                  <c:v>7.6738529353730892E-2</c:v>
                </c:pt>
                <c:pt idx="7">
                  <c:v>7.3755940934726344E-2</c:v>
                </c:pt>
                <c:pt idx="8">
                  <c:v>7.5910158881632744E-2</c:v>
                </c:pt>
                <c:pt idx="9">
                  <c:v>7.6681705828598679E-2</c:v>
                </c:pt>
              </c:numCache>
            </c:numRef>
          </c:val>
          <c:extLst>
            <c:ext xmlns:c16="http://schemas.microsoft.com/office/drawing/2014/chart" uri="{C3380CC4-5D6E-409C-BE32-E72D297353CC}">
              <c16:uniqueId val="{00000007-08F0-4904-A5C6-A9533D559EB1}"/>
            </c:ext>
          </c:extLst>
        </c:ser>
        <c:ser>
          <c:idx val="8"/>
          <c:order val="8"/>
          <c:tx>
            <c:strRef>
              <c:f>Hoja2!$J$31</c:f>
              <c:strCache>
                <c:ptCount val="1"/>
                <c:pt idx="0">
                  <c:v>01172001 Tomate riñón (de carne) fresco o refrigerado</c:v>
                </c:pt>
              </c:strCache>
            </c:strRef>
          </c:tx>
          <c:spPr>
            <a:solidFill>
              <a:schemeClr val="accent3">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Hoja2!$A$32:$A$41</c:f>
              <c:strCache>
                <c:ptCount val="10"/>
                <c:pt idx="0">
                  <c:v>Decil1</c:v>
                </c:pt>
                <c:pt idx="1">
                  <c:v>Decil2</c:v>
                </c:pt>
                <c:pt idx="2">
                  <c:v>Decil3</c:v>
                </c:pt>
                <c:pt idx="3">
                  <c:v>Decil4</c:v>
                </c:pt>
                <c:pt idx="4">
                  <c:v>Decil5</c:v>
                </c:pt>
                <c:pt idx="5">
                  <c:v>Decil6</c:v>
                </c:pt>
                <c:pt idx="6">
                  <c:v>Decil7</c:v>
                </c:pt>
                <c:pt idx="7">
                  <c:v>Decil8</c:v>
                </c:pt>
                <c:pt idx="8">
                  <c:v>Decil9</c:v>
                </c:pt>
                <c:pt idx="9">
                  <c:v>Decil10</c:v>
                </c:pt>
              </c:strCache>
            </c:strRef>
          </c:cat>
          <c:val>
            <c:numRef>
              <c:f>Hoja2!$J$32:$J$41</c:f>
              <c:numCache>
                <c:formatCode>0.00%</c:formatCode>
                <c:ptCount val="10"/>
                <c:pt idx="0">
                  <c:v>3.4844687715078017E-2</c:v>
                </c:pt>
                <c:pt idx="1">
                  <c:v>3.2637618174206878E-2</c:v>
                </c:pt>
                <c:pt idx="2">
                  <c:v>3.223287102790505E-2</c:v>
                </c:pt>
                <c:pt idx="3">
                  <c:v>3.3575187940153364E-2</c:v>
                </c:pt>
                <c:pt idx="4">
                  <c:v>3.1533374461560522E-2</c:v>
                </c:pt>
                <c:pt idx="5">
                  <c:v>3.1094534062448394E-2</c:v>
                </c:pt>
                <c:pt idx="6">
                  <c:v>3.1742754265536147E-2</c:v>
                </c:pt>
                <c:pt idx="7">
                  <c:v>3.0306261687483169E-2</c:v>
                </c:pt>
                <c:pt idx="8">
                  <c:v>3.1314668011412541E-2</c:v>
                </c:pt>
                <c:pt idx="9">
                  <c:v>3.2203395024532587E-2</c:v>
                </c:pt>
              </c:numCache>
            </c:numRef>
          </c:val>
          <c:extLst>
            <c:ext xmlns:c16="http://schemas.microsoft.com/office/drawing/2014/chart" uri="{C3380CC4-5D6E-409C-BE32-E72D297353CC}">
              <c16:uniqueId val="{00000008-08F0-4904-A5C6-A9533D559EB1}"/>
            </c:ext>
          </c:extLst>
        </c:ser>
        <c:ser>
          <c:idx val="9"/>
          <c:order val="9"/>
          <c:tx>
            <c:strRef>
              <c:f>Hoja2!$K$31</c:f>
              <c:strCache>
                <c:ptCount val="1"/>
                <c:pt idx="0">
                  <c:v>01250001 Agua purificada sin gas personal</c:v>
                </c:pt>
              </c:strCache>
            </c:strRef>
          </c:tx>
          <c:spPr>
            <a:solidFill>
              <a:schemeClr val="accent4">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Hoja2!$A$32:$A$41</c:f>
              <c:strCache>
                <c:ptCount val="10"/>
                <c:pt idx="0">
                  <c:v>Decil1</c:v>
                </c:pt>
                <c:pt idx="1">
                  <c:v>Decil2</c:v>
                </c:pt>
                <c:pt idx="2">
                  <c:v>Decil3</c:v>
                </c:pt>
                <c:pt idx="3">
                  <c:v>Decil4</c:v>
                </c:pt>
                <c:pt idx="4">
                  <c:v>Decil5</c:v>
                </c:pt>
                <c:pt idx="5">
                  <c:v>Decil6</c:v>
                </c:pt>
                <c:pt idx="6">
                  <c:v>Decil7</c:v>
                </c:pt>
                <c:pt idx="7">
                  <c:v>Decil8</c:v>
                </c:pt>
                <c:pt idx="8">
                  <c:v>Decil9</c:v>
                </c:pt>
                <c:pt idx="9">
                  <c:v>Decil10</c:v>
                </c:pt>
              </c:strCache>
            </c:strRef>
          </c:cat>
          <c:val>
            <c:numRef>
              <c:f>Hoja2!$K$32:$K$41</c:f>
              <c:numCache>
                <c:formatCode>0.00%</c:formatCode>
                <c:ptCount val="10"/>
                <c:pt idx="0">
                  <c:v>3.4795302382321341E-2</c:v>
                </c:pt>
                <c:pt idx="1">
                  <c:v>4.1357238587047256E-2</c:v>
                </c:pt>
                <c:pt idx="2">
                  <c:v>4.1277385275560866E-2</c:v>
                </c:pt>
                <c:pt idx="3">
                  <c:v>4.3041598700070266E-2</c:v>
                </c:pt>
                <c:pt idx="4">
                  <c:v>4.2769278450367487E-2</c:v>
                </c:pt>
                <c:pt idx="5">
                  <c:v>4.64746763278618E-2</c:v>
                </c:pt>
                <c:pt idx="6">
                  <c:v>5.011296128943353E-2</c:v>
                </c:pt>
                <c:pt idx="7">
                  <c:v>5.5528008546432986E-2</c:v>
                </c:pt>
                <c:pt idx="8">
                  <c:v>5.3619689644311908E-2</c:v>
                </c:pt>
                <c:pt idx="9">
                  <c:v>5.4539364782151968E-2</c:v>
                </c:pt>
              </c:numCache>
            </c:numRef>
          </c:val>
          <c:extLst>
            <c:ext xmlns:c16="http://schemas.microsoft.com/office/drawing/2014/chart" uri="{C3380CC4-5D6E-409C-BE32-E72D297353CC}">
              <c16:uniqueId val="{00000009-08F0-4904-A5C6-A9533D559EB1}"/>
            </c:ext>
          </c:extLst>
        </c:ser>
        <c:dLbls>
          <c:dLblPos val="ctr"/>
          <c:showLegendKey val="0"/>
          <c:showVal val="1"/>
          <c:showCatName val="0"/>
          <c:showSerName val="0"/>
          <c:showPercent val="0"/>
          <c:showBubbleSize val="0"/>
        </c:dLbls>
        <c:gapWidth val="150"/>
        <c:overlap val="100"/>
        <c:axId val="958352656"/>
        <c:axId val="1034068624"/>
      </c:barChart>
      <c:catAx>
        <c:axId val="9583526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C"/>
          </a:p>
        </c:txPr>
        <c:crossAx val="1034068624"/>
        <c:crosses val="autoZero"/>
        <c:auto val="1"/>
        <c:lblAlgn val="ctr"/>
        <c:lblOffset val="100"/>
        <c:noMultiLvlLbl val="0"/>
      </c:catAx>
      <c:valAx>
        <c:axId val="1034068624"/>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C"/>
          </a:p>
        </c:txPr>
        <c:crossAx val="95835265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C"/>
        </a:p>
      </c:txPr>
    </c:legend>
    <c:plotVisOnly val="1"/>
    <c:dispBlanksAs val="gap"/>
    <c:showDLblsOverMax val="0"/>
  </c:chart>
  <c:spPr>
    <a:noFill/>
    <a:ln>
      <a:noFill/>
    </a:ln>
    <a:effectLst/>
  </c:spPr>
  <c:txPr>
    <a:bodyPr/>
    <a:lstStyle/>
    <a:p>
      <a:pPr>
        <a:defRPr/>
      </a:pPr>
      <a:endParaRPr lang="es-EC"/>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Hoja2!$O$31</c:f>
              <c:strCache>
                <c:ptCount val="1"/>
                <c:pt idx="0">
                  <c:v>01111201 Arroz blanco</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Hoja2!$N$32:$N$34</c:f>
              <c:strCache>
                <c:ptCount val="3"/>
                <c:pt idx="0">
                  <c:v>Decil1</c:v>
                </c:pt>
                <c:pt idx="1">
                  <c:v>Decil5</c:v>
                </c:pt>
                <c:pt idx="2">
                  <c:v>Decil10</c:v>
                </c:pt>
              </c:strCache>
            </c:strRef>
          </c:cat>
          <c:val>
            <c:numRef>
              <c:f>Hoja2!$O$32:$O$34</c:f>
              <c:numCache>
                <c:formatCode>0.00%</c:formatCode>
                <c:ptCount val="3"/>
                <c:pt idx="0">
                  <c:v>0.16710930213736194</c:v>
                </c:pt>
                <c:pt idx="1">
                  <c:v>0.12169758346711561</c:v>
                </c:pt>
                <c:pt idx="2">
                  <c:v>9.4476159725825973E-2</c:v>
                </c:pt>
              </c:numCache>
            </c:numRef>
          </c:val>
          <c:extLst>
            <c:ext xmlns:c16="http://schemas.microsoft.com/office/drawing/2014/chart" uri="{C3380CC4-5D6E-409C-BE32-E72D297353CC}">
              <c16:uniqueId val="{00000000-4EDF-4974-A93C-CA8C6130D343}"/>
            </c:ext>
          </c:extLst>
        </c:ser>
        <c:ser>
          <c:idx val="1"/>
          <c:order val="1"/>
          <c:tx>
            <c:strRef>
              <c:f>Hoja2!$P$31</c:f>
              <c:strCache>
                <c:ptCount val="1"/>
                <c:pt idx="0">
                  <c:v>01113101 Pan común blanco (Redondos, Cachitos, Enrollados, Injertos, Rosas, Reventados, Tapados, pan</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Hoja2!$N$32:$N$34</c:f>
              <c:strCache>
                <c:ptCount val="3"/>
                <c:pt idx="0">
                  <c:v>Decil1</c:v>
                </c:pt>
                <c:pt idx="1">
                  <c:v>Decil5</c:v>
                </c:pt>
                <c:pt idx="2">
                  <c:v>Decil10</c:v>
                </c:pt>
              </c:strCache>
            </c:strRef>
          </c:cat>
          <c:val>
            <c:numRef>
              <c:f>Hoja2!$P$32:$P$34</c:f>
              <c:numCache>
                <c:formatCode>0.00%</c:formatCode>
                <c:ptCount val="3"/>
                <c:pt idx="0">
                  <c:v>0.12638755079055186</c:v>
                </c:pt>
                <c:pt idx="1">
                  <c:v>0.11419175188860101</c:v>
                </c:pt>
                <c:pt idx="2">
                  <c:v>9.1969342970074627E-2</c:v>
                </c:pt>
              </c:numCache>
            </c:numRef>
          </c:val>
          <c:extLst>
            <c:ext xmlns:c16="http://schemas.microsoft.com/office/drawing/2014/chart" uri="{C3380CC4-5D6E-409C-BE32-E72D297353CC}">
              <c16:uniqueId val="{00000001-4EDF-4974-A93C-CA8C6130D343}"/>
            </c:ext>
          </c:extLst>
        </c:ser>
        <c:ser>
          <c:idx val="2"/>
          <c:order val="2"/>
          <c:tx>
            <c:strRef>
              <c:f>Hoja2!$Q$31</c:f>
              <c:strCache>
                <c:ptCount val="1"/>
                <c:pt idx="0">
                  <c:v>01122101 Carne de res con hueso fresca, refrigerada o congelada</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Hoja2!$N$32:$N$34</c:f>
              <c:strCache>
                <c:ptCount val="3"/>
                <c:pt idx="0">
                  <c:v>Decil1</c:v>
                </c:pt>
                <c:pt idx="1">
                  <c:v>Decil5</c:v>
                </c:pt>
                <c:pt idx="2">
                  <c:v>Decil10</c:v>
                </c:pt>
              </c:strCache>
            </c:strRef>
          </c:cat>
          <c:val>
            <c:numRef>
              <c:f>Hoja2!$Q$32:$Q$34</c:f>
              <c:numCache>
                <c:formatCode>0.00%</c:formatCode>
                <c:ptCount val="3"/>
                <c:pt idx="0">
                  <c:v>0.12087400164530225</c:v>
                </c:pt>
                <c:pt idx="1">
                  <c:v>0.1124204560516552</c:v>
                </c:pt>
                <c:pt idx="2">
                  <c:v>0.11580388274956398</c:v>
                </c:pt>
              </c:numCache>
            </c:numRef>
          </c:val>
          <c:extLst>
            <c:ext xmlns:c16="http://schemas.microsoft.com/office/drawing/2014/chart" uri="{C3380CC4-5D6E-409C-BE32-E72D297353CC}">
              <c16:uniqueId val="{00000002-4EDF-4974-A93C-CA8C6130D343}"/>
            </c:ext>
          </c:extLst>
        </c:ser>
        <c:ser>
          <c:idx val="3"/>
          <c:order val="3"/>
          <c:tx>
            <c:strRef>
              <c:f>Hoja2!$R$31</c:f>
              <c:strCache>
                <c:ptCount val="1"/>
                <c:pt idx="0">
                  <c:v>01122102 Carne de res sin hueso fresca, refrigerada o congelada</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Hoja2!$N$32:$N$34</c:f>
              <c:strCache>
                <c:ptCount val="3"/>
                <c:pt idx="0">
                  <c:v>Decil1</c:v>
                </c:pt>
                <c:pt idx="1">
                  <c:v>Decil5</c:v>
                </c:pt>
                <c:pt idx="2">
                  <c:v>Decil10</c:v>
                </c:pt>
              </c:strCache>
            </c:strRef>
          </c:cat>
          <c:val>
            <c:numRef>
              <c:f>Hoja2!$R$32:$R$34</c:f>
              <c:numCache>
                <c:formatCode>0.00%</c:formatCode>
                <c:ptCount val="3"/>
                <c:pt idx="0">
                  <c:v>0.16436352683876321</c:v>
                </c:pt>
                <c:pt idx="1">
                  <c:v>0.16431152513120609</c:v>
                </c:pt>
                <c:pt idx="2">
                  <c:v>0.15325360203966265</c:v>
                </c:pt>
              </c:numCache>
            </c:numRef>
          </c:val>
          <c:extLst>
            <c:ext xmlns:c16="http://schemas.microsoft.com/office/drawing/2014/chart" uri="{C3380CC4-5D6E-409C-BE32-E72D297353CC}">
              <c16:uniqueId val="{00000003-4EDF-4974-A93C-CA8C6130D343}"/>
            </c:ext>
          </c:extLst>
        </c:ser>
        <c:ser>
          <c:idx val="4"/>
          <c:order val="4"/>
          <c:tx>
            <c:strRef>
              <c:f>Hoja2!$S$31</c:f>
              <c:strCache>
                <c:ptCount val="1"/>
                <c:pt idx="0">
                  <c:v>01122401 Pollo entero fresco, refrigerado o congelado</c:v>
                </c:pt>
              </c:strCache>
            </c:strRef>
          </c:tx>
          <c:spPr>
            <a:solidFill>
              <a:schemeClr val="accent5"/>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Hoja2!$N$32:$N$34</c:f>
              <c:strCache>
                <c:ptCount val="3"/>
                <c:pt idx="0">
                  <c:v>Decil1</c:v>
                </c:pt>
                <c:pt idx="1">
                  <c:v>Decil5</c:v>
                </c:pt>
                <c:pt idx="2">
                  <c:v>Decil10</c:v>
                </c:pt>
              </c:strCache>
            </c:strRef>
          </c:cat>
          <c:val>
            <c:numRef>
              <c:f>Hoja2!$S$32:$S$34</c:f>
              <c:numCache>
                <c:formatCode>0.00%</c:formatCode>
                <c:ptCount val="3"/>
                <c:pt idx="0">
                  <c:v>0.26560576269583192</c:v>
                </c:pt>
                <c:pt idx="1">
                  <c:v>0.23256346589898366</c:v>
                </c:pt>
                <c:pt idx="2">
                  <c:v>0.18772436186581343</c:v>
                </c:pt>
              </c:numCache>
            </c:numRef>
          </c:val>
          <c:extLst>
            <c:ext xmlns:c16="http://schemas.microsoft.com/office/drawing/2014/chart" uri="{C3380CC4-5D6E-409C-BE32-E72D297353CC}">
              <c16:uniqueId val="{00000004-4EDF-4974-A93C-CA8C6130D343}"/>
            </c:ext>
          </c:extLst>
        </c:ser>
        <c:ser>
          <c:idx val="5"/>
          <c:order val="5"/>
          <c:tx>
            <c:strRef>
              <c:f>Hoja2!$T$31</c:f>
              <c:strCache>
                <c:ptCount val="1"/>
                <c:pt idx="0">
                  <c:v>01141001 Leche entera pasteurizada / ultra pasteurizada UHT en funda</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Hoja2!$N$32:$N$34</c:f>
              <c:strCache>
                <c:ptCount val="3"/>
                <c:pt idx="0">
                  <c:v>Decil1</c:v>
                </c:pt>
                <c:pt idx="1">
                  <c:v>Decil5</c:v>
                </c:pt>
                <c:pt idx="2">
                  <c:v>Decil10</c:v>
                </c:pt>
              </c:strCache>
            </c:strRef>
          </c:cat>
          <c:val>
            <c:numRef>
              <c:f>Hoja2!$T$32:$T$34</c:f>
              <c:numCache>
                <c:formatCode>0.00%</c:formatCode>
                <c:ptCount val="3"/>
                <c:pt idx="0">
                  <c:v>8.8154128287797243E-2</c:v>
                </c:pt>
                <c:pt idx="1">
                  <c:v>8.6668088538874505E-2</c:v>
                </c:pt>
                <c:pt idx="2">
                  <c:v>7.4921052020502185E-2</c:v>
                </c:pt>
              </c:numCache>
            </c:numRef>
          </c:val>
          <c:extLst>
            <c:ext xmlns:c16="http://schemas.microsoft.com/office/drawing/2014/chart" uri="{C3380CC4-5D6E-409C-BE32-E72D297353CC}">
              <c16:uniqueId val="{00000005-4EDF-4974-A93C-CA8C6130D343}"/>
            </c:ext>
          </c:extLst>
        </c:ser>
        <c:ser>
          <c:idx val="6"/>
          <c:order val="6"/>
          <c:tx>
            <c:strRef>
              <c:f>Hoja2!$U$31</c:f>
              <c:strCache>
                <c:ptCount val="1"/>
                <c:pt idx="0">
                  <c:v>01145001 Queso fresco (queso de mesa)</c:v>
                </c:pt>
              </c:strCache>
            </c:strRef>
          </c:tx>
          <c:spPr>
            <a:solidFill>
              <a:schemeClr val="accent1">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Hoja2!$N$32:$N$34</c:f>
              <c:strCache>
                <c:ptCount val="3"/>
                <c:pt idx="0">
                  <c:v>Decil1</c:v>
                </c:pt>
                <c:pt idx="1">
                  <c:v>Decil5</c:v>
                </c:pt>
                <c:pt idx="2">
                  <c:v>Decil10</c:v>
                </c:pt>
              </c:strCache>
            </c:strRef>
          </c:cat>
          <c:val>
            <c:numRef>
              <c:f>Hoja2!$U$32:$U$34</c:f>
              <c:numCache>
                <c:formatCode>0.00%</c:formatCode>
                <c:ptCount val="3"/>
                <c:pt idx="0">
                  <c:v>9.1985682350940526E-2</c:v>
                </c:pt>
                <c:pt idx="1">
                  <c:v>8.476145215560707E-2</c:v>
                </c:pt>
                <c:pt idx="2">
                  <c:v>7.6551160014936892E-2</c:v>
                </c:pt>
              </c:numCache>
            </c:numRef>
          </c:val>
          <c:extLst>
            <c:ext xmlns:c16="http://schemas.microsoft.com/office/drawing/2014/chart" uri="{C3380CC4-5D6E-409C-BE32-E72D297353CC}">
              <c16:uniqueId val="{00000006-4EDF-4974-A93C-CA8C6130D343}"/>
            </c:ext>
          </c:extLst>
        </c:ser>
        <c:ser>
          <c:idx val="7"/>
          <c:order val="7"/>
          <c:tx>
            <c:strRef>
              <c:f>Hoja2!$V$31</c:f>
              <c:strCache>
                <c:ptCount val="1"/>
                <c:pt idx="0">
                  <c:v>01148001 Huevos de gallina (incubadora)</c:v>
                </c:pt>
              </c:strCache>
            </c:strRef>
          </c:tx>
          <c:spPr>
            <a:solidFill>
              <a:schemeClr val="accent2">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Hoja2!$N$32:$N$34</c:f>
              <c:strCache>
                <c:ptCount val="3"/>
                <c:pt idx="0">
                  <c:v>Decil1</c:v>
                </c:pt>
                <c:pt idx="1">
                  <c:v>Decil5</c:v>
                </c:pt>
                <c:pt idx="2">
                  <c:v>Decil10</c:v>
                </c:pt>
              </c:strCache>
            </c:strRef>
          </c:cat>
          <c:val>
            <c:numRef>
              <c:f>Hoja2!$V$32:$V$34</c:f>
              <c:numCache>
                <c:formatCode>0.00%</c:formatCode>
                <c:ptCount val="3"/>
                <c:pt idx="0">
                  <c:v>9.7258349284643844E-2</c:v>
                </c:pt>
                <c:pt idx="1">
                  <c:v>8.0854293263189714E-2</c:v>
                </c:pt>
                <c:pt idx="2">
                  <c:v>7.2843294460700286E-2</c:v>
                </c:pt>
              </c:numCache>
            </c:numRef>
          </c:val>
          <c:extLst>
            <c:ext xmlns:c16="http://schemas.microsoft.com/office/drawing/2014/chart" uri="{C3380CC4-5D6E-409C-BE32-E72D297353CC}">
              <c16:uniqueId val="{00000007-4EDF-4974-A93C-CA8C6130D343}"/>
            </c:ext>
          </c:extLst>
        </c:ser>
        <c:ser>
          <c:idx val="8"/>
          <c:order val="8"/>
          <c:tx>
            <c:strRef>
              <c:f>Hoja2!$W$31</c:f>
              <c:strCache>
                <c:ptCount val="1"/>
                <c:pt idx="0">
                  <c:v>01172001 Tomate riñón (de carne) fresco o refrigerado</c:v>
                </c:pt>
              </c:strCache>
            </c:strRef>
          </c:tx>
          <c:spPr>
            <a:solidFill>
              <a:schemeClr val="accent3">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Hoja2!$N$32:$N$34</c:f>
              <c:strCache>
                <c:ptCount val="3"/>
                <c:pt idx="0">
                  <c:v>Decil1</c:v>
                </c:pt>
                <c:pt idx="1">
                  <c:v>Decil5</c:v>
                </c:pt>
                <c:pt idx="2">
                  <c:v>Decil10</c:v>
                </c:pt>
              </c:strCache>
            </c:strRef>
          </c:cat>
          <c:val>
            <c:numRef>
              <c:f>Hoja2!$W$32:$W$34</c:f>
              <c:numCache>
                <c:formatCode>0.00%</c:formatCode>
                <c:ptCount val="3"/>
                <c:pt idx="0">
                  <c:v>4.2012361328922693E-2</c:v>
                </c:pt>
                <c:pt idx="1">
                  <c:v>3.3978223545079483E-2</c:v>
                </c:pt>
                <c:pt idx="2">
                  <c:v>3.0591408486004286E-2</c:v>
                </c:pt>
              </c:numCache>
            </c:numRef>
          </c:val>
          <c:extLst>
            <c:ext xmlns:c16="http://schemas.microsoft.com/office/drawing/2014/chart" uri="{C3380CC4-5D6E-409C-BE32-E72D297353CC}">
              <c16:uniqueId val="{00000008-4EDF-4974-A93C-CA8C6130D343}"/>
            </c:ext>
          </c:extLst>
        </c:ser>
        <c:ser>
          <c:idx val="9"/>
          <c:order val="9"/>
          <c:tx>
            <c:strRef>
              <c:f>Hoja2!$X$31</c:f>
              <c:strCache>
                <c:ptCount val="1"/>
                <c:pt idx="0">
                  <c:v>01250001 Agua purificada sin gas personal</c:v>
                </c:pt>
              </c:strCache>
            </c:strRef>
          </c:tx>
          <c:spPr>
            <a:solidFill>
              <a:schemeClr val="accent4">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s-EC"/>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Hoja2!$N$32:$N$34</c:f>
              <c:strCache>
                <c:ptCount val="3"/>
                <c:pt idx="0">
                  <c:v>Decil1</c:v>
                </c:pt>
                <c:pt idx="1">
                  <c:v>Decil5</c:v>
                </c:pt>
                <c:pt idx="2">
                  <c:v>Decil10</c:v>
                </c:pt>
              </c:strCache>
            </c:strRef>
          </c:cat>
          <c:val>
            <c:numRef>
              <c:f>Hoja2!$X$32:$X$34</c:f>
              <c:numCache>
                <c:formatCode>0.00%</c:formatCode>
                <c:ptCount val="3"/>
                <c:pt idx="0">
                  <c:v>4.1952817261227557E-2</c:v>
                </c:pt>
                <c:pt idx="1">
                  <c:v>4.6085270887193851E-2</c:v>
                </c:pt>
                <c:pt idx="2">
                  <c:v>5.1809319649278915E-2</c:v>
                </c:pt>
              </c:numCache>
            </c:numRef>
          </c:val>
          <c:extLst>
            <c:ext xmlns:c16="http://schemas.microsoft.com/office/drawing/2014/chart" uri="{C3380CC4-5D6E-409C-BE32-E72D297353CC}">
              <c16:uniqueId val="{00000009-4EDF-4974-A93C-CA8C6130D343}"/>
            </c:ext>
          </c:extLst>
        </c:ser>
        <c:dLbls>
          <c:dLblPos val="ctr"/>
          <c:showLegendKey val="0"/>
          <c:showVal val="1"/>
          <c:showCatName val="0"/>
          <c:showSerName val="0"/>
          <c:showPercent val="0"/>
          <c:showBubbleSize val="0"/>
        </c:dLbls>
        <c:gapWidth val="150"/>
        <c:overlap val="100"/>
        <c:axId val="956310576"/>
        <c:axId val="1034021584"/>
      </c:barChart>
      <c:catAx>
        <c:axId val="9563105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C"/>
          </a:p>
        </c:txPr>
        <c:crossAx val="1034021584"/>
        <c:crosses val="autoZero"/>
        <c:auto val="1"/>
        <c:lblAlgn val="ctr"/>
        <c:lblOffset val="100"/>
        <c:noMultiLvlLbl val="0"/>
      </c:catAx>
      <c:valAx>
        <c:axId val="1034021584"/>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C"/>
          </a:p>
        </c:txPr>
        <c:crossAx val="95631057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s-EC"/>
        </a:p>
      </c:txPr>
    </c:legend>
    <c:plotVisOnly val="1"/>
    <c:dispBlanksAs val="gap"/>
    <c:showDLblsOverMax val="0"/>
  </c:chart>
  <c:spPr>
    <a:noFill/>
    <a:ln>
      <a:noFill/>
    </a:ln>
    <a:effectLst/>
  </c:spPr>
  <c:txPr>
    <a:bodyPr/>
    <a:lstStyle/>
    <a:p>
      <a:pPr>
        <a:defRPr/>
      </a:pPr>
      <a:endParaRPr lang="es-EC"/>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534D63B-2C5C-43AA-AC85-B9FFC8F28684}" type="doc">
      <dgm:prSet loTypeId="urn:microsoft.com/office/officeart/2005/8/layout/list1" loCatId="list" qsTypeId="urn:microsoft.com/office/officeart/2005/8/quickstyle/simple1" qsCatId="simple" csTypeId="urn:microsoft.com/office/officeart/2005/8/colors/accent2_1" csCatId="accent2" phldr="1"/>
      <dgm:spPr/>
      <dgm:t>
        <a:bodyPr/>
        <a:lstStyle/>
        <a:p>
          <a:endParaRPr lang="es-ES"/>
        </a:p>
      </dgm:t>
    </dgm:pt>
    <dgm:pt modelId="{580246F2-DB89-4B7E-A659-1F66DFD342F1}">
      <dgm:prSet phldrT="[Texto]" custT="1"/>
      <dgm:spPr/>
      <dgm:t>
        <a:bodyPr/>
        <a:lstStyle/>
        <a:p>
          <a:r>
            <a:rPr lang="es-ES" sz="1800" dirty="0">
              <a:latin typeface="Century Gothic" panose="020B0502020202020204" pitchFamily="34" charset="0"/>
            </a:rPr>
            <a:t>Población de estudio u objetivo: Las familias y personas que viven habitualmente en las viviendas del Ecuador, tanto en las zonas urbanas como rurales</a:t>
          </a:r>
        </a:p>
      </dgm:t>
    </dgm:pt>
    <dgm:pt modelId="{37B68E8B-4957-4A27-A3C6-FB1EB91DF960}" type="parTrans" cxnId="{EF31E0E2-4D73-4BBB-B60C-7AB0E453C626}">
      <dgm:prSet/>
      <dgm:spPr/>
      <dgm:t>
        <a:bodyPr/>
        <a:lstStyle/>
        <a:p>
          <a:endParaRPr lang="es-ES" sz="1400">
            <a:latin typeface="Century Gothic" panose="020B0502020202020204" pitchFamily="34" charset="0"/>
          </a:endParaRPr>
        </a:p>
      </dgm:t>
    </dgm:pt>
    <dgm:pt modelId="{1F9CD8D5-38F7-4EC0-B6C1-B4BB39322E57}" type="sibTrans" cxnId="{EF31E0E2-4D73-4BBB-B60C-7AB0E453C626}">
      <dgm:prSet/>
      <dgm:spPr/>
      <dgm:t>
        <a:bodyPr/>
        <a:lstStyle/>
        <a:p>
          <a:endParaRPr lang="es-ES" sz="1400">
            <a:latin typeface="Century Gothic" panose="020B0502020202020204" pitchFamily="34" charset="0"/>
          </a:endParaRPr>
        </a:p>
      </dgm:t>
    </dgm:pt>
    <dgm:pt modelId="{8B7D5089-6239-4DDA-B3F7-D0D798265948}">
      <dgm:prSet phldrT="[Texto]" custT="1"/>
      <dgm:spPr/>
      <dgm:t>
        <a:bodyPr/>
        <a:lstStyle/>
        <a:p>
          <a:r>
            <a:rPr lang="es-ES" sz="1800" dirty="0">
              <a:latin typeface="Century Gothic" panose="020B0502020202020204" pitchFamily="34" charset="0"/>
            </a:rPr>
            <a:t>Unidad de análisis: Se toma en cuenta al hogar para conocer sus ingresos y gastos, y a cada persona para saber su sexo y si recibe algún ingreso</a:t>
          </a:r>
        </a:p>
      </dgm:t>
    </dgm:pt>
    <dgm:pt modelId="{74925677-EF02-41FD-95B2-5AC2BCA9891C}" type="parTrans" cxnId="{5FE48476-12E7-43D0-87F6-3A0127FF94E7}">
      <dgm:prSet/>
      <dgm:spPr/>
      <dgm:t>
        <a:bodyPr/>
        <a:lstStyle/>
        <a:p>
          <a:endParaRPr lang="es-ES" sz="1400">
            <a:latin typeface="Century Gothic" panose="020B0502020202020204" pitchFamily="34" charset="0"/>
          </a:endParaRPr>
        </a:p>
      </dgm:t>
    </dgm:pt>
    <dgm:pt modelId="{E241319D-AC7D-448B-B5F2-0967B9F56B9A}" type="sibTrans" cxnId="{5FE48476-12E7-43D0-87F6-3A0127FF94E7}">
      <dgm:prSet/>
      <dgm:spPr/>
      <dgm:t>
        <a:bodyPr/>
        <a:lstStyle/>
        <a:p>
          <a:endParaRPr lang="es-ES" sz="1400">
            <a:latin typeface="Century Gothic" panose="020B0502020202020204" pitchFamily="34" charset="0"/>
          </a:endParaRPr>
        </a:p>
      </dgm:t>
    </dgm:pt>
    <dgm:pt modelId="{0573E379-EC11-4B7B-A56B-EDD904C4138C}">
      <dgm:prSet phldrT="[Texto]" custT="1"/>
      <dgm:spPr/>
      <dgm:t>
        <a:bodyPr/>
        <a:lstStyle/>
        <a:p>
          <a:r>
            <a:rPr lang="es-ES" sz="1800" dirty="0">
              <a:latin typeface="Century Gothic" panose="020B0502020202020204" pitchFamily="34" charset="0"/>
            </a:rPr>
            <a:t>Tamaño muestral nacional: Se estudiaron 35.398 hogares, en los que participaron 117.758 personas</a:t>
          </a:r>
        </a:p>
      </dgm:t>
    </dgm:pt>
    <dgm:pt modelId="{3D4E1374-798F-48A4-90BE-CF86C07011ED}" type="parTrans" cxnId="{E183C824-CC1D-4583-9E35-FFAF08311AB6}">
      <dgm:prSet/>
      <dgm:spPr/>
      <dgm:t>
        <a:bodyPr/>
        <a:lstStyle/>
        <a:p>
          <a:endParaRPr lang="es-ES" sz="1400">
            <a:latin typeface="Century Gothic" panose="020B0502020202020204" pitchFamily="34" charset="0"/>
          </a:endParaRPr>
        </a:p>
      </dgm:t>
    </dgm:pt>
    <dgm:pt modelId="{0DF4323E-6AA0-4238-A1BB-122DC760D97A}" type="sibTrans" cxnId="{E183C824-CC1D-4583-9E35-FFAF08311AB6}">
      <dgm:prSet/>
      <dgm:spPr/>
      <dgm:t>
        <a:bodyPr/>
        <a:lstStyle/>
        <a:p>
          <a:endParaRPr lang="es-ES" sz="1400">
            <a:latin typeface="Century Gothic" panose="020B0502020202020204" pitchFamily="34" charset="0"/>
          </a:endParaRPr>
        </a:p>
      </dgm:t>
    </dgm:pt>
    <dgm:pt modelId="{D92D8505-8D92-4501-88EA-058C20655D1C}">
      <dgm:prSet phldrT="[Texto]" custT="1"/>
      <dgm:spPr/>
      <dgm:t>
        <a:bodyPr/>
        <a:lstStyle/>
        <a:p>
          <a:r>
            <a:rPr lang="es-ES" sz="1800" dirty="0">
              <a:latin typeface="Century Gothic" panose="020B0502020202020204" pitchFamily="34" charset="0"/>
            </a:rPr>
            <a:t>Tamaño muestral del territorio asignado: Se estudiaron 17.049 hogares, con un total de 54.750 personas</a:t>
          </a:r>
        </a:p>
      </dgm:t>
    </dgm:pt>
    <dgm:pt modelId="{84101D1D-D08D-4EE7-8A7C-450B0B84A2F0}" type="parTrans" cxnId="{91FED9C1-5436-4121-B603-2E0AA91CCB75}">
      <dgm:prSet/>
      <dgm:spPr/>
      <dgm:t>
        <a:bodyPr/>
        <a:lstStyle/>
        <a:p>
          <a:endParaRPr lang="es-ES" sz="1400">
            <a:latin typeface="Century Gothic" panose="020B0502020202020204" pitchFamily="34" charset="0"/>
          </a:endParaRPr>
        </a:p>
      </dgm:t>
    </dgm:pt>
    <dgm:pt modelId="{67A88061-1785-436B-A862-0A8D34AE6230}" type="sibTrans" cxnId="{91FED9C1-5436-4121-B603-2E0AA91CCB75}">
      <dgm:prSet/>
      <dgm:spPr/>
      <dgm:t>
        <a:bodyPr/>
        <a:lstStyle/>
        <a:p>
          <a:endParaRPr lang="es-ES" sz="1400">
            <a:latin typeface="Century Gothic" panose="020B0502020202020204" pitchFamily="34" charset="0"/>
          </a:endParaRPr>
        </a:p>
      </dgm:t>
    </dgm:pt>
    <dgm:pt modelId="{1E792DC6-47F4-4077-B310-36259FEF48BD}" type="pres">
      <dgm:prSet presAssocID="{9534D63B-2C5C-43AA-AC85-B9FFC8F28684}" presName="linear" presStyleCnt="0">
        <dgm:presLayoutVars>
          <dgm:dir/>
          <dgm:animLvl val="lvl"/>
          <dgm:resizeHandles val="exact"/>
        </dgm:presLayoutVars>
      </dgm:prSet>
      <dgm:spPr/>
    </dgm:pt>
    <dgm:pt modelId="{9284BEDA-F0B8-4D3A-BEEF-66681659F2A1}" type="pres">
      <dgm:prSet presAssocID="{580246F2-DB89-4B7E-A659-1F66DFD342F1}" presName="parentLin" presStyleCnt="0"/>
      <dgm:spPr/>
    </dgm:pt>
    <dgm:pt modelId="{90020823-80AC-4E88-8146-9B3424D884B2}" type="pres">
      <dgm:prSet presAssocID="{580246F2-DB89-4B7E-A659-1F66DFD342F1}" presName="parentLeftMargin" presStyleLbl="node1" presStyleIdx="0" presStyleCnt="4"/>
      <dgm:spPr/>
    </dgm:pt>
    <dgm:pt modelId="{D6AC84E9-76B7-4E52-A088-C7F3A34F3CEB}" type="pres">
      <dgm:prSet presAssocID="{580246F2-DB89-4B7E-A659-1F66DFD342F1}" presName="parentText" presStyleLbl="node1" presStyleIdx="0" presStyleCnt="4">
        <dgm:presLayoutVars>
          <dgm:chMax val="0"/>
          <dgm:bulletEnabled val="1"/>
        </dgm:presLayoutVars>
      </dgm:prSet>
      <dgm:spPr/>
    </dgm:pt>
    <dgm:pt modelId="{BEF97F93-D1EE-4B33-BAB6-C8F316D27C41}" type="pres">
      <dgm:prSet presAssocID="{580246F2-DB89-4B7E-A659-1F66DFD342F1}" presName="negativeSpace" presStyleCnt="0"/>
      <dgm:spPr/>
    </dgm:pt>
    <dgm:pt modelId="{0C79EC16-7C60-4679-AE21-C81CCC6ED84B}" type="pres">
      <dgm:prSet presAssocID="{580246F2-DB89-4B7E-A659-1F66DFD342F1}" presName="childText" presStyleLbl="conFgAcc1" presStyleIdx="0" presStyleCnt="4">
        <dgm:presLayoutVars>
          <dgm:bulletEnabled val="1"/>
        </dgm:presLayoutVars>
      </dgm:prSet>
      <dgm:spPr/>
    </dgm:pt>
    <dgm:pt modelId="{1FE05447-2E49-4465-B352-B26CA2191F1D}" type="pres">
      <dgm:prSet presAssocID="{1F9CD8D5-38F7-4EC0-B6C1-B4BB39322E57}" presName="spaceBetweenRectangles" presStyleCnt="0"/>
      <dgm:spPr/>
    </dgm:pt>
    <dgm:pt modelId="{D5CEFC53-C238-41AF-B19F-CCE080CC79B3}" type="pres">
      <dgm:prSet presAssocID="{8B7D5089-6239-4DDA-B3F7-D0D798265948}" presName="parentLin" presStyleCnt="0"/>
      <dgm:spPr/>
    </dgm:pt>
    <dgm:pt modelId="{B8EF083B-2401-44D3-B792-5CB31A74C83F}" type="pres">
      <dgm:prSet presAssocID="{8B7D5089-6239-4DDA-B3F7-D0D798265948}" presName="parentLeftMargin" presStyleLbl="node1" presStyleIdx="0" presStyleCnt="4"/>
      <dgm:spPr/>
    </dgm:pt>
    <dgm:pt modelId="{EDB835CD-A8D7-4D70-865A-0145EFA1CE08}" type="pres">
      <dgm:prSet presAssocID="{8B7D5089-6239-4DDA-B3F7-D0D798265948}" presName="parentText" presStyleLbl="node1" presStyleIdx="1" presStyleCnt="4">
        <dgm:presLayoutVars>
          <dgm:chMax val="0"/>
          <dgm:bulletEnabled val="1"/>
        </dgm:presLayoutVars>
      </dgm:prSet>
      <dgm:spPr/>
    </dgm:pt>
    <dgm:pt modelId="{E4395A25-CDB6-49DB-BBCB-E0A394347383}" type="pres">
      <dgm:prSet presAssocID="{8B7D5089-6239-4DDA-B3F7-D0D798265948}" presName="negativeSpace" presStyleCnt="0"/>
      <dgm:spPr/>
    </dgm:pt>
    <dgm:pt modelId="{BBE695CC-C755-412D-AE35-4563D4B15B80}" type="pres">
      <dgm:prSet presAssocID="{8B7D5089-6239-4DDA-B3F7-D0D798265948}" presName="childText" presStyleLbl="conFgAcc1" presStyleIdx="1" presStyleCnt="4">
        <dgm:presLayoutVars>
          <dgm:bulletEnabled val="1"/>
        </dgm:presLayoutVars>
      </dgm:prSet>
      <dgm:spPr/>
    </dgm:pt>
    <dgm:pt modelId="{2020F8CB-6770-4BCB-A74F-6EE65C7E6A1C}" type="pres">
      <dgm:prSet presAssocID="{E241319D-AC7D-448B-B5F2-0967B9F56B9A}" presName="spaceBetweenRectangles" presStyleCnt="0"/>
      <dgm:spPr/>
    </dgm:pt>
    <dgm:pt modelId="{F4319EC2-C040-46AA-95F1-81FB32089D01}" type="pres">
      <dgm:prSet presAssocID="{0573E379-EC11-4B7B-A56B-EDD904C4138C}" presName="parentLin" presStyleCnt="0"/>
      <dgm:spPr/>
    </dgm:pt>
    <dgm:pt modelId="{52B7DD03-64FB-4A64-A3AA-012DF1EDC9C2}" type="pres">
      <dgm:prSet presAssocID="{0573E379-EC11-4B7B-A56B-EDD904C4138C}" presName="parentLeftMargin" presStyleLbl="node1" presStyleIdx="1" presStyleCnt="4"/>
      <dgm:spPr/>
    </dgm:pt>
    <dgm:pt modelId="{0647FBF5-8020-4ED8-A491-7DA84368AE7A}" type="pres">
      <dgm:prSet presAssocID="{0573E379-EC11-4B7B-A56B-EDD904C4138C}" presName="parentText" presStyleLbl="node1" presStyleIdx="2" presStyleCnt="4">
        <dgm:presLayoutVars>
          <dgm:chMax val="0"/>
          <dgm:bulletEnabled val="1"/>
        </dgm:presLayoutVars>
      </dgm:prSet>
      <dgm:spPr/>
    </dgm:pt>
    <dgm:pt modelId="{3878A087-92AB-4C20-A75C-1DAC8B7FAAEF}" type="pres">
      <dgm:prSet presAssocID="{0573E379-EC11-4B7B-A56B-EDD904C4138C}" presName="negativeSpace" presStyleCnt="0"/>
      <dgm:spPr/>
    </dgm:pt>
    <dgm:pt modelId="{18E3AAAE-4EC3-4D69-8A34-33E29B419752}" type="pres">
      <dgm:prSet presAssocID="{0573E379-EC11-4B7B-A56B-EDD904C4138C}" presName="childText" presStyleLbl="conFgAcc1" presStyleIdx="2" presStyleCnt="4">
        <dgm:presLayoutVars>
          <dgm:bulletEnabled val="1"/>
        </dgm:presLayoutVars>
      </dgm:prSet>
      <dgm:spPr/>
    </dgm:pt>
    <dgm:pt modelId="{3BA78704-5610-4FE0-BCF8-506B37B3168E}" type="pres">
      <dgm:prSet presAssocID="{0DF4323E-6AA0-4238-A1BB-122DC760D97A}" presName="spaceBetweenRectangles" presStyleCnt="0"/>
      <dgm:spPr/>
    </dgm:pt>
    <dgm:pt modelId="{91FE71D6-B664-448F-9F77-FC1C76683838}" type="pres">
      <dgm:prSet presAssocID="{D92D8505-8D92-4501-88EA-058C20655D1C}" presName="parentLin" presStyleCnt="0"/>
      <dgm:spPr/>
    </dgm:pt>
    <dgm:pt modelId="{25810D78-8B0D-444C-B293-361170AF48DD}" type="pres">
      <dgm:prSet presAssocID="{D92D8505-8D92-4501-88EA-058C20655D1C}" presName="parentLeftMargin" presStyleLbl="node1" presStyleIdx="2" presStyleCnt="4"/>
      <dgm:spPr/>
    </dgm:pt>
    <dgm:pt modelId="{8BCB2048-955F-4615-88A1-8086D918EA31}" type="pres">
      <dgm:prSet presAssocID="{D92D8505-8D92-4501-88EA-058C20655D1C}" presName="parentText" presStyleLbl="node1" presStyleIdx="3" presStyleCnt="4">
        <dgm:presLayoutVars>
          <dgm:chMax val="0"/>
          <dgm:bulletEnabled val="1"/>
        </dgm:presLayoutVars>
      </dgm:prSet>
      <dgm:spPr/>
    </dgm:pt>
    <dgm:pt modelId="{B6C09046-0B0E-41DD-9D2A-68FF07CB2BAF}" type="pres">
      <dgm:prSet presAssocID="{D92D8505-8D92-4501-88EA-058C20655D1C}" presName="negativeSpace" presStyleCnt="0"/>
      <dgm:spPr/>
    </dgm:pt>
    <dgm:pt modelId="{5087B9F9-72FF-4F2D-9FC9-CD88881CCC5A}" type="pres">
      <dgm:prSet presAssocID="{D92D8505-8D92-4501-88EA-058C20655D1C}" presName="childText" presStyleLbl="conFgAcc1" presStyleIdx="3" presStyleCnt="4">
        <dgm:presLayoutVars>
          <dgm:bulletEnabled val="1"/>
        </dgm:presLayoutVars>
      </dgm:prSet>
      <dgm:spPr/>
    </dgm:pt>
  </dgm:ptLst>
  <dgm:cxnLst>
    <dgm:cxn modelId="{E183C824-CC1D-4583-9E35-FFAF08311AB6}" srcId="{9534D63B-2C5C-43AA-AC85-B9FFC8F28684}" destId="{0573E379-EC11-4B7B-A56B-EDD904C4138C}" srcOrd="2" destOrd="0" parTransId="{3D4E1374-798F-48A4-90BE-CF86C07011ED}" sibTransId="{0DF4323E-6AA0-4238-A1BB-122DC760D97A}"/>
    <dgm:cxn modelId="{5303D045-035E-4838-8AD8-C93590870DB9}" type="presOf" srcId="{0573E379-EC11-4B7B-A56B-EDD904C4138C}" destId="{0647FBF5-8020-4ED8-A491-7DA84368AE7A}" srcOrd="1" destOrd="0" presId="urn:microsoft.com/office/officeart/2005/8/layout/list1"/>
    <dgm:cxn modelId="{56F0D747-2A8C-4183-9E73-AA56B038608B}" type="presOf" srcId="{0573E379-EC11-4B7B-A56B-EDD904C4138C}" destId="{52B7DD03-64FB-4A64-A3AA-012DF1EDC9C2}" srcOrd="0" destOrd="0" presId="urn:microsoft.com/office/officeart/2005/8/layout/list1"/>
    <dgm:cxn modelId="{9459BD50-322D-426B-902E-1A86E26D76EA}" type="presOf" srcId="{9534D63B-2C5C-43AA-AC85-B9FFC8F28684}" destId="{1E792DC6-47F4-4077-B310-36259FEF48BD}" srcOrd="0" destOrd="0" presId="urn:microsoft.com/office/officeart/2005/8/layout/list1"/>
    <dgm:cxn modelId="{2BC18471-DFD4-4432-9B18-1B2167013FD9}" type="presOf" srcId="{580246F2-DB89-4B7E-A659-1F66DFD342F1}" destId="{90020823-80AC-4E88-8146-9B3424D884B2}" srcOrd="0" destOrd="0" presId="urn:microsoft.com/office/officeart/2005/8/layout/list1"/>
    <dgm:cxn modelId="{5FE48476-12E7-43D0-87F6-3A0127FF94E7}" srcId="{9534D63B-2C5C-43AA-AC85-B9FFC8F28684}" destId="{8B7D5089-6239-4DDA-B3F7-D0D798265948}" srcOrd="1" destOrd="0" parTransId="{74925677-EF02-41FD-95B2-5AC2BCA9891C}" sibTransId="{E241319D-AC7D-448B-B5F2-0967B9F56B9A}"/>
    <dgm:cxn modelId="{7BBD087C-F0ED-4F40-A547-BE105E04F3A9}" type="presOf" srcId="{8B7D5089-6239-4DDA-B3F7-D0D798265948}" destId="{EDB835CD-A8D7-4D70-865A-0145EFA1CE08}" srcOrd="1" destOrd="0" presId="urn:microsoft.com/office/officeart/2005/8/layout/list1"/>
    <dgm:cxn modelId="{A811F684-49B8-425B-A5A2-C4A003C95F46}" type="presOf" srcId="{D92D8505-8D92-4501-88EA-058C20655D1C}" destId="{8BCB2048-955F-4615-88A1-8086D918EA31}" srcOrd="1" destOrd="0" presId="urn:microsoft.com/office/officeart/2005/8/layout/list1"/>
    <dgm:cxn modelId="{30843897-695E-40CC-B80F-FC2B56FB48E3}" type="presOf" srcId="{8B7D5089-6239-4DDA-B3F7-D0D798265948}" destId="{B8EF083B-2401-44D3-B792-5CB31A74C83F}" srcOrd="0" destOrd="0" presId="urn:microsoft.com/office/officeart/2005/8/layout/list1"/>
    <dgm:cxn modelId="{91FED9C1-5436-4121-B603-2E0AA91CCB75}" srcId="{9534D63B-2C5C-43AA-AC85-B9FFC8F28684}" destId="{D92D8505-8D92-4501-88EA-058C20655D1C}" srcOrd="3" destOrd="0" parTransId="{84101D1D-D08D-4EE7-8A7C-450B0B84A2F0}" sibTransId="{67A88061-1785-436B-A862-0A8D34AE6230}"/>
    <dgm:cxn modelId="{EF31E0E2-4D73-4BBB-B60C-7AB0E453C626}" srcId="{9534D63B-2C5C-43AA-AC85-B9FFC8F28684}" destId="{580246F2-DB89-4B7E-A659-1F66DFD342F1}" srcOrd="0" destOrd="0" parTransId="{37B68E8B-4957-4A27-A3C6-FB1EB91DF960}" sibTransId="{1F9CD8D5-38F7-4EC0-B6C1-B4BB39322E57}"/>
    <dgm:cxn modelId="{1DEB68F3-88BA-421E-8891-A7C14527443F}" type="presOf" srcId="{580246F2-DB89-4B7E-A659-1F66DFD342F1}" destId="{D6AC84E9-76B7-4E52-A088-C7F3A34F3CEB}" srcOrd="1" destOrd="0" presId="urn:microsoft.com/office/officeart/2005/8/layout/list1"/>
    <dgm:cxn modelId="{F3B769FF-8E8A-4CB6-92F7-2B8CDD59688D}" type="presOf" srcId="{D92D8505-8D92-4501-88EA-058C20655D1C}" destId="{25810D78-8B0D-444C-B293-361170AF48DD}" srcOrd="0" destOrd="0" presId="urn:microsoft.com/office/officeart/2005/8/layout/list1"/>
    <dgm:cxn modelId="{C015C47C-FFEE-4B56-8F0E-49D4F275ADEE}" type="presParOf" srcId="{1E792DC6-47F4-4077-B310-36259FEF48BD}" destId="{9284BEDA-F0B8-4D3A-BEEF-66681659F2A1}" srcOrd="0" destOrd="0" presId="urn:microsoft.com/office/officeart/2005/8/layout/list1"/>
    <dgm:cxn modelId="{D78C281B-79B8-415C-8E4B-F560F907013E}" type="presParOf" srcId="{9284BEDA-F0B8-4D3A-BEEF-66681659F2A1}" destId="{90020823-80AC-4E88-8146-9B3424D884B2}" srcOrd="0" destOrd="0" presId="urn:microsoft.com/office/officeart/2005/8/layout/list1"/>
    <dgm:cxn modelId="{4BA6BBF1-2F46-4B7E-AFFA-566F59543AA0}" type="presParOf" srcId="{9284BEDA-F0B8-4D3A-BEEF-66681659F2A1}" destId="{D6AC84E9-76B7-4E52-A088-C7F3A34F3CEB}" srcOrd="1" destOrd="0" presId="urn:microsoft.com/office/officeart/2005/8/layout/list1"/>
    <dgm:cxn modelId="{9809F469-741D-493F-A4C0-59D0FAFA4B45}" type="presParOf" srcId="{1E792DC6-47F4-4077-B310-36259FEF48BD}" destId="{BEF97F93-D1EE-4B33-BAB6-C8F316D27C41}" srcOrd="1" destOrd="0" presId="urn:microsoft.com/office/officeart/2005/8/layout/list1"/>
    <dgm:cxn modelId="{35F4FB90-49FD-439D-975F-CC262D1E460F}" type="presParOf" srcId="{1E792DC6-47F4-4077-B310-36259FEF48BD}" destId="{0C79EC16-7C60-4679-AE21-C81CCC6ED84B}" srcOrd="2" destOrd="0" presId="urn:microsoft.com/office/officeart/2005/8/layout/list1"/>
    <dgm:cxn modelId="{A4F9C190-A555-47D1-AC36-DB4C99BD940B}" type="presParOf" srcId="{1E792DC6-47F4-4077-B310-36259FEF48BD}" destId="{1FE05447-2E49-4465-B352-B26CA2191F1D}" srcOrd="3" destOrd="0" presId="urn:microsoft.com/office/officeart/2005/8/layout/list1"/>
    <dgm:cxn modelId="{7395C32E-64D6-4751-B5F2-C0FE601DC583}" type="presParOf" srcId="{1E792DC6-47F4-4077-B310-36259FEF48BD}" destId="{D5CEFC53-C238-41AF-B19F-CCE080CC79B3}" srcOrd="4" destOrd="0" presId="urn:microsoft.com/office/officeart/2005/8/layout/list1"/>
    <dgm:cxn modelId="{85B9C12E-17F8-4327-B340-0C60CE987548}" type="presParOf" srcId="{D5CEFC53-C238-41AF-B19F-CCE080CC79B3}" destId="{B8EF083B-2401-44D3-B792-5CB31A74C83F}" srcOrd="0" destOrd="0" presId="urn:microsoft.com/office/officeart/2005/8/layout/list1"/>
    <dgm:cxn modelId="{B485D1A3-FD93-4232-A845-987CAF336F4B}" type="presParOf" srcId="{D5CEFC53-C238-41AF-B19F-CCE080CC79B3}" destId="{EDB835CD-A8D7-4D70-865A-0145EFA1CE08}" srcOrd="1" destOrd="0" presId="urn:microsoft.com/office/officeart/2005/8/layout/list1"/>
    <dgm:cxn modelId="{F1517E75-C36B-467A-B480-B231734FDEA0}" type="presParOf" srcId="{1E792DC6-47F4-4077-B310-36259FEF48BD}" destId="{E4395A25-CDB6-49DB-BBCB-E0A394347383}" srcOrd="5" destOrd="0" presId="urn:microsoft.com/office/officeart/2005/8/layout/list1"/>
    <dgm:cxn modelId="{5B01A2B6-F20A-46BB-8D18-8750E75BA496}" type="presParOf" srcId="{1E792DC6-47F4-4077-B310-36259FEF48BD}" destId="{BBE695CC-C755-412D-AE35-4563D4B15B80}" srcOrd="6" destOrd="0" presId="urn:microsoft.com/office/officeart/2005/8/layout/list1"/>
    <dgm:cxn modelId="{F28FF984-7945-4ABC-BBA6-386F983B642A}" type="presParOf" srcId="{1E792DC6-47F4-4077-B310-36259FEF48BD}" destId="{2020F8CB-6770-4BCB-A74F-6EE65C7E6A1C}" srcOrd="7" destOrd="0" presId="urn:microsoft.com/office/officeart/2005/8/layout/list1"/>
    <dgm:cxn modelId="{796D6209-721E-4F3D-AB6F-3E3AC7B91975}" type="presParOf" srcId="{1E792DC6-47F4-4077-B310-36259FEF48BD}" destId="{F4319EC2-C040-46AA-95F1-81FB32089D01}" srcOrd="8" destOrd="0" presId="urn:microsoft.com/office/officeart/2005/8/layout/list1"/>
    <dgm:cxn modelId="{BBF071E8-85CD-445F-983C-3442DEE9785A}" type="presParOf" srcId="{F4319EC2-C040-46AA-95F1-81FB32089D01}" destId="{52B7DD03-64FB-4A64-A3AA-012DF1EDC9C2}" srcOrd="0" destOrd="0" presId="urn:microsoft.com/office/officeart/2005/8/layout/list1"/>
    <dgm:cxn modelId="{48B4BD19-A59B-4BF4-A746-DBE494A9150A}" type="presParOf" srcId="{F4319EC2-C040-46AA-95F1-81FB32089D01}" destId="{0647FBF5-8020-4ED8-A491-7DA84368AE7A}" srcOrd="1" destOrd="0" presId="urn:microsoft.com/office/officeart/2005/8/layout/list1"/>
    <dgm:cxn modelId="{47BCBF63-A930-4B6B-8B08-39B089BE1155}" type="presParOf" srcId="{1E792DC6-47F4-4077-B310-36259FEF48BD}" destId="{3878A087-92AB-4C20-A75C-1DAC8B7FAAEF}" srcOrd="9" destOrd="0" presId="urn:microsoft.com/office/officeart/2005/8/layout/list1"/>
    <dgm:cxn modelId="{C9C3C8D9-5928-41ED-82A0-F077AF483B6D}" type="presParOf" srcId="{1E792DC6-47F4-4077-B310-36259FEF48BD}" destId="{18E3AAAE-4EC3-4D69-8A34-33E29B419752}" srcOrd="10" destOrd="0" presId="urn:microsoft.com/office/officeart/2005/8/layout/list1"/>
    <dgm:cxn modelId="{DB0E6466-D8D7-4907-9D96-D3D485F972F7}" type="presParOf" srcId="{1E792DC6-47F4-4077-B310-36259FEF48BD}" destId="{3BA78704-5610-4FE0-BCF8-506B37B3168E}" srcOrd="11" destOrd="0" presId="urn:microsoft.com/office/officeart/2005/8/layout/list1"/>
    <dgm:cxn modelId="{02219815-857C-41AD-82E0-BE12A1D2C8F5}" type="presParOf" srcId="{1E792DC6-47F4-4077-B310-36259FEF48BD}" destId="{91FE71D6-B664-448F-9F77-FC1C76683838}" srcOrd="12" destOrd="0" presId="urn:microsoft.com/office/officeart/2005/8/layout/list1"/>
    <dgm:cxn modelId="{206C9798-32DE-4377-8131-B91D5562AFFE}" type="presParOf" srcId="{91FE71D6-B664-448F-9F77-FC1C76683838}" destId="{25810D78-8B0D-444C-B293-361170AF48DD}" srcOrd="0" destOrd="0" presId="urn:microsoft.com/office/officeart/2005/8/layout/list1"/>
    <dgm:cxn modelId="{72986763-CC8C-415A-A3BA-AFE14DAD48DC}" type="presParOf" srcId="{91FE71D6-B664-448F-9F77-FC1C76683838}" destId="{8BCB2048-955F-4615-88A1-8086D918EA31}" srcOrd="1" destOrd="0" presId="urn:microsoft.com/office/officeart/2005/8/layout/list1"/>
    <dgm:cxn modelId="{68028B21-4FB4-4B93-BCDE-C291EC94E214}" type="presParOf" srcId="{1E792DC6-47F4-4077-B310-36259FEF48BD}" destId="{B6C09046-0B0E-41DD-9D2A-68FF07CB2BAF}" srcOrd="13" destOrd="0" presId="urn:microsoft.com/office/officeart/2005/8/layout/list1"/>
    <dgm:cxn modelId="{588AD9A7-DAE4-48A7-8934-B0D2789594F2}" type="presParOf" srcId="{1E792DC6-47F4-4077-B310-36259FEF48BD}" destId="{5087B9F9-72FF-4F2D-9FC9-CD88881CCC5A}"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DFE4D13-5441-4396-8AC5-C9A99F65950C}" type="doc">
      <dgm:prSet loTypeId="urn:microsoft.com/office/officeart/2005/8/layout/vList2" loCatId="list" qsTypeId="urn:microsoft.com/office/officeart/2005/8/quickstyle/simple1" qsCatId="simple" csTypeId="urn:microsoft.com/office/officeart/2005/8/colors/accent2_1" csCatId="accent2" phldr="1"/>
      <dgm:spPr/>
      <dgm:t>
        <a:bodyPr/>
        <a:lstStyle/>
        <a:p>
          <a:endParaRPr lang="es-ES"/>
        </a:p>
      </dgm:t>
    </dgm:pt>
    <dgm:pt modelId="{4E3346C4-75C0-4F7D-8A3E-C38864DBB171}">
      <dgm:prSet phldrT="[Texto]" custT="1"/>
      <dgm:spPr/>
      <dgm:t>
        <a:bodyPr/>
        <a:lstStyle/>
        <a:p>
          <a:r>
            <a:rPr lang="es-ES" sz="2800" dirty="0">
              <a:latin typeface="Century Gothic" panose="020B0502020202020204" pitchFamily="34" charset="0"/>
            </a:rPr>
            <a:t>Variable A: Sexo del jefe del hogar</a:t>
          </a:r>
        </a:p>
      </dgm:t>
    </dgm:pt>
    <dgm:pt modelId="{1828E000-E547-401A-900D-1AD2B3F38DC8}" type="parTrans" cxnId="{CC91A665-7E8D-4A18-97FF-8DE9A294761E}">
      <dgm:prSet/>
      <dgm:spPr/>
      <dgm:t>
        <a:bodyPr/>
        <a:lstStyle/>
        <a:p>
          <a:endParaRPr lang="es-ES" sz="1400">
            <a:latin typeface="Century Gothic" panose="020B0502020202020204" pitchFamily="34" charset="0"/>
          </a:endParaRPr>
        </a:p>
      </dgm:t>
    </dgm:pt>
    <dgm:pt modelId="{577EC8FC-36CC-4986-B18C-D7E77C554518}" type="sibTrans" cxnId="{CC91A665-7E8D-4A18-97FF-8DE9A294761E}">
      <dgm:prSet/>
      <dgm:spPr/>
      <dgm:t>
        <a:bodyPr/>
        <a:lstStyle/>
        <a:p>
          <a:endParaRPr lang="es-ES" sz="1400">
            <a:latin typeface="Century Gothic" panose="020B0502020202020204" pitchFamily="34" charset="0"/>
          </a:endParaRPr>
        </a:p>
      </dgm:t>
    </dgm:pt>
    <dgm:pt modelId="{98459792-B68B-4510-9D69-008B022AB6CE}">
      <dgm:prSet phldrT="[Texto]" custT="1"/>
      <dgm:spPr/>
      <dgm:t>
        <a:bodyPr/>
        <a:lstStyle/>
        <a:p>
          <a:r>
            <a:rPr lang="es-ES" sz="2000" dirty="0">
              <a:latin typeface="Century Gothic" panose="020B0502020202020204" pitchFamily="34" charset="0"/>
            </a:rPr>
            <a:t>Opciones de respuesta: Hombre/Mujer </a:t>
          </a:r>
        </a:p>
      </dgm:t>
    </dgm:pt>
    <dgm:pt modelId="{A6C25505-59F4-4250-A32C-F72C2190B2B4}" type="parTrans" cxnId="{DC072D64-086E-445A-AF23-DE08DF79A88A}">
      <dgm:prSet/>
      <dgm:spPr/>
      <dgm:t>
        <a:bodyPr/>
        <a:lstStyle/>
        <a:p>
          <a:endParaRPr lang="es-ES" sz="1400">
            <a:latin typeface="Century Gothic" panose="020B0502020202020204" pitchFamily="34" charset="0"/>
          </a:endParaRPr>
        </a:p>
      </dgm:t>
    </dgm:pt>
    <dgm:pt modelId="{6E156F5A-7E08-42F0-932E-ECCD108B1390}" type="sibTrans" cxnId="{DC072D64-086E-445A-AF23-DE08DF79A88A}">
      <dgm:prSet/>
      <dgm:spPr/>
      <dgm:t>
        <a:bodyPr/>
        <a:lstStyle/>
        <a:p>
          <a:endParaRPr lang="es-ES" sz="1400">
            <a:latin typeface="Century Gothic" panose="020B0502020202020204" pitchFamily="34" charset="0"/>
          </a:endParaRPr>
        </a:p>
      </dgm:t>
    </dgm:pt>
    <dgm:pt modelId="{74106C6C-207A-4716-9227-BC4A4E1B8680}">
      <dgm:prSet phldrT="[Texto]" custT="1"/>
      <dgm:spPr/>
      <dgm:t>
        <a:bodyPr/>
        <a:lstStyle/>
        <a:p>
          <a:r>
            <a:rPr lang="es-ES" sz="2800" dirty="0">
              <a:latin typeface="Century Gothic" panose="020B0502020202020204" pitchFamily="34" charset="0"/>
            </a:rPr>
            <a:t>Variable B: Perceptor de Ingresos</a:t>
          </a:r>
        </a:p>
      </dgm:t>
    </dgm:pt>
    <dgm:pt modelId="{0AFD2CD3-4729-44B3-A273-EAE4697CD76A}" type="parTrans" cxnId="{E8F24728-9A56-457F-A4B4-980F743576DB}">
      <dgm:prSet/>
      <dgm:spPr/>
      <dgm:t>
        <a:bodyPr/>
        <a:lstStyle/>
        <a:p>
          <a:endParaRPr lang="es-ES" sz="1400">
            <a:latin typeface="Century Gothic" panose="020B0502020202020204" pitchFamily="34" charset="0"/>
          </a:endParaRPr>
        </a:p>
      </dgm:t>
    </dgm:pt>
    <dgm:pt modelId="{705ACE9C-CB54-4215-B598-CA3B0B23ACC1}" type="sibTrans" cxnId="{E8F24728-9A56-457F-A4B4-980F743576DB}">
      <dgm:prSet/>
      <dgm:spPr/>
      <dgm:t>
        <a:bodyPr/>
        <a:lstStyle/>
        <a:p>
          <a:endParaRPr lang="es-ES" sz="1400">
            <a:latin typeface="Century Gothic" panose="020B0502020202020204" pitchFamily="34" charset="0"/>
          </a:endParaRPr>
        </a:p>
      </dgm:t>
    </dgm:pt>
    <dgm:pt modelId="{6BA39248-B5D1-4FFD-ABC3-9BDADE284265}">
      <dgm:prSet phldrT="[Texto]" custT="1"/>
      <dgm:spPr/>
      <dgm:t>
        <a:bodyPr/>
        <a:lstStyle/>
        <a:p>
          <a:r>
            <a:rPr lang="es-ES" sz="2000" dirty="0">
              <a:latin typeface="Century Gothic" panose="020B0502020202020204" pitchFamily="34" charset="0"/>
            </a:rPr>
            <a:t>Opciones de respuesta: Si/No</a:t>
          </a:r>
        </a:p>
      </dgm:t>
    </dgm:pt>
    <dgm:pt modelId="{40D4371C-E322-400F-A9F9-D051DEBE5668}" type="parTrans" cxnId="{7D7E6945-C317-4C72-9D00-07B21EE61647}">
      <dgm:prSet/>
      <dgm:spPr/>
      <dgm:t>
        <a:bodyPr/>
        <a:lstStyle/>
        <a:p>
          <a:endParaRPr lang="es-ES" sz="1400">
            <a:latin typeface="Century Gothic" panose="020B0502020202020204" pitchFamily="34" charset="0"/>
          </a:endParaRPr>
        </a:p>
      </dgm:t>
    </dgm:pt>
    <dgm:pt modelId="{9622047F-C707-43A0-A6C2-1FF83DDF1B59}" type="sibTrans" cxnId="{7D7E6945-C317-4C72-9D00-07B21EE61647}">
      <dgm:prSet/>
      <dgm:spPr/>
      <dgm:t>
        <a:bodyPr/>
        <a:lstStyle/>
        <a:p>
          <a:endParaRPr lang="es-ES" sz="1400">
            <a:latin typeface="Century Gothic" panose="020B0502020202020204" pitchFamily="34" charset="0"/>
          </a:endParaRPr>
        </a:p>
      </dgm:t>
    </dgm:pt>
    <dgm:pt modelId="{F2D7FACA-71C7-48F4-9171-ADDF89242D6E}" type="pres">
      <dgm:prSet presAssocID="{9DFE4D13-5441-4396-8AC5-C9A99F65950C}" presName="linear" presStyleCnt="0">
        <dgm:presLayoutVars>
          <dgm:animLvl val="lvl"/>
          <dgm:resizeHandles val="exact"/>
        </dgm:presLayoutVars>
      </dgm:prSet>
      <dgm:spPr/>
    </dgm:pt>
    <dgm:pt modelId="{72FAB38A-F6BA-4ACF-AF3F-A63DEEAAAC4F}" type="pres">
      <dgm:prSet presAssocID="{4E3346C4-75C0-4F7D-8A3E-C38864DBB171}" presName="parentText" presStyleLbl="node1" presStyleIdx="0" presStyleCnt="2">
        <dgm:presLayoutVars>
          <dgm:chMax val="0"/>
          <dgm:bulletEnabled val="1"/>
        </dgm:presLayoutVars>
      </dgm:prSet>
      <dgm:spPr/>
    </dgm:pt>
    <dgm:pt modelId="{7813C3B5-2383-40C0-BCC8-88BB43FF330E}" type="pres">
      <dgm:prSet presAssocID="{4E3346C4-75C0-4F7D-8A3E-C38864DBB171}" presName="childText" presStyleLbl="revTx" presStyleIdx="0" presStyleCnt="2">
        <dgm:presLayoutVars>
          <dgm:bulletEnabled val="1"/>
        </dgm:presLayoutVars>
      </dgm:prSet>
      <dgm:spPr/>
    </dgm:pt>
    <dgm:pt modelId="{D0AB6777-250F-4A30-92F3-6FAADE9FAA67}" type="pres">
      <dgm:prSet presAssocID="{74106C6C-207A-4716-9227-BC4A4E1B8680}" presName="parentText" presStyleLbl="node1" presStyleIdx="1" presStyleCnt="2">
        <dgm:presLayoutVars>
          <dgm:chMax val="0"/>
          <dgm:bulletEnabled val="1"/>
        </dgm:presLayoutVars>
      </dgm:prSet>
      <dgm:spPr/>
    </dgm:pt>
    <dgm:pt modelId="{7E127073-C200-41D7-9BA5-571CEE9012AD}" type="pres">
      <dgm:prSet presAssocID="{74106C6C-207A-4716-9227-BC4A4E1B8680}" presName="childText" presStyleLbl="revTx" presStyleIdx="1" presStyleCnt="2">
        <dgm:presLayoutVars>
          <dgm:bulletEnabled val="1"/>
        </dgm:presLayoutVars>
      </dgm:prSet>
      <dgm:spPr/>
    </dgm:pt>
  </dgm:ptLst>
  <dgm:cxnLst>
    <dgm:cxn modelId="{E8F24728-9A56-457F-A4B4-980F743576DB}" srcId="{9DFE4D13-5441-4396-8AC5-C9A99F65950C}" destId="{74106C6C-207A-4716-9227-BC4A4E1B8680}" srcOrd="1" destOrd="0" parTransId="{0AFD2CD3-4729-44B3-A273-EAE4697CD76A}" sibTransId="{705ACE9C-CB54-4215-B598-CA3B0B23ACC1}"/>
    <dgm:cxn modelId="{E621433E-CEC9-4A9E-9D98-CB92954790E5}" type="presOf" srcId="{9DFE4D13-5441-4396-8AC5-C9A99F65950C}" destId="{F2D7FACA-71C7-48F4-9171-ADDF89242D6E}" srcOrd="0" destOrd="0" presId="urn:microsoft.com/office/officeart/2005/8/layout/vList2"/>
    <dgm:cxn modelId="{DC072D64-086E-445A-AF23-DE08DF79A88A}" srcId="{4E3346C4-75C0-4F7D-8A3E-C38864DBB171}" destId="{98459792-B68B-4510-9D69-008B022AB6CE}" srcOrd="0" destOrd="0" parTransId="{A6C25505-59F4-4250-A32C-F72C2190B2B4}" sibTransId="{6E156F5A-7E08-42F0-932E-ECCD108B1390}"/>
    <dgm:cxn modelId="{7D7E6945-C317-4C72-9D00-07B21EE61647}" srcId="{74106C6C-207A-4716-9227-BC4A4E1B8680}" destId="{6BA39248-B5D1-4FFD-ABC3-9BDADE284265}" srcOrd="0" destOrd="0" parTransId="{40D4371C-E322-400F-A9F9-D051DEBE5668}" sibTransId="{9622047F-C707-43A0-A6C2-1FF83DDF1B59}"/>
    <dgm:cxn modelId="{CC91A665-7E8D-4A18-97FF-8DE9A294761E}" srcId="{9DFE4D13-5441-4396-8AC5-C9A99F65950C}" destId="{4E3346C4-75C0-4F7D-8A3E-C38864DBB171}" srcOrd="0" destOrd="0" parTransId="{1828E000-E547-401A-900D-1AD2B3F38DC8}" sibTransId="{577EC8FC-36CC-4986-B18C-D7E77C554518}"/>
    <dgm:cxn modelId="{7246A94C-2920-4CB5-BC28-E3BCA8A7EB94}" type="presOf" srcId="{98459792-B68B-4510-9D69-008B022AB6CE}" destId="{7813C3B5-2383-40C0-BCC8-88BB43FF330E}" srcOrd="0" destOrd="0" presId="urn:microsoft.com/office/officeart/2005/8/layout/vList2"/>
    <dgm:cxn modelId="{B4A6C1A6-77D7-495D-B604-785A2FA3D4B8}" type="presOf" srcId="{74106C6C-207A-4716-9227-BC4A4E1B8680}" destId="{D0AB6777-250F-4A30-92F3-6FAADE9FAA67}" srcOrd="0" destOrd="0" presId="urn:microsoft.com/office/officeart/2005/8/layout/vList2"/>
    <dgm:cxn modelId="{B2F655D6-E248-47C2-83CD-A72B8338E70F}" type="presOf" srcId="{6BA39248-B5D1-4FFD-ABC3-9BDADE284265}" destId="{7E127073-C200-41D7-9BA5-571CEE9012AD}" srcOrd="0" destOrd="0" presId="urn:microsoft.com/office/officeart/2005/8/layout/vList2"/>
    <dgm:cxn modelId="{6A2A90D9-DD4F-427E-B2BE-E2642FFC03D6}" type="presOf" srcId="{4E3346C4-75C0-4F7D-8A3E-C38864DBB171}" destId="{72FAB38A-F6BA-4ACF-AF3F-A63DEEAAAC4F}" srcOrd="0" destOrd="0" presId="urn:microsoft.com/office/officeart/2005/8/layout/vList2"/>
    <dgm:cxn modelId="{03EAC7F8-5084-4D8E-9A06-A0A5AC5C2049}" type="presParOf" srcId="{F2D7FACA-71C7-48F4-9171-ADDF89242D6E}" destId="{72FAB38A-F6BA-4ACF-AF3F-A63DEEAAAC4F}" srcOrd="0" destOrd="0" presId="urn:microsoft.com/office/officeart/2005/8/layout/vList2"/>
    <dgm:cxn modelId="{74C68133-37CC-4FA4-9EB1-767AE08E56AC}" type="presParOf" srcId="{F2D7FACA-71C7-48F4-9171-ADDF89242D6E}" destId="{7813C3B5-2383-40C0-BCC8-88BB43FF330E}" srcOrd="1" destOrd="0" presId="urn:microsoft.com/office/officeart/2005/8/layout/vList2"/>
    <dgm:cxn modelId="{CA246B06-2B9F-468A-A854-67FD6EDA418D}" type="presParOf" srcId="{F2D7FACA-71C7-48F4-9171-ADDF89242D6E}" destId="{D0AB6777-250F-4A30-92F3-6FAADE9FAA67}" srcOrd="2" destOrd="0" presId="urn:microsoft.com/office/officeart/2005/8/layout/vList2"/>
    <dgm:cxn modelId="{28312A88-7327-4841-8E08-A3D265DF30AD}" type="presParOf" srcId="{F2D7FACA-71C7-48F4-9171-ADDF89242D6E}" destId="{7E127073-C200-41D7-9BA5-571CEE9012AD}"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DFE4D13-5441-4396-8AC5-C9A99F65950C}" type="doc">
      <dgm:prSet loTypeId="urn:microsoft.com/office/officeart/2005/8/layout/vList2" loCatId="list" qsTypeId="urn:microsoft.com/office/officeart/2005/8/quickstyle/simple1" qsCatId="simple" csTypeId="urn:microsoft.com/office/officeart/2005/8/colors/accent2_1" csCatId="accent2" phldr="1"/>
      <dgm:spPr/>
      <dgm:t>
        <a:bodyPr/>
        <a:lstStyle/>
        <a:p>
          <a:endParaRPr lang="es-ES"/>
        </a:p>
      </dgm:t>
    </dgm:pt>
    <dgm:pt modelId="{4E3346C4-75C0-4F7D-8A3E-C38864DBB171}">
      <dgm:prSet phldrT="[Texto]" custT="1"/>
      <dgm:spPr/>
      <dgm:t>
        <a:bodyPr/>
        <a:lstStyle/>
        <a:p>
          <a:r>
            <a:rPr lang="es-ES" sz="2800" dirty="0">
              <a:latin typeface="Century Gothic" panose="020B0502020202020204" pitchFamily="34" charset="0"/>
            </a:rPr>
            <a:t>Variable A: Ingreso corriente per cápita </a:t>
          </a:r>
        </a:p>
      </dgm:t>
    </dgm:pt>
    <dgm:pt modelId="{1828E000-E547-401A-900D-1AD2B3F38DC8}" type="parTrans" cxnId="{CC91A665-7E8D-4A18-97FF-8DE9A294761E}">
      <dgm:prSet/>
      <dgm:spPr/>
      <dgm:t>
        <a:bodyPr/>
        <a:lstStyle/>
        <a:p>
          <a:endParaRPr lang="es-ES" sz="1400">
            <a:latin typeface="Century Gothic" panose="020B0502020202020204" pitchFamily="34" charset="0"/>
          </a:endParaRPr>
        </a:p>
      </dgm:t>
    </dgm:pt>
    <dgm:pt modelId="{577EC8FC-36CC-4986-B18C-D7E77C554518}" type="sibTrans" cxnId="{CC91A665-7E8D-4A18-97FF-8DE9A294761E}">
      <dgm:prSet/>
      <dgm:spPr/>
      <dgm:t>
        <a:bodyPr/>
        <a:lstStyle/>
        <a:p>
          <a:endParaRPr lang="es-ES" sz="1400">
            <a:latin typeface="Century Gothic" panose="020B0502020202020204" pitchFamily="34" charset="0"/>
          </a:endParaRPr>
        </a:p>
      </dgm:t>
    </dgm:pt>
    <dgm:pt modelId="{98459792-B68B-4510-9D69-008B022AB6CE}">
      <dgm:prSet phldrT="[Texto]" custT="1"/>
      <dgm:spPr/>
      <dgm:t>
        <a:bodyPr/>
        <a:lstStyle/>
        <a:p>
          <a:r>
            <a:rPr lang="es-ES" sz="2000" dirty="0">
              <a:latin typeface="Century Gothic" panose="020B0502020202020204" pitchFamily="34" charset="0"/>
            </a:rPr>
            <a:t>Soporte: Valores </a:t>
          </a:r>
          <a:r>
            <a:rPr lang="en-US" sz="2000" dirty="0">
              <a:latin typeface="Century Gothic" panose="020B0502020202020204" pitchFamily="34" charset="0"/>
            </a:rPr>
            <a:t>≥ 0, </a:t>
          </a:r>
          <a:r>
            <a:rPr lang="en-US" sz="2000" dirty="0" err="1">
              <a:latin typeface="Century Gothic" panose="020B0502020202020204" pitchFamily="34" charset="0"/>
            </a:rPr>
            <a:t>en</a:t>
          </a:r>
          <a:r>
            <a:rPr lang="en-US" sz="2000" dirty="0">
              <a:latin typeface="Century Gothic" panose="020B0502020202020204" pitchFamily="34" charset="0"/>
            </a:rPr>
            <a:t> </a:t>
          </a:r>
          <a:r>
            <a:rPr lang="en-US" sz="2000" dirty="0" err="1">
              <a:latin typeface="Century Gothic" panose="020B0502020202020204" pitchFamily="34" charset="0"/>
            </a:rPr>
            <a:t>dolares</a:t>
          </a:r>
          <a:r>
            <a:rPr lang="en-US" sz="2000" dirty="0">
              <a:latin typeface="Century Gothic" panose="020B0502020202020204" pitchFamily="34" charset="0"/>
            </a:rPr>
            <a:t> </a:t>
          </a:r>
          <a:r>
            <a:rPr lang="en-US" sz="2000" dirty="0" err="1">
              <a:latin typeface="Century Gothic" panose="020B0502020202020204" pitchFamily="34" charset="0"/>
            </a:rPr>
            <a:t>mensuales</a:t>
          </a:r>
          <a:endParaRPr lang="es-ES" sz="2000" dirty="0">
            <a:latin typeface="Century Gothic" panose="020B0502020202020204" pitchFamily="34" charset="0"/>
          </a:endParaRPr>
        </a:p>
      </dgm:t>
    </dgm:pt>
    <dgm:pt modelId="{A6C25505-59F4-4250-A32C-F72C2190B2B4}" type="parTrans" cxnId="{DC072D64-086E-445A-AF23-DE08DF79A88A}">
      <dgm:prSet/>
      <dgm:spPr/>
      <dgm:t>
        <a:bodyPr/>
        <a:lstStyle/>
        <a:p>
          <a:endParaRPr lang="es-ES" sz="1400">
            <a:latin typeface="Century Gothic" panose="020B0502020202020204" pitchFamily="34" charset="0"/>
          </a:endParaRPr>
        </a:p>
      </dgm:t>
    </dgm:pt>
    <dgm:pt modelId="{6E156F5A-7E08-42F0-932E-ECCD108B1390}" type="sibTrans" cxnId="{DC072D64-086E-445A-AF23-DE08DF79A88A}">
      <dgm:prSet/>
      <dgm:spPr/>
      <dgm:t>
        <a:bodyPr/>
        <a:lstStyle/>
        <a:p>
          <a:endParaRPr lang="es-ES" sz="1400">
            <a:latin typeface="Century Gothic" panose="020B0502020202020204" pitchFamily="34" charset="0"/>
          </a:endParaRPr>
        </a:p>
      </dgm:t>
    </dgm:pt>
    <dgm:pt modelId="{74106C6C-207A-4716-9227-BC4A4E1B8680}">
      <dgm:prSet phldrT="[Texto]" custT="1"/>
      <dgm:spPr/>
      <dgm:t>
        <a:bodyPr/>
        <a:lstStyle/>
        <a:p>
          <a:r>
            <a:rPr lang="es-ES" sz="2800" dirty="0">
              <a:latin typeface="Century Gothic" panose="020B0502020202020204" pitchFamily="34" charset="0"/>
            </a:rPr>
            <a:t>Variable B: </a:t>
          </a:r>
          <a:r>
            <a:rPr lang="en-US" sz="2800" dirty="0" err="1">
              <a:latin typeface="Century Gothic" panose="020B0502020202020204" pitchFamily="34" charset="0"/>
            </a:rPr>
            <a:t>Gasto</a:t>
          </a:r>
          <a:r>
            <a:rPr lang="en-US" sz="2800" dirty="0">
              <a:latin typeface="Century Gothic" panose="020B0502020202020204" pitchFamily="34" charset="0"/>
            </a:rPr>
            <a:t> </a:t>
          </a:r>
          <a:r>
            <a:rPr lang="en-US" sz="2800" dirty="0" err="1">
              <a:latin typeface="Century Gothic" panose="020B0502020202020204" pitchFamily="34" charset="0"/>
            </a:rPr>
            <a:t>corriente</a:t>
          </a:r>
          <a:r>
            <a:rPr lang="en-US" sz="2800" dirty="0">
              <a:latin typeface="Century Gothic" panose="020B0502020202020204" pitchFamily="34" charset="0"/>
            </a:rPr>
            <a:t> de </a:t>
          </a:r>
          <a:r>
            <a:rPr lang="en-US" sz="2800" dirty="0" err="1">
              <a:latin typeface="Century Gothic" panose="020B0502020202020204" pitchFamily="34" charset="0"/>
            </a:rPr>
            <a:t>consumo</a:t>
          </a:r>
          <a:endParaRPr lang="es-ES" sz="2800" dirty="0">
            <a:latin typeface="Century Gothic" panose="020B0502020202020204" pitchFamily="34" charset="0"/>
          </a:endParaRPr>
        </a:p>
      </dgm:t>
    </dgm:pt>
    <dgm:pt modelId="{0AFD2CD3-4729-44B3-A273-EAE4697CD76A}" type="parTrans" cxnId="{E8F24728-9A56-457F-A4B4-980F743576DB}">
      <dgm:prSet/>
      <dgm:spPr/>
      <dgm:t>
        <a:bodyPr/>
        <a:lstStyle/>
        <a:p>
          <a:endParaRPr lang="es-ES" sz="1400">
            <a:latin typeface="Century Gothic" panose="020B0502020202020204" pitchFamily="34" charset="0"/>
          </a:endParaRPr>
        </a:p>
      </dgm:t>
    </dgm:pt>
    <dgm:pt modelId="{705ACE9C-CB54-4215-B598-CA3B0B23ACC1}" type="sibTrans" cxnId="{E8F24728-9A56-457F-A4B4-980F743576DB}">
      <dgm:prSet/>
      <dgm:spPr/>
      <dgm:t>
        <a:bodyPr/>
        <a:lstStyle/>
        <a:p>
          <a:endParaRPr lang="es-ES" sz="1400">
            <a:latin typeface="Century Gothic" panose="020B0502020202020204" pitchFamily="34" charset="0"/>
          </a:endParaRPr>
        </a:p>
      </dgm:t>
    </dgm:pt>
    <dgm:pt modelId="{6BA39248-B5D1-4FFD-ABC3-9BDADE284265}">
      <dgm:prSet phldrT="[Texto]" custT="1"/>
      <dgm:spPr/>
      <dgm:t>
        <a:bodyPr/>
        <a:lstStyle/>
        <a:p>
          <a:r>
            <a:rPr lang="es-ES" sz="2000" dirty="0">
              <a:latin typeface="Century Gothic" panose="020B0502020202020204" pitchFamily="34" charset="0"/>
            </a:rPr>
            <a:t>Soporte: </a:t>
          </a:r>
          <a:r>
            <a:rPr lang="es-MX" sz="2000" dirty="0">
              <a:latin typeface="Century Gothic" panose="020B0502020202020204" pitchFamily="34" charset="0"/>
            </a:rPr>
            <a:t>valores ≥ 0, en dólares (USD) mensuales</a:t>
          </a:r>
          <a:endParaRPr lang="es-ES" sz="2000" dirty="0">
            <a:latin typeface="Century Gothic" panose="020B0502020202020204" pitchFamily="34" charset="0"/>
          </a:endParaRPr>
        </a:p>
      </dgm:t>
    </dgm:pt>
    <dgm:pt modelId="{40D4371C-E322-400F-A9F9-D051DEBE5668}" type="parTrans" cxnId="{7D7E6945-C317-4C72-9D00-07B21EE61647}">
      <dgm:prSet/>
      <dgm:spPr/>
      <dgm:t>
        <a:bodyPr/>
        <a:lstStyle/>
        <a:p>
          <a:endParaRPr lang="es-ES" sz="1400">
            <a:latin typeface="Century Gothic" panose="020B0502020202020204" pitchFamily="34" charset="0"/>
          </a:endParaRPr>
        </a:p>
      </dgm:t>
    </dgm:pt>
    <dgm:pt modelId="{9622047F-C707-43A0-A6C2-1FF83DDF1B59}" type="sibTrans" cxnId="{7D7E6945-C317-4C72-9D00-07B21EE61647}">
      <dgm:prSet/>
      <dgm:spPr/>
      <dgm:t>
        <a:bodyPr/>
        <a:lstStyle/>
        <a:p>
          <a:endParaRPr lang="es-ES" sz="1400">
            <a:latin typeface="Century Gothic" panose="020B0502020202020204" pitchFamily="34" charset="0"/>
          </a:endParaRPr>
        </a:p>
      </dgm:t>
    </dgm:pt>
    <dgm:pt modelId="{F2D7FACA-71C7-48F4-9171-ADDF89242D6E}" type="pres">
      <dgm:prSet presAssocID="{9DFE4D13-5441-4396-8AC5-C9A99F65950C}" presName="linear" presStyleCnt="0">
        <dgm:presLayoutVars>
          <dgm:animLvl val="lvl"/>
          <dgm:resizeHandles val="exact"/>
        </dgm:presLayoutVars>
      </dgm:prSet>
      <dgm:spPr/>
    </dgm:pt>
    <dgm:pt modelId="{72FAB38A-F6BA-4ACF-AF3F-A63DEEAAAC4F}" type="pres">
      <dgm:prSet presAssocID="{4E3346C4-75C0-4F7D-8A3E-C38864DBB171}" presName="parentText" presStyleLbl="node1" presStyleIdx="0" presStyleCnt="2">
        <dgm:presLayoutVars>
          <dgm:chMax val="0"/>
          <dgm:bulletEnabled val="1"/>
        </dgm:presLayoutVars>
      </dgm:prSet>
      <dgm:spPr/>
    </dgm:pt>
    <dgm:pt modelId="{7813C3B5-2383-40C0-BCC8-88BB43FF330E}" type="pres">
      <dgm:prSet presAssocID="{4E3346C4-75C0-4F7D-8A3E-C38864DBB171}" presName="childText" presStyleLbl="revTx" presStyleIdx="0" presStyleCnt="2">
        <dgm:presLayoutVars>
          <dgm:bulletEnabled val="1"/>
        </dgm:presLayoutVars>
      </dgm:prSet>
      <dgm:spPr/>
    </dgm:pt>
    <dgm:pt modelId="{D0AB6777-250F-4A30-92F3-6FAADE9FAA67}" type="pres">
      <dgm:prSet presAssocID="{74106C6C-207A-4716-9227-BC4A4E1B8680}" presName="parentText" presStyleLbl="node1" presStyleIdx="1" presStyleCnt="2">
        <dgm:presLayoutVars>
          <dgm:chMax val="0"/>
          <dgm:bulletEnabled val="1"/>
        </dgm:presLayoutVars>
      </dgm:prSet>
      <dgm:spPr/>
    </dgm:pt>
    <dgm:pt modelId="{7E127073-C200-41D7-9BA5-571CEE9012AD}" type="pres">
      <dgm:prSet presAssocID="{74106C6C-207A-4716-9227-BC4A4E1B8680}" presName="childText" presStyleLbl="revTx" presStyleIdx="1" presStyleCnt="2">
        <dgm:presLayoutVars>
          <dgm:bulletEnabled val="1"/>
        </dgm:presLayoutVars>
      </dgm:prSet>
      <dgm:spPr/>
    </dgm:pt>
  </dgm:ptLst>
  <dgm:cxnLst>
    <dgm:cxn modelId="{E8F24728-9A56-457F-A4B4-980F743576DB}" srcId="{9DFE4D13-5441-4396-8AC5-C9A99F65950C}" destId="{74106C6C-207A-4716-9227-BC4A4E1B8680}" srcOrd="1" destOrd="0" parTransId="{0AFD2CD3-4729-44B3-A273-EAE4697CD76A}" sibTransId="{705ACE9C-CB54-4215-B598-CA3B0B23ACC1}"/>
    <dgm:cxn modelId="{E621433E-CEC9-4A9E-9D98-CB92954790E5}" type="presOf" srcId="{9DFE4D13-5441-4396-8AC5-C9A99F65950C}" destId="{F2D7FACA-71C7-48F4-9171-ADDF89242D6E}" srcOrd="0" destOrd="0" presId="urn:microsoft.com/office/officeart/2005/8/layout/vList2"/>
    <dgm:cxn modelId="{DC072D64-086E-445A-AF23-DE08DF79A88A}" srcId="{4E3346C4-75C0-4F7D-8A3E-C38864DBB171}" destId="{98459792-B68B-4510-9D69-008B022AB6CE}" srcOrd="0" destOrd="0" parTransId="{A6C25505-59F4-4250-A32C-F72C2190B2B4}" sibTransId="{6E156F5A-7E08-42F0-932E-ECCD108B1390}"/>
    <dgm:cxn modelId="{7D7E6945-C317-4C72-9D00-07B21EE61647}" srcId="{74106C6C-207A-4716-9227-BC4A4E1B8680}" destId="{6BA39248-B5D1-4FFD-ABC3-9BDADE284265}" srcOrd="0" destOrd="0" parTransId="{40D4371C-E322-400F-A9F9-D051DEBE5668}" sibTransId="{9622047F-C707-43A0-A6C2-1FF83DDF1B59}"/>
    <dgm:cxn modelId="{CC91A665-7E8D-4A18-97FF-8DE9A294761E}" srcId="{9DFE4D13-5441-4396-8AC5-C9A99F65950C}" destId="{4E3346C4-75C0-4F7D-8A3E-C38864DBB171}" srcOrd="0" destOrd="0" parTransId="{1828E000-E547-401A-900D-1AD2B3F38DC8}" sibTransId="{577EC8FC-36CC-4986-B18C-D7E77C554518}"/>
    <dgm:cxn modelId="{7246A94C-2920-4CB5-BC28-E3BCA8A7EB94}" type="presOf" srcId="{98459792-B68B-4510-9D69-008B022AB6CE}" destId="{7813C3B5-2383-40C0-BCC8-88BB43FF330E}" srcOrd="0" destOrd="0" presId="urn:microsoft.com/office/officeart/2005/8/layout/vList2"/>
    <dgm:cxn modelId="{B4A6C1A6-77D7-495D-B604-785A2FA3D4B8}" type="presOf" srcId="{74106C6C-207A-4716-9227-BC4A4E1B8680}" destId="{D0AB6777-250F-4A30-92F3-6FAADE9FAA67}" srcOrd="0" destOrd="0" presId="urn:microsoft.com/office/officeart/2005/8/layout/vList2"/>
    <dgm:cxn modelId="{B2F655D6-E248-47C2-83CD-A72B8338E70F}" type="presOf" srcId="{6BA39248-B5D1-4FFD-ABC3-9BDADE284265}" destId="{7E127073-C200-41D7-9BA5-571CEE9012AD}" srcOrd="0" destOrd="0" presId="urn:microsoft.com/office/officeart/2005/8/layout/vList2"/>
    <dgm:cxn modelId="{6A2A90D9-DD4F-427E-B2BE-E2642FFC03D6}" type="presOf" srcId="{4E3346C4-75C0-4F7D-8A3E-C38864DBB171}" destId="{72FAB38A-F6BA-4ACF-AF3F-A63DEEAAAC4F}" srcOrd="0" destOrd="0" presId="urn:microsoft.com/office/officeart/2005/8/layout/vList2"/>
    <dgm:cxn modelId="{03EAC7F8-5084-4D8E-9A06-A0A5AC5C2049}" type="presParOf" srcId="{F2D7FACA-71C7-48F4-9171-ADDF89242D6E}" destId="{72FAB38A-F6BA-4ACF-AF3F-A63DEEAAAC4F}" srcOrd="0" destOrd="0" presId="urn:microsoft.com/office/officeart/2005/8/layout/vList2"/>
    <dgm:cxn modelId="{74C68133-37CC-4FA4-9EB1-767AE08E56AC}" type="presParOf" srcId="{F2D7FACA-71C7-48F4-9171-ADDF89242D6E}" destId="{7813C3B5-2383-40C0-BCC8-88BB43FF330E}" srcOrd="1" destOrd="0" presId="urn:microsoft.com/office/officeart/2005/8/layout/vList2"/>
    <dgm:cxn modelId="{CA246B06-2B9F-468A-A854-67FD6EDA418D}" type="presParOf" srcId="{F2D7FACA-71C7-48F4-9171-ADDF89242D6E}" destId="{D0AB6777-250F-4A30-92F3-6FAADE9FAA67}" srcOrd="2" destOrd="0" presId="urn:microsoft.com/office/officeart/2005/8/layout/vList2"/>
    <dgm:cxn modelId="{28312A88-7327-4841-8E08-A3D265DF30AD}" type="presParOf" srcId="{F2D7FACA-71C7-48F4-9171-ADDF89242D6E}" destId="{7E127073-C200-41D7-9BA5-571CEE9012AD}" srcOrd="3"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79EC16-7C60-4679-AE21-C81CCC6ED84B}">
      <dsp:nvSpPr>
        <dsp:cNvPr id="0" name=""/>
        <dsp:cNvSpPr/>
      </dsp:nvSpPr>
      <dsp:spPr>
        <a:xfrm>
          <a:off x="0" y="417429"/>
          <a:ext cx="10515600" cy="60480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6AC84E9-76B7-4E52-A088-C7F3A34F3CEB}">
      <dsp:nvSpPr>
        <dsp:cNvPr id="0" name=""/>
        <dsp:cNvSpPr/>
      </dsp:nvSpPr>
      <dsp:spPr>
        <a:xfrm>
          <a:off x="525780" y="63189"/>
          <a:ext cx="7360920" cy="70848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00100">
            <a:lnSpc>
              <a:spcPct val="90000"/>
            </a:lnSpc>
            <a:spcBef>
              <a:spcPct val="0"/>
            </a:spcBef>
            <a:spcAft>
              <a:spcPct val="35000"/>
            </a:spcAft>
            <a:buNone/>
          </a:pPr>
          <a:r>
            <a:rPr lang="es-ES" sz="1800" kern="1200" dirty="0">
              <a:latin typeface="Century Gothic" panose="020B0502020202020204" pitchFamily="34" charset="0"/>
            </a:rPr>
            <a:t>Población de estudio u objetivo: Las familias y personas que viven habitualmente en las viviendas del Ecuador, tanto en las zonas urbanas como rurales</a:t>
          </a:r>
        </a:p>
      </dsp:txBody>
      <dsp:txXfrm>
        <a:off x="560365" y="97774"/>
        <a:ext cx="7291750" cy="639310"/>
      </dsp:txXfrm>
    </dsp:sp>
    <dsp:sp modelId="{BBE695CC-C755-412D-AE35-4563D4B15B80}">
      <dsp:nvSpPr>
        <dsp:cNvPr id="0" name=""/>
        <dsp:cNvSpPr/>
      </dsp:nvSpPr>
      <dsp:spPr>
        <a:xfrm>
          <a:off x="0" y="1506069"/>
          <a:ext cx="10515600" cy="60480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DB835CD-A8D7-4D70-865A-0145EFA1CE08}">
      <dsp:nvSpPr>
        <dsp:cNvPr id="0" name=""/>
        <dsp:cNvSpPr/>
      </dsp:nvSpPr>
      <dsp:spPr>
        <a:xfrm>
          <a:off x="525780" y="1151829"/>
          <a:ext cx="7360920" cy="70848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00100">
            <a:lnSpc>
              <a:spcPct val="90000"/>
            </a:lnSpc>
            <a:spcBef>
              <a:spcPct val="0"/>
            </a:spcBef>
            <a:spcAft>
              <a:spcPct val="35000"/>
            </a:spcAft>
            <a:buNone/>
          </a:pPr>
          <a:r>
            <a:rPr lang="es-ES" sz="1800" kern="1200" dirty="0">
              <a:latin typeface="Century Gothic" panose="020B0502020202020204" pitchFamily="34" charset="0"/>
            </a:rPr>
            <a:t>Unidad de análisis: Se toma en cuenta al hogar para conocer sus ingresos y gastos, y a cada persona para saber su sexo y si recibe algún ingreso</a:t>
          </a:r>
        </a:p>
      </dsp:txBody>
      <dsp:txXfrm>
        <a:off x="560365" y="1186414"/>
        <a:ext cx="7291750" cy="639310"/>
      </dsp:txXfrm>
    </dsp:sp>
    <dsp:sp modelId="{18E3AAAE-4EC3-4D69-8A34-33E29B419752}">
      <dsp:nvSpPr>
        <dsp:cNvPr id="0" name=""/>
        <dsp:cNvSpPr/>
      </dsp:nvSpPr>
      <dsp:spPr>
        <a:xfrm>
          <a:off x="0" y="2594709"/>
          <a:ext cx="10515600" cy="60480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647FBF5-8020-4ED8-A491-7DA84368AE7A}">
      <dsp:nvSpPr>
        <dsp:cNvPr id="0" name=""/>
        <dsp:cNvSpPr/>
      </dsp:nvSpPr>
      <dsp:spPr>
        <a:xfrm>
          <a:off x="525780" y="2240469"/>
          <a:ext cx="7360920" cy="70848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00100">
            <a:lnSpc>
              <a:spcPct val="90000"/>
            </a:lnSpc>
            <a:spcBef>
              <a:spcPct val="0"/>
            </a:spcBef>
            <a:spcAft>
              <a:spcPct val="35000"/>
            </a:spcAft>
            <a:buNone/>
          </a:pPr>
          <a:r>
            <a:rPr lang="es-ES" sz="1800" kern="1200" dirty="0">
              <a:latin typeface="Century Gothic" panose="020B0502020202020204" pitchFamily="34" charset="0"/>
            </a:rPr>
            <a:t>Tamaño muestral nacional: Se estudiaron 35.398 hogares, en los que participaron 117.758 personas</a:t>
          </a:r>
        </a:p>
      </dsp:txBody>
      <dsp:txXfrm>
        <a:off x="560365" y="2275054"/>
        <a:ext cx="7291750" cy="639310"/>
      </dsp:txXfrm>
    </dsp:sp>
    <dsp:sp modelId="{5087B9F9-72FF-4F2D-9FC9-CD88881CCC5A}">
      <dsp:nvSpPr>
        <dsp:cNvPr id="0" name=""/>
        <dsp:cNvSpPr/>
      </dsp:nvSpPr>
      <dsp:spPr>
        <a:xfrm>
          <a:off x="0" y="3683349"/>
          <a:ext cx="10515600" cy="60480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BCB2048-955F-4615-88A1-8086D918EA31}">
      <dsp:nvSpPr>
        <dsp:cNvPr id="0" name=""/>
        <dsp:cNvSpPr/>
      </dsp:nvSpPr>
      <dsp:spPr>
        <a:xfrm>
          <a:off x="525780" y="3329109"/>
          <a:ext cx="7360920" cy="70848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800100">
            <a:lnSpc>
              <a:spcPct val="90000"/>
            </a:lnSpc>
            <a:spcBef>
              <a:spcPct val="0"/>
            </a:spcBef>
            <a:spcAft>
              <a:spcPct val="35000"/>
            </a:spcAft>
            <a:buNone/>
          </a:pPr>
          <a:r>
            <a:rPr lang="es-ES" sz="1800" kern="1200" dirty="0">
              <a:latin typeface="Century Gothic" panose="020B0502020202020204" pitchFamily="34" charset="0"/>
            </a:rPr>
            <a:t>Tamaño muestral del territorio asignado: Se estudiaron 17.049 hogares, con un total de 54.750 personas</a:t>
          </a:r>
        </a:p>
      </dsp:txBody>
      <dsp:txXfrm>
        <a:off x="560365" y="3363694"/>
        <a:ext cx="7291750" cy="63931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FAB38A-F6BA-4ACF-AF3F-A63DEEAAAC4F}">
      <dsp:nvSpPr>
        <dsp:cNvPr id="0" name=""/>
        <dsp:cNvSpPr/>
      </dsp:nvSpPr>
      <dsp:spPr>
        <a:xfrm>
          <a:off x="0" y="17983"/>
          <a:ext cx="4342296" cy="11232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s-ES" sz="2800" kern="1200" dirty="0">
              <a:latin typeface="Century Gothic" panose="020B0502020202020204" pitchFamily="34" charset="0"/>
            </a:rPr>
            <a:t>Variable A: Sexo del jefe del hogar</a:t>
          </a:r>
        </a:p>
      </dsp:txBody>
      <dsp:txXfrm>
        <a:off x="54830" y="72813"/>
        <a:ext cx="4232636" cy="1013540"/>
      </dsp:txXfrm>
    </dsp:sp>
    <dsp:sp modelId="{7813C3B5-2383-40C0-BCC8-88BB43FF330E}">
      <dsp:nvSpPr>
        <dsp:cNvPr id="0" name=""/>
        <dsp:cNvSpPr/>
      </dsp:nvSpPr>
      <dsp:spPr>
        <a:xfrm>
          <a:off x="0" y="1141183"/>
          <a:ext cx="4342296" cy="662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868"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s-ES" sz="2000" kern="1200" dirty="0">
              <a:latin typeface="Century Gothic" panose="020B0502020202020204" pitchFamily="34" charset="0"/>
            </a:rPr>
            <a:t>Opciones de respuesta: Hombre/Mujer </a:t>
          </a:r>
        </a:p>
      </dsp:txBody>
      <dsp:txXfrm>
        <a:off x="0" y="1141183"/>
        <a:ext cx="4342296" cy="662400"/>
      </dsp:txXfrm>
    </dsp:sp>
    <dsp:sp modelId="{D0AB6777-250F-4A30-92F3-6FAADE9FAA67}">
      <dsp:nvSpPr>
        <dsp:cNvPr id="0" name=""/>
        <dsp:cNvSpPr/>
      </dsp:nvSpPr>
      <dsp:spPr>
        <a:xfrm>
          <a:off x="0" y="1803584"/>
          <a:ext cx="4342296" cy="11232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s-ES" sz="2800" kern="1200" dirty="0">
              <a:latin typeface="Century Gothic" panose="020B0502020202020204" pitchFamily="34" charset="0"/>
            </a:rPr>
            <a:t>Variable B: Perceptor de Ingresos</a:t>
          </a:r>
        </a:p>
      </dsp:txBody>
      <dsp:txXfrm>
        <a:off x="54830" y="1858414"/>
        <a:ext cx="4232636" cy="1013540"/>
      </dsp:txXfrm>
    </dsp:sp>
    <dsp:sp modelId="{7E127073-C200-41D7-9BA5-571CEE9012AD}">
      <dsp:nvSpPr>
        <dsp:cNvPr id="0" name=""/>
        <dsp:cNvSpPr/>
      </dsp:nvSpPr>
      <dsp:spPr>
        <a:xfrm>
          <a:off x="0" y="2926784"/>
          <a:ext cx="4342296" cy="662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868"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s-ES" sz="2000" kern="1200" dirty="0">
              <a:latin typeface="Century Gothic" panose="020B0502020202020204" pitchFamily="34" charset="0"/>
            </a:rPr>
            <a:t>Opciones de respuesta: Si/No</a:t>
          </a:r>
        </a:p>
      </dsp:txBody>
      <dsp:txXfrm>
        <a:off x="0" y="2926784"/>
        <a:ext cx="4342296" cy="6624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FAB38A-F6BA-4ACF-AF3F-A63DEEAAAC4F}">
      <dsp:nvSpPr>
        <dsp:cNvPr id="0" name=""/>
        <dsp:cNvSpPr/>
      </dsp:nvSpPr>
      <dsp:spPr>
        <a:xfrm>
          <a:off x="0" y="17983"/>
          <a:ext cx="4342296" cy="11232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s-ES" sz="2800" kern="1200" dirty="0">
              <a:latin typeface="Century Gothic" panose="020B0502020202020204" pitchFamily="34" charset="0"/>
            </a:rPr>
            <a:t>Variable A: Ingreso corriente per cápita </a:t>
          </a:r>
        </a:p>
      </dsp:txBody>
      <dsp:txXfrm>
        <a:off x="54830" y="72813"/>
        <a:ext cx="4232636" cy="1013540"/>
      </dsp:txXfrm>
    </dsp:sp>
    <dsp:sp modelId="{7813C3B5-2383-40C0-BCC8-88BB43FF330E}">
      <dsp:nvSpPr>
        <dsp:cNvPr id="0" name=""/>
        <dsp:cNvSpPr/>
      </dsp:nvSpPr>
      <dsp:spPr>
        <a:xfrm>
          <a:off x="0" y="1141183"/>
          <a:ext cx="4342296" cy="662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868"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s-ES" sz="2000" kern="1200" dirty="0">
              <a:latin typeface="Century Gothic" panose="020B0502020202020204" pitchFamily="34" charset="0"/>
            </a:rPr>
            <a:t>Soporte: Valores </a:t>
          </a:r>
          <a:r>
            <a:rPr lang="en-US" sz="2000" kern="1200" dirty="0">
              <a:latin typeface="Century Gothic" panose="020B0502020202020204" pitchFamily="34" charset="0"/>
            </a:rPr>
            <a:t>≥ 0, </a:t>
          </a:r>
          <a:r>
            <a:rPr lang="en-US" sz="2000" kern="1200" dirty="0" err="1">
              <a:latin typeface="Century Gothic" panose="020B0502020202020204" pitchFamily="34" charset="0"/>
            </a:rPr>
            <a:t>en</a:t>
          </a:r>
          <a:r>
            <a:rPr lang="en-US" sz="2000" kern="1200" dirty="0">
              <a:latin typeface="Century Gothic" panose="020B0502020202020204" pitchFamily="34" charset="0"/>
            </a:rPr>
            <a:t> </a:t>
          </a:r>
          <a:r>
            <a:rPr lang="en-US" sz="2000" kern="1200" dirty="0" err="1">
              <a:latin typeface="Century Gothic" panose="020B0502020202020204" pitchFamily="34" charset="0"/>
            </a:rPr>
            <a:t>dolares</a:t>
          </a:r>
          <a:r>
            <a:rPr lang="en-US" sz="2000" kern="1200" dirty="0">
              <a:latin typeface="Century Gothic" panose="020B0502020202020204" pitchFamily="34" charset="0"/>
            </a:rPr>
            <a:t> </a:t>
          </a:r>
          <a:r>
            <a:rPr lang="en-US" sz="2000" kern="1200" dirty="0" err="1">
              <a:latin typeface="Century Gothic" panose="020B0502020202020204" pitchFamily="34" charset="0"/>
            </a:rPr>
            <a:t>mensuales</a:t>
          </a:r>
          <a:endParaRPr lang="es-ES" sz="2000" kern="1200" dirty="0">
            <a:latin typeface="Century Gothic" panose="020B0502020202020204" pitchFamily="34" charset="0"/>
          </a:endParaRPr>
        </a:p>
      </dsp:txBody>
      <dsp:txXfrm>
        <a:off x="0" y="1141183"/>
        <a:ext cx="4342296" cy="662400"/>
      </dsp:txXfrm>
    </dsp:sp>
    <dsp:sp modelId="{D0AB6777-250F-4A30-92F3-6FAADE9FAA67}">
      <dsp:nvSpPr>
        <dsp:cNvPr id="0" name=""/>
        <dsp:cNvSpPr/>
      </dsp:nvSpPr>
      <dsp:spPr>
        <a:xfrm>
          <a:off x="0" y="1803584"/>
          <a:ext cx="4342296" cy="1123200"/>
        </a:xfrm>
        <a:prstGeom prst="roundRect">
          <a:avLst/>
        </a:prstGeom>
        <a:solidFill>
          <a:schemeClr val="lt1">
            <a:hueOff val="0"/>
            <a:satOff val="0"/>
            <a:lumOff val="0"/>
            <a:alphaOff val="0"/>
          </a:schemeClr>
        </a:solidFill>
        <a:ln w="1270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s-ES" sz="2800" kern="1200" dirty="0">
              <a:latin typeface="Century Gothic" panose="020B0502020202020204" pitchFamily="34" charset="0"/>
            </a:rPr>
            <a:t>Variable B: </a:t>
          </a:r>
          <a:r>
            <a:rPr lang="en-US" sz="2800" kern="1200" dirty="0" err="1">
              <a:latin typeface="Century Gothic" panose="020B0502020202020204" pitchFamily="34" charset="0"/>
            </a:rPr>
            <a:t>Gasto</a:t>
          </a:r>
          <a:r>
            <a:rPr lang="en-US" sz="2800" kern="1200" dirty="0">
              <a:latin typeface="Century Gothic" panose="020B0502020202020204" pitchFamily="34" charset="0"/>
            </a:rPr>
            <a:t> </a:t>
          </a:r>
          <a:r>
            <a:rPr lang="en-US" sz="2800" kern="1200" dirty="0" err="1">
              <a:latin typeface="Century Gothic" panose="020B0502020202020204" pitchFamily="34" charset="0"/>
            </a:rPr>
            <a:t>corriente</a:t>
          </a:r>
          <a:r>
            <a:rPr lang="en-US" sz="2800" kern="1200" dirty="0">
              <a:latin typeface="Century Gothic" panose="020B0502020202020204" pitchFamily="34" charset="0"/>
            </a:rPr>
            <a:t> de </a:t>
          </a:r>
          <a:r>
            <a:rPr lang="en-US" sz="2800" kern="1200" dirty="0" err="1">
              <a:latin typeface="Century Gothic" panose="020B0502020202020204" pitchFamily="34" charset="0"/>
            </a:rPr>
            <a:t>consumo</a:t>
          </a:r>
          <a:endParaRPr lang="es-ES" sz="2800" kern="1200" dirty="0">
            <a:latin typeface="Century Gothic" panose="020B0502020202020204" pitchFamily="34" charset="0"/>
          </a:endParaRPr>
        </a:p>
      </dsp:txBody>
      <dsp:txXfrm>
        <a:off x="54830" y="1858414"/>
        <a:ext cx="4232636" cy="1013540"/>
      </dsp:txXfrm>
    </dsp:sp>
    <dsp:sp modelId="{7E127073-C200-41D7-9BA5-571CEE9012AD}">
      <dsp:nvSpPr>
        <dsp:cNvPr id="0" name=""/>
        <dsp:cNvSpPr/>
      </dsp:nvSpPr>
      <dsp:spPr>
        <a:xfrm>
          <a:off x="0" y="2926784"/>
          <a:ext cx="4342296" cy="662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868" tIns="25400" rIns="142240" bIns="25400" numCol="1" spcCol="1270" anchor="t" anchorCtr="0">
          <a:noAutofit/>
        </a:bodyPr>
        <a:lstStyle/>
        <a:p>
          <a:pPr marL="228600" lvl="1" indent="-228600" algn="l" defTabSz="889000">
            <a:lnSpc>
              <a:spcPct val="90000"/>
            </a:lnSpc>
            <a:spcBef>
              <a:spcPct val="0"/>
            </a:spcBef>
            <a:spcAft>
              <a:spcPct val="20000"/>
            </a:spcAft>
            <a:buChar char="•"/>
          </a:pPr>
          <a:r>
            <a:rPr lang="es-ES" sz="2000" kern="1200" dirty="0">
              <a:latin typeface="Century Gothic" panose="020B0502020202020204" pitchFamily="34" charset="0"/>
            </a:rPr>
            <a:t>Soporte: </a:t>
          </a:r>
          <a:r>
            <a:rPr lang="es-MX" sz="2000" kern="1200" dirty="0">
              <a:latin typeface="Century Gothic" panose="020B0502020202020204" pitchFamily="34" charset="0"/>
            </a:rPr>
            <a:t>valores ≥ 0, en dólares (USD) mensuales</a:t>
          </a:r>
          <a:endParaRPr lang="es-ES" sz="2000" kern="1200" dirty="0">
            <a:latin typeface="Century Gothic" panose="020B0502020202020204" pitchFamily="34" charset="0"/>
          </a:endParaRPr>
        </a:p>
      </dsp:txBody>
      <dsp:txXfrm>
        <a:off x="0" y="2926784"/>
        <a:ext cx="4342296" cy="66240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C"/>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EC"/>
          </a:p>
        </p:txBody>
      </p:sp>
      <p:sp>
        <p:nvSpPr>
          <p:cNvPr id="4" name="Marcador de fecha 3"/>
          <p:cNvSpPr>
            <a:spLocks noGrp="1"/>
          </p:cNvSpPr>
          <p:nvPr>
            <p:ph type="dt" sz="half" idx="10"/>
          </p:nvPr>
        </p:nvSpPr>
        <p:spPr/>
        <p:txBody>
          <a:bodyPr/>
          <a:lstStyle/>
          <a:p>
            <a:fld id="{6DE43005-D9CE-4B82-8009-C395EF4A0584}" type="datetimeFigureOut">
              <a:rPr lang="es-EC" smtClean="0"/>
              <a:t>31/8/2026</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4DC48CD1-0E74-4560-9D53-21CBB9951217}" type="slidenum">
              <a:rPr lang="es-EC" smtClean="0"/>
              <a:t>‹Nº›</a:t>
            </a:fld>
            <a:endParaRPr lang="es-EC"/>
          </a:p>
        </p:txBody>
      </p:sp>
    </p:spTree>
    <p:extLst>
      <p:ext uri="{BB962C8B-B14F-4D97-AF65-F5344CB8AC3E}">
        <p14:creationId xmlns:p14="http://schemas.microsoft.com/office/powerpoint/2010/main" val="149589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C"/>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p:cNvSpPr>
            <a:spLocks noGrp="1"/>
          </p:cNvSpPr>
          <p:nvPr>
            <p:ph type="dt" sz="half" idx="10"/>
          </p:nvPr>
        </p:nvSpPr>
        <p:spPr/>
        <p:txBody>
          <a:bodyPr/>
          <a:lstStyle/>
          <a:p>
            <a:fld id="{6DE43005-D9CE-4B82-8009-C395EF4A0584}" type="datetimeFigureOut">
              <a:rPr lang="es-EC" smtClean="0"/>
              <a:t>31/8/2026</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4DC48CD1-0E74-4560-9D53-21CBB9951217}" type="slidenum">
              <a:rPr lang="es-EC" smtClean="0"/>
              <a:t>‹Nº›</a:t>
            </a:fld>
            <a:endParaRPr lang="es-EC"/>
          </a:p>
        </p:txBody>
      </p:sp>
    </p:spTree>
    <p:extLst>
      <p:ext uri="{BB962C8B-B14F-4D97-AF65-F5344CB8AC3E}">
        <p14:creationId xmlns:p14="http://schemas.microsoft.com/office/powerpoint/2010/main" val="2911491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C"/>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6DE43005-D9CE-4B82-8009-C395EF4A0584}" type="datetimeFigureOut">
              <a:rPr lang="es-EC" smtClean="0"/>
              <a:t>31/8/2026</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4DC48CD1-0E74-4560-9D53-21CBB9951217}" type="slidenum">
              <a:rPr lang="es-EC" smtClean="0"/>
              <a:t>‹Nº›</a:t>
            </a:fld>
            <a:endParaRPr lang="es-EC"/>
          </a:p>
        </p:txBody>
      </p:sp>
    </p:spTree>
    <p:extLst>
      <p:ext uri="{BB962C8B-B14F-4D97-AF65-F5344CB8AC3E}">
        <p14:creationId xmlns:p14="http://schemas.microsoft.com/office/powerpoint/2010/main" val="4266520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C"/>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fecha 4"/>
          <p:cNvSpPr>
            <a:spLocks noGrp="1"/>
          </p:cNvSpPr>
          <p:nvPr>
            <p:ph type="dt" sz="half" idx="10"/>
          </p:nvPr>
        </p:nvSpPr>
        <p:spPr/>
        <p:txBody>
          <a:bodyPr/>
          <a:lstStyle/>
          <a:p>
            <a:fld id="{6DE43005-D9CE-4B82-8009-C395EF4A0584}" type="datetimeFigureOut">
              <a:rPr lang="es-EC" smtClean="0"/>
              <a:t>31/8/2026</a:t>
            </a:fld>
            <a:endParaRPr lang="es-EC"/>
          </a:p>
        </p:txBody>
      </p:sp>
      <p:sp>
        <p:nvSpPr>
          <p:cNvPr id="6" name="Marcador de pie de página 5"/>
          <p:cNvSpPr>
            <a:spLocks noGrp="1"/>
          </p:cNvSpPr>
          <p:nvPr>
            <p:ph type="ftr" sz="quarter" idx="11"/>
          </p:nvPr>
        </p:nvSpPr>
        <p:spPr/>
        <p:txBody>
          <a:bodyPr/>
          <a:lstStyle/>
          <a:p>
            <a:endParaRPr lang="es-EC"/>
          </a:p>
        </p:txBody>
      </p:sp>
      <p:sp>
        <p:nvSpPr>
          <p:cNvPr id="7" name="Marcador de número de diapositiva 6"/>
          <p:cNvSpPr>
            <a:spLocks noGrp="1"/>
          </p:cNvSpPr>
          <p:nvPr>
            <p:ph type="sldNum" sz="quarter" idx="12"/>
          </p:nvPr>
        </p:nvSpPr>
        <p:spPr/>
        <p:txBody>
          <a:bodyPr/>
          <a:lstStyle/>
          <a:p>
            <a:fld id="{4DC48CD1-0E74-4560-9D53-21CBB9951217}" type="slidenum">
              <a:rPr lang="es-EC" smtClean="0"/>
              <a:t>‹Nº›</a:t>
            </a:fld>
            <a:endParaRPr lang="es-EC"/>
          </a:p>
        </p:txBody>
      </p:sp>
    </p:spTree>
    <p:extLst>
      <p:ext uri="{BB962C8B-B14F-4D97-AF65-F5344CB8AC3E}">
        <p14:creationId xmlns:p14="http://schemas.microsoft.com/office/powerpoint/2010/main" val="2985574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EC"/>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7" name="Marcador de fecha 6"/>
          <p:cNvSpPr>
            <a:spLocks noGrp="1"/>
          </p:cNvSpPr>
          <p:nvPr>
            <p:ph type="dt" sz="half" idx="10"/>
          </p:nvPr>
        </p:nvSpPr>
        <p:spPr/>
        <p:txBody>
          <a:bodyPr/>
          <a:lstStyle/>
          <a:p>
            <a:fld id="{6DE43005-D9CE-4B82-8009-C395EF4A0584}" type="datetimeFigureOut">
              <a:rPr lang="es-EC" smtClean="0"/>
              <a:t>31/8/2026</a:t>
            </a:fld>
            <a:endParaRPr lang="es-EC"/>
          </a:p>
        </p:txBody>
      </p:sp>
      <p:sp>
        <p:nvSpPr>
          <p:cNvPr id="8" name="Marcador de pie de página 7"/>
          <p:cNvSpPr>
            <a:spLocks noGrp="1"/>
          </p:cNvSpPr>
          <p:nvPr>
            <p:ph type="ftr" sz="quarter" idx="11"/>
          </p:nvPr>
        </p:nvSpPr>
        <p:spPr/>
        <p:txBody>
          <a:bodyPr/>
          <a:lstStyle/>
          <a:p>
            <a:endParaRPr lang="es-EC"/>
          </a:p>
        </p:txBody>
      </p:sp>
      <p:sp>
        <p:nvSpPr>
          <p:cNvPr id="9" name="Marcador de número de diapositiva 8"/>
          <p:cNvSpPr>
            <a:spLocks noGrp="1"/>
          </p:cNvSpPr>
          <p:nvPr>
            <p:ph type="sldNum" sz="quarter" idx="12"/>
          </p:nvPr>
        </p:nvSpPr>
        <p:spPr/>
        <p:txBody>
          <a:bodyPr/>
          <a:lstStyle/>
          <a:p>
            <a:fld id="{4DC48CD1-0E74-4560-9D53-21CBB9951217}" type="slidenum">
              <a:rPr lang="es-EC" smtClean="0"/>
              <a:t>‹Nº›</a:t>
            </a:fld>
            <a:endParaRPr lang="es-EC"/>
          </a:p>
        </p:txBody>
      </p:sp>
    </p:spTree>
    <p:extLst>
      <p:ext uri="{BB962C8B-B14F-4D97-AF65-F5344CB8AC3E}">
        <p14:creationId xmlns:p14="http://schemas.microsoft.com/office/powerpoint/2010/main" val="3695128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C"/>
          </a:p>
        </p:txBody>
      </p:sp>
      <p:sp>
        <p:nvSpPr>
          <p:cNvPr id="3" name="Marcador de fecha 2"/>
          <p:cNvSpPr>
            <a:spLocks noGrp="1"/>
          </p:cNvSpPr>
          <p:nvPr>
            <p:ph type="dt" sz="half" idx="10"/>
          </p:nvPr>
        </p:nvSpPr>
        <p:spPr/>
        <p:txBody>
          <a:bodyPr/>
          <a:lstStyle/>
          <a:p>
            <a:fld id="{6DE43005-D9CE-4B82-8009-C395EF4A0584}" type="datetimeFigureOut">
              <a:rPr lang="es-EC" smtClean="0"/>
              <a:t>31/8/2026</a:t>
            </a:fld>
            <a:endParaRPr lang="es-EC"/>
          </a:p>
        </p:txBody>
      </p:sp>
      <p:sp>
        <p:nvSpPr>
          <p:cNvPr id="4" name="Marcador de pie de página 3"/>
          <p:cNvSpPr>
            <a:spLocks noGrp="1"/>
          </p:cNvSpPr>
          <p:nvPr>
            <p:ph type="ftr" sz="quarter" idx="11"/>
          </p:nvPr>
        </p:nvSpPr>
        <p:spPr/>
        <p:txBody>
          <a:bodyPr/>
          <a:lstStyle/>
          <a:p>
            <a:endParaRPr lang="es-EC"/>
          </a:p>
        </p:txBody>
      </p:sp>
      <p:sp>
        <p:nvSpPr>
          <p:cNvPr id="5" name="Marcador de número de diapositiva 4"/>
          <p:cNvSpPr>
            <a:spLocks noGrp="1"/>
          </p:cNvSpPr>
          <p:nvPr>
            <p:ph type="sldNum" sz="quarter" idx="12"/>
          </p:nvPr>
        </p:nvSpPr>
        <p:spPr/>
        <p:txBody>
          <a:bodyPr/>
          <a:lstStyle/>
          <a:p>
            <a:fld id="{4DC48CD1-0E74-4560-9D53-21CBB9951217}" type="slidenum">
              <a:rPr lang="es-EC" smtClean="0"/>
              <a:t>‹Nº›</a:t>
            </a:fld>
            <a:endParaRPr lang="es-EC"/>
          </a:p>
        </p:txBody>
      </p:sp>
    </p:spTree>
    <p:extLst>
      <p:ext uri="{BB962C8B-B14F-4D97-AF65-F5344CB8AC3E}">
        <p14:creationId xmlns:p14="http://schemas.microsoft.com/office/powerpoint/2010/main" val="15353113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6DE43005-D9CE-4B82-8009-C395EF4A0584}" type="datetimeFigureOut">
              <a:rPr lang="es-EC" smtClean="0"/>
              <a:t>31/8/2026</a:t>
            </a:fld>
            <a:endParaRPr lang="es-EC"/>
          </a:p>
        </p:txBody>
      </p:sp>
      <p:sp>
        <p:nvSpPr>
          <p:cNvPr id="3" name="Marcador de pie de página 2"/>
          <p:cNvSpPr>
            <a:spLocks noGrp="1"/>
          </p:cNvSpPr>
          <p:nvPr>
            <p:ph type="ftr" sz="quarter" idx="11"/>
          </p:nvPr>
        </p:nvSpPr>
        <p:spPr/>
        <p:txBody>
          <a:bodyPr/>
          <a:lstStyle/>
          <a:p>
            <a:endParaRPr lang="es-EC"/>
          </a:p>
        </p:txBody>
      </p:sp>
      <p:sp>
        <p:nvSpPr>
          <p:cNvPr id="4" name="Marcador de número de diapositiva 3"/>
          <p:cNvSpPr>
            <a:spLocks noGrp="1"/>
          </p:cNvSpPr>
          <p:nvPr>
            <p:ph type="sldNum" sz="quarter" idx="12"/>
          </p:nvPr>
        </p:nvSpPr>
        <p:spPr/>
        <p:txBody>
          <a:bodyPr/>
          <a:lstStyle/>
          <a:p>
            <a:fld id="{4DC48CD1-0E74-4560-9D53-21CBB9951217}" type="slidenum">
              <a:rPr lang="es-EC" smtClean="0"/>
              <a:t>‹Nº›</a:t>
            </a:fld>
            <a:endParaRPr lang="es-EC"/>
          </a:p>
        </p:txBody>
      </p:sp>
    </p:spTree>
    <p:extLst>
      <p:ext uri="{BB962C8B-B14F-4D97-AF65-F5344CB8AC3E}">
        <p14:creationId xmlns:p14="http://schemas.microsoft.com/office/powerpoint/2010/main" val="30781259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6DE43005-D9CE-4B82-8009-C395EF4A0584}" type="datetimeFigureOut">
              <a:rPr lang="es-EC" smtClean="0"/>
              <a:t>31/8/2026</a:t>
            </a:fld>
            <a:endParaRPr lang="es-EC"/>
          </a:p>
        </p:txBody>
      </p:sp>
      <p:sp>
        <p:nvSpPr>
          <p:cNvPr id="6" name="Marcador de pie de página 5"/>
          <p:cNvSpPr>
            <a:spLocks noGrp="1"/>
          </p:cNvSpPr>
          <p:nvPr>
            <p:ph type="ftr" sz="quarter" idx="11"/>
          </p:nvPr>
        </p:nvSpPr>
        <p:spPr/>
        <p:txBody>
          <a:bodyPr/>
          <a:lstStyle/>
          <a:p>
            <a:endParaRPr lang="es-EC"/>
          </a:p>
        </p:txBody>
      </p:sp>
      <p:sp>
        <p:nvSpPr>
          <p:cNvPr id="7" name="Marcador de número de diapositiva 6"/>
          <p:cNvSpPr>
            <a:spLocks noGrp="1"/>
          </p:cNvSpPr>
          <p:nvPr>
            <p:ph type="sldNum" sz="quarter" idx="12"/>
          </p:nvPr>
        </p:nvSpPr>
        <p:spPr/>
        <p:txBody>
          <a:bodyPr/>
          <a:lstStyle/>
          <a:p>
            <a:fld id="{4DC48CD1-0E74-4560-9D53-21CBB9951217}" type="slidenum">
              <a:rPr lang="es-EC" smtClean="0"/>
              <a:t>‹Nº›</a:t>
            </a:fld>
            <a:endParaRPr lang="es-EC"/>
          </a:p>
        </p:txBody>
      </p:sp>
    </p:spTree>
    <p:extLst>
      <p:ext uri="{BB962C8B-B14F-4D97-AF65-F5344CB8AC3E}">
        <p14:creationId xmlns:p14="http://schemas.microsoft.com/office/powerpoint/2010/main" val="28000541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C"/>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C"/>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6DE43005-D9CE-4B82-8009-C395EF4A0584}" type="datetimeFigureOut">
              <a:rPr lang="es-EC" smtClean="0"/>
              <a:t>31/8/2026</a:t>
            </a:fld>
            <a:endParaRPr lang="es-EC"/>
          </a:p>
        </p:txBody>
      </p:sp>
      <p:sp>
        <p:nvSpPr>
          <p:cNvPr id="6" name="Marcador de pie de página 5"/>
          <p:cNvSpPr>
            <a:spLocks noGrp="1"/>
          </p:cNvSpPr>
          <p:nvPr>
            <p:ph type="ftr" sz="quarter" idx="11"/>
          </p:nvPr>
        </p:nvSpPr>
        <p:spPr/>
        <p:txBody>
          <a:bodyPr/>
          <a:lstStyle/>
          <a:p>
            <a:endParaRPr lang="es-EC"/>
          </a:p>
        </p:txBody>
      </p:sp>
      <p:sp>
        <p:nvSpPr>
          <p:cNvPr id="7" name="Marcador de número de diapositiva 6"/>
          <p:cNvSpPr>
            <a:spLocks noGrp="1"/>
          </p:cNvSpPr>
          <p:nvPr>
            <p:ph type="sldNum" sz="quarter" idx="12"/>
          </p:nvPr>
        </p:nvSpPr>
        <p:spPr/>
        <p:txBody>
          <a:bodyPr/>
          <a:lstStyle/>
          <a:p>
            <a:fld id="{4DC48CD1-0E74-4560-9D53-21CBB9951217}" type="slidenum">
              <a:rPr lang="es-EC" smtClean="0"/>
              <a:t>‹Nº›</a:t>
            </a:fld>
            <a:endParaRPr lang="es-EC"/>
          </a:p>
        </p:txBody>
      </p:sp>
    </p:spTree>
    <p:extLst>
      <p:ext uri="{BB962C8B-B14F-4D97-AF65-F5344CB8AC3E}">
        <p14:creationId xmlns:p14="http://schemas.microsoft.com/office/powerpoint/2010/main" val="27092745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C"/>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p:cNvSpPr>
            <a:spLocks noGrp="1"/>
          </p:cNvSpPr>
          <p:nvPr>
            <p:ph type="dt" sz="half" idx="10"/>
          </p:nvPr>
        </p:nvSpPr>
        <p:spPr/>
        <p:txBody>
          <a:bodyPr/>
          <a:lstStyle/>
          <a:p>
            <a:fld id="{6DE43005-D9CE-4B82-8009-C395EF4A0584}" type="datetimeFigureOut">
              <a:rPr lang="es-EC" smtClean="0"/>
              <a:t>31/8/2026</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4DC48CD1-0E74-4560-9D53-21CBB9951217}" type="slidenum">
              <a:rPr lang="es-EC" smtClean="0"/>
              <a:t>‹Nº›</a:t>
            </a:fld>
            <a:endParaRPr lang="es-EC"/>
          </a:p>
        </p:txBody>
      </p:sp>
    </p:spTree>
    <p:extLst>
      <p:ext uri="{BB962C8B-B14F-4D97-AF65-F5344CB8AC3E}">
        <p14:creationId xmlns:p14="http://schemas.microsoft.com/office/powerpoint/2010/main" val="38134276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C"/>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p:cNvSpPr>
            <a:spLocks noGrp="1"/>
          </p:cNvSpPr>
          <p:nvPr>
            <p:ph type="dt" sz="half" idx="10"/>
          </p:nvPr>
        </p:nvSpPr>
        <p:spPr/>
        <p:txBody>
          <a:bodyPr/>
          <a:lstStyle/>
          <a:p>
            <a:fld id="{6DE43005-D9CE-4B82-8009-C395EF4A0584}" type="datetimeFigureOut">
              <a:rPr lang="es-EC" smtClean="0"/>
              <a:t>31/8/2026</a:t>
            </a:fld>
            <a:endParaRPr lang="es-EC"/>
          </a:p>
        </p:txBody>
      </p:sp>
      <p:sp>
        <p:nvSpPr>
          <p:cNvPr id="5" name="Marcador de pie de página 4"/>
          <p:cNvSpPr>
            <a:spLocks noGrp="1"/>
          </p:cNvSpPr>
          <p:nvPr>
            <p:ph type="ftr" sz="quarter" idx="11"/>
          </p:nvPr>
        </p:nvSpPr>
        <p:spPr/>
        <p:txBody>
          <a:bodyPr/>
          <a:lstStyle/>
          <a:p>
            <a:endParaRPr lang="es-EC"/>
          </a:p>
        </p:txBody>
      </p:sp>
      <p:sp>
        <p:nvSpPr>
          <p:cNvPr id="6" name="Marcador de número de diapositiva 5"/>
          <p:cNvSpPr>
            <a:spLocks noGrp="1"/>
          </p:cNvSpPr>
          <p:nvPr>
            <p:ph type="sldNum" sz="quarter" idx="12"/>
          </p:nvPr>
        </p:nvSpPr>
        <p:spPr/>
        <p:txBody>
          <a:bodyPr/>
          <a:lstStyle/>
          <a:p>
            <a:fld id="{4DC48CD1-0E74-4560-9D53-21CBB9951217}" type="slidenum">
              <a:rPr lang="es-EC" smtClean="0"/>
              <a:t>‹Nº›</a:t>
            </a:fld>
            <a:endParaRPr lang="es-EC"/>
          </a:p>
        </p:txBody>
      </p:sp>
    </p:spTree>
    <p:extLst>
      <p:ext uri="{BB962C8B-B14F-4D97-AF65-F5344CB8AC3E}">
        <p14:creationId xmlns:p14="http://schemas.microsoft.com/office/powerpoint/2010/main" val="12889906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EC"/>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C"/>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E43005-D9CE-4B82-8009-C395EF4A0584}" type="datetimeFigureOut">
              <a:rPr lang="es-EC" smtClean="0"/>
              <a:t>31/8/2026</a:t>
            </a:fld>
            <a:endParaRPr lang="es-EC"/>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C"/>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DC48CD1-0E74-4560-9D53-21CBB9951217}" type="slidenum">
              <a:rPr lang="es-EC" smtClean="0"/>
              <a:t>‹Nº›</a:t>
            </a:fld>
            <a:endParaRPr lang="es-EC"/>
          </a:p>
        </p:txBody>
      </p:sp>
    </p:spTree>
    <p:extLst>
      <p:ext uri="{BB962C8B-B14F-4D97-AF65-F5344CB8AC3E}">
        <p14:creationId xmlns:p14="http://schemas.microsoft.com/office/powerpoint/2010/main" val="17904205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 Id="rId5" Type="http://schemas.openxmlformats.org/officeDocument/2006/relationships/chart" Target="../charts/chart6.xml"/><Relationship Id="rId4" Type="http://schemas.openxmlformats.org/officeDocument/2006/relationships/chart" Target="../charts/char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chart" Target="../charts/chart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43153" y="1524808"/>
            <a:ext cx="5246440" cy="3284902"/>
          </a:xfrm>
        </p:spPr>
        <p:txBody>
          <a:bodyPr>
            <a:normAutofit fontScale="90000"/>
          </a:bodyPr>
          <a:lstStyle/>
          <a:p>
            <a:pPr algn="ctr"/>
            <a:r>
              <a:rPr lang="es-ES" sz="4800" dirty="0">
                <a:latin typeface="Century Gothic" panose="020B0502020202020204" pitchFamily="34" charset="0"/>
              </a:rPr>
              <a:t>¿Cómo cambia la distribución del gasto de consumo de los hogares de la región Sierra a medida que aumenta su nivel de ingreso corriente per cápita?</a:t>
            </a:r>
            <a:endParaRPr lang="es-EC" sz="4800" dirty="0">
              <a:latin typeface="Century Gothic" panose="020B0502020202020204" pitchFamily="34" charset="0"/>
            </a:endParaRPr>
          </a:p>
        </p:txBody>
      </p:sp>
      <p:pic>
        <p:nvPicPr>
          <p:cNvPr id="5" name="Imagen 4">
            <a:extLst>
              <a:ext uri="{FF2B5EF4-FFF2-40B4-BE49-F238E27FC236}">
                <a16:creationId xmlns:a16="http://schemas.microsoft.com/office/drawing/2014/main" id="{226947A8-C292-4F46-A049-5F67D8466E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0"/>
            <a:ext cx="5872419" cy="6560091"/>
          </a:xfrm>
          <a:prstGeom prst="rect">
            <a:avLst/>
          </a:prstGeom>
        </p:spPr>
      </p:pic>
    </p:spTree>
    <p:extLst>
      <p:ext uri="{BB962C8B-B14F-4D97-AF65-F5344CB8AC3E}">
        <p14:creationId xmlns:p14="http://schemas.microsoft.com/office/powerpoint/2010/main" val="40991548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r"/>
            <a:r>
              <a:rPr lang="es-MX" sz="2800" b="1" dirty="0">
                <a:latin typeface="Century Gothic" panose="020B0502020202020204" pitchFamily="34" charset="0"/>
              </a:rPr>
              <a:t>ENIGHUR – Encuesta Nacional de Ingresos y Gasto</a:t>
            </a:r>
            <a:endParaRPr lang="es-EC" sz="2800" b="1" dirty="0">
              <a:latin typeface="Century Gothic" panose="020B0502020202020204" pitchFamily="34" charset="0"/>
            </a:endParaRPr>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270016140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Elipse 4"/>
          <p:cNvSpPr/>
          <p:nvPr/>
        </p:nvSpPr>
        <p:spPr>
          <a:xfrm>
            <a:off x="185530" y="212035"/>
            <a:ext cx="795131" cy="728869"/>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MX" dirty="0"/>
              <a:t>1</a:t>
            </a:r>
            <a:endParaRPr lang="es-EC" dirty="0"/>
          </a:p>
        </p:txBody>
      </p:sp>
    </p:spTree>
    <p:extLst>
      <p:ext uri="{BB962C8B-B14F-4D97-AF65-F5344CB8AC3E}">
        <p14:creationId xmlns:p14="http://schemas.microsoft.com/office/powerpoint/2010/main" val="1529769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a 5"/>
          <p:cNvGraphicFramePr/>
          <p:nvPr>
            <p:extLst>
              <p:ext uri="{D42A27DB-BD31-4B8C-83A1-F6EECF244321}">
                <p14:modId xmlns:p14="http://schemas.microsoft.com/office/powerpoint/2010/main" val="1298866565"/>
              </p:ext>
            </p:extLst>
          </p:nvPr>
        </p:nvGraphicFramePr>
        <p:xfrm>
          <a:off x="1369393" y="2584174"/>
          <a:ext cx="4342296" cy="36071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Diagrama 6"/>
          <p:cNvGraphicFramePr/>
          <p:nvPr>
            <p:extLst>
              <p:ext uri="{D42A27DB-BD31-4B8C-83A1-F6EECF244321}">
                <p14:modId xmlns:p14="http://schemas.microsoft.com/office/powerpoint/2010/main" val="2979940181"/>
              </p:ext>
            </p:extLst>
          </p:nvPr>
        </p:nvGraphicFramePr>
        <p:xfrm>
          <a:off x="7034696" y="2584174"/>
          <a:ext cx="4342296" cy="360716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8" name="Título 1"/>
          <p:cNvSpPr txBox="1">
            <a:spLocks/>
          </p:cNvSpPr>
          <p:nvPr/>
        </p:nvSpPr>
        <p:spPr>
          <a:xfrm>
            <a:off x="1136927" y="1266275"/>
            <a:ext cx="4807228" cy="11191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latin typeface="Century Gothic" panose="020B0502020202020204" pitchFamily="34" charset="0"/>
              </a:rPr>
              <a:t>Variables cualitativas:</a:t>
            </a:r>
            <a:endParaRPr lang="es-EC" sz="3200" dirty="0">
              <a:latin typeface="Century Gothic" panose="020B0502020202020204" pitchFamily="34" charset="0"/>
            </a:endParaRPr>
          </a:p>
        </p:txBody>
      </p:sp>
      <p:sp>
        <p:nvSpPr>
          <p:cNvPr id="9" name="Título 1"/>
          <p:cNvSpPr txBox="1">
            <a:spLocks/>
          </p:cNvSpPr>
          <p:nvPr/>
        </p:nvSpPr>
        <p:spPr>
          <a:xfrm>
            <a:off x="6569764" y="1266275"/>
            <a:ext cx="4807228" cy="111911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latin typeface="Century Gothic" panose="020B0502020202020204" pitchFamily="34" charset="0"/>
              </a:rPr>
              <a:t>Variables cuantitativas:</a:t>
            </a:r>
            <a:endParaRPr lang="es-EC" sz="3200" dirty="0">
              <a:latin typeface="Century Gothic" panose="020B0502020202020204" pitchFamily="34" charset="0"/>
            </a:endParaRPr>
          </a:p>
        </p:txBody>
      </p:sp>
      <p:sp>
        <p:nvSpPr>
          <p:cNvPr id="11" name="CuadroTexto 10"/>
          <p:cNvSpPr txBox="1"/>
          <p:nvPr/>
        </p:nvSpPr>
        <p:spPr>
          <a:xfrm>
            <a:off x="1136927" y="482719"/>
            <a:ext cx="3922643" cy="584775"/>
          </a:xfrm>
          <a:prstGeom prst="rect">
            <a:avLst/>
          </a:prstGeom>
          <a:noFill/>
        </p:spPr>
        <p:txBody>
          <a:bodyPr wrap="square" rtlCol="0">
            <a:spAutoFit/>
          </a:bodyPr>
          <a:lstStyle/>
          <a:p>
            <a:r>
              <a:rPr lang="es-MX" sz="3200" b="1" dirty="0">
                <a:latin typeface="Century Gothic" panose="020B0502020202020204" pitchFamily="34" charset="0"/>
              </a:rPr>
              <a:t>Variables</a:t>
            </a:r>
            <a:endParaRPr lang="es-EC" sz="3200" b="1" dirty="0">
              <a:latin typeface="Century Gothic" panose="020B0502020202020204" pitchFamily="34" charset="0"/>
            </a:endParaRPr>
          </a:p>
        </p:txBody>
      </p:sp>
      <p:sp>
        <p:nvSpPr>
          <p:cNvPr id="12" name="Elipse 11"/>
          <p:cNvSpPr/>
          <p:nvPr/>
        </p:nvSpPr>
        <p:spPr>
          <a:xfrm>
            <a:off x="185530" y="212035"/>
            <a:ext cx="795131" cy="728869"/>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MX" dirty="0"/>
              <a:t>2</a:t>
            </a:r>
            <a:endParaRPr lang="es-EC" dirty="0"/>
          </a:p>
        </p:txBody>
      </p:sp>
    </p:spTree>
    <p:extLst>
      <p:ext uri="{BB962C8B-B14F-4D97-AF65-F5344CB8AC3E}">
        <p14:creationId xmlns:p14="http://schemas.microsoft.com/office/powerpoint/2010/main" val="3797439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980661" y="881269"/>
            <a:ext cx="10515600" cy="702710"/>
          </a:xfrm>
        </p:spPr>
        <p:txBody>
          <a:bodyPr>
            <a:noAutofit/>
          </a:bodyPr>
          <a:lstStyle/>
          <a:p>
            <a:pPr algn="ctr"/>
            <a:r>
              <a:rPr lang="es-MX" sz="2000" b="1" dirty="0">
                <a:latin typeface="Century Gothic" panose="020B0502020202020204" pitchFamily="34" charset="0"/>
              </a:rPr>
              <a:t>Ingreso Corriente Per Cápita de la región Sierra y el país</a:t>
            </a:r>
            <a:endParaRPr lang="es-EC" sz="2000" dirty="0"/>
          </a:p>
        </p:txBody>
      </p:sp>
      <p:sp>
        <p:nvSpPr>
          <p:cNvPr id="5" name="CuadroTexto 4"/>
          <p:cNvSpPr txBox="1"/>
          <p:nvPr/>
        </p:nvSpPr>
        <p:spPr>
          <a:xfrm>
            <a:off x="1150179" y="212035"/>
            <a:ext cx="3922643" cy="584775"/>
          </a:xfrm>
          <a:prstGeom prst="rect">
            <a:avLst/>
          </a:prstGeom>
          <a:noFill/>
        </p:spPr>
        <p:txBody>
          <a:bodyPr wrap="square" rtlCol="0">
            <a:spAutoFit/>
          </a:bodyPr>
          <a:lstStyle/>
          <a:p>
            <a:r>
              <a:rPr lang="es-MX" sz="3200" b="1" dirty="0">
                <a:latin typeface="Century Gothic" panose="020B0502020202020204" pitchFamily="34" charset="0"/>
              </a:rPr>
              <a:t>Análisis de datos</a:t>
            </a:r>
            <a:endParaRPr lang="es-EC" sz="3200" b="1" dirty="0">
              <a:latin typeface="Century Gothic" panose="020B0502020202020204" pitchFamily="34" charset="0"/>
            </a:endParaRPr>
          </a:p>
        </p:txBody>
      </p:sp>
      <p:sp>
        <p:nvSpPr>
          <p:cNvPr id="6" name="Elipse 5"/>
          <p:cNvSpPr/>
          <p:nvPr/>
        </p:nvSpPr>
        <p:spPr>
          <a:xfrm>
            <a:off x="185530" y="212035"/>
            <a:ext cx="795131" cy="728869"/>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MX" dirty="0"/>
              <a:t>3</a:t>
            </a:r>
            <a:endParaRPr lang="es-EC" dirty="0"/>
          </a:p>
        </p:txBody>
      </p:sp>
      <p:pic>
        <p:nvPicPr>
          <p:cNvPr id="7" name="Imagen 6">
            <a:extLst>
              <a:ext uri="{FF2B5EF4-FFF2-40B4-BE49-F238E27FC236}">
                <a16:creationId xmlns:a16="http://schemas.microsoft.com/office/drawing/2014/main" id="{F64E492B-7711-4233-A434-7A1B8C47975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8812" y="1668438"/>
            <a:ext cx="8334375" cy="5143500"/>
          </a:xfrm>
          <a:prstGeom prst="rect">
            <a:avLst/>
          </a:prstGeom>
        </p:spPr>
      </p:pic>
    </p:spTree>
    <p:extLst>
      <p:ext uri="{BB962C8B-B14F-4D97-AF65-F5344CB8AC3E}">
        <p14:creationId xmlns:p14="http://schemas.microsoft.com/office/powerpoint/2010/main" val="14645864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p:cNvSpPr>
            <a:spLocks noGrp="1"/>
          </p:cNvSpPr>
          <p:nvPr>
            <p:ph type="title"/>
          </p:nvPr>
        </p:nvSpPr>
        <p:spPr>
          <a:xfrm>
            <a:off x="915229" y="403848"/>
            <a:ext cx="10515600" cy="702710"/>
          </a:xfrm>
        </p:spPr>
        <p:txBody>
          <a:bodyPr>
            <a:noAutofit/>
          </a:bodyPr>
          <a:lstStyle/>
          <a:p>
            <a:pPr algn="ctr"/>
            <a:r>
              <a:rPr lang="es-MX" sz="2000" b="1" dirty="0">
                <a:latin typeface="Century Gothic" panose="020B0502020202020204" pitchFamily="34" charset="0"/>
              </a:rPr>
              <a:t>Ingreso Corriente Per Cápita de la región Sierra y el país</a:t>
            </a:r>
            <a:endParaRPr lang="es-EC" sz="2000" dirty="0"/>
          </a:p>
        </p:txBody>
      </p:sp>
      <p:pic>
        <p:nvPicPr>
          <p:cNvPr id="9" name="Imagen 8">
            <a:extLst>
              <a:ext uri="{FF2B5EF4-FFF2-40B4-BE49-F238E27FC236}">
                <a16:creationId xmlns:a16="http://schemas.microsoft.com/office/drawing/2014/main" id="{2FB1BF42-71FF-40AB-A7C6-8B114F58B9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5841" y="1106558"/>
            <a:ext cx="8334375" cy="5143500"/>
          </a:xfrm>
          <a:prstGeom prst="rect">
            <a:avLst/>
          </a:prstGeom>
        </p:spPr>
      </p:pic>
    </p:spTree>
    <p:extLst>
      <p:ext uri="{BB962C8B-B14F-4D97-AF65-F5344CB8AC3E}">
        <p14:creationId xmlns:p14="http://schemas.microsoft.com/office/powerpoint/2010/main" val="710036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35147" y="266651"/>
            <a:ext cx="10515600" cy="1325563"/>
          </a:xfrm>
        </p:spPr>
        <p:txBody>
          <a:bodyPr>
            <a:normAutofit/>
          </a:bodyPr>
          <a:lstStyle/>
          <a:p>
            <a:pPr algn="ctr"/>
            <a:r>
              <a:rPr lang="es-MX" sz="2000" b="1" dirty="0">
                <a:latin typeface="Century Gothic" panose="020B0502020202020204" pitchFamily="34" charset="0"/>
              </a:rPr>
              <a:t>Análisis de Ingreso Corriente Per Cápita de la región Sierra y el país</a:t>
            </a:r>
            <a:endParaRPr lang="es-EC" sz="2000" dirty="0"/>
          </a:p>
        </p:txBody>
      </p:sp>
      <p:sp>
        <p:nvSpPr>
          <p:cNvPr id="5" name="CuadroTexto 4"/>
          <p:cNvSpPr txBox="1"/>
          <p:nvPr/>
        </p:nvSpPr>
        <p:spPr>
          <a:xfrm>
            <a:off x="1974165" y="1758462"/>
            <a:ext cx="8637563" cy="2308324"/>
          </a:xfrm>
          <a:prstGeom prst="rect">
            <a:avLst/>
          </a:prstGeom>
          <a:noFill/>
          <a:ln>
            <a:solidFill>
              <a:schemeClr val="tx1"/>
            </a:solidFill>
          </a:ln>
        </p:spPr>
        <p:txBody>
          <a:bodyPr wrap="square" rtlCol="0">
            <a:spAutoFit/>
          </a:bodyPr>
          <a:lstStyle/>
          <a:p>
            <a:r>
              <a:rPr lang="es-MX"/>
              <a:t>El ingreso corriente per cápita promedio en la Sierra es de $470,80, mientras que el promedio nacional es de $411,36. Esto representa una diferencia de aproximadamente $59,44, por lo que el ingreso promedio de la Sierra es un 14,5 % mayor que el nacional. Además, la Sierra presenta una mayor variación en los ingresos y una mediana superior a la del país. Esto indica que, en general, las personas de los hogares analizados en la Sierra tienen ingresos per cápita más altos, aunque también existe una mayor diferencia entre los niveles de ingreso. En ambos casos, la distribución está sesgada hacia la derecha, lo que significa que algunos hogares con ingresos bastante altos hacen que el promedio aumente</a:t>
            </a:r>
            <a:endParaRPr lang="es-EC" dirty="0"/>
          </a:p>
        </p:txBody>
      </p:sp>
    </p:spTree>
    <p:extLst>
      <p:ext uri="{BB962C8B-B14F-4D97-AF65-F5344CB8AC3E}">
        <p14:creationId xmlns:p14="http://schemas.microsoft.com/office/powerpoint/2010/main" val="19830490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93694" y="160337"/>
            <a:ext cx="10515600" cy="1325563"/>
          </a:xfrm>
        </p:spPr>
        <p:txBody>
          <a:bodyPr>
            <a:normAutofit/>
          </a:bodyPr>
          <a:lstStyle/>
          <a:p>
            <a:pPr algn="ctr"/>
            <a:r>
              <a:rPr lang="es-MX" sz="2000" b="1" dirty="0">
                <a:latin typeface="Century Gothic" panose="020B0502020202020204" pitchFamily="34" charset="0"/>
              </a:rPr>
              <a:t>Ingreso Corriente Per Cápita de la región Sierra por sexo del representante del hogar</a:t>
            </a:r>
            <a:endParaRPr lang="es-EC" sz="2000" b="1" dirty="0">
              <a:latin typeface="Century Gothic" panose="020B0502020202020204" pitchFamily="34" charset="0"/>
            </a:endParaRPr>
          </a:p>
        </p:txBody>
      </p:sp>
      <p:sp>
        <p:nvSpPr>
          <p:cNvPr id="4" name="AutoShape 2" descr="Imagen generada por IA"/>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C"/>
          </a:p>
        </p:txBody>
      </p:sp>
      <p:sp>
        <p:nvSpPr>
          <p:cNvPr id="5" name="AutoShape 4" descr="Imagen generada por IA"/>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C"/>
          </a:p>
        </p:txBody>
      </p:sp>
      <p:pic>
        <p:nvPicPr>
          <p:cNvPr id="7" name="Imagen 6">
            <a:extLst>
              <a:ext uri="{FF2B5EF4-FFF2-40B4-BE49-F238E27FC236}">
                <a16:creationId xmlns:a16="http://schemas.microsoft.com/office/drawing/2014/main" id="{D3D33120-E11A-4A81-BD1A-2E46478FC0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4306" y="1485900"/>
            <a:ext cx="8334375" cy="5143500"/>
          </a:xfrm>
          <a:prstGeom prst="rect">
            <a:avLst/>
          </a:prstGeom>
        </p:spPr>
      </p:pic>
    </p:spTree>
    <p:extLst>
      <p:ext uri="{BB962C8B-B14F-4D97-AF65-F5344CB8AC3E}">
        <p14:creationId xmlns:p14="http://schemas.microsoft.com/office/powerpoint/2010/main" val="2946932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1"/>
          <p:cNvSpPr>
            <a:spLocks noGrp="1"/>
          </p:cNvSpPr>
          <p:nvPr>
            <p:ph type="title"/>
          </p:nvPr>
        </p:nvSpPr>
        <p:spPr>
          <a:xfrm>
            <a:off x="1093694" y="160337"/>
            <a:ext cx="10515600" cy="1325563"/>
          </a:xfrm>
        </p:spPr>
        <p:txBody>
          <a:bodyPr>
            <a:normAutofit/>
          </a:bodyPr>
          <a:lstStyle/>
          <a:p>
            <a:pPr algn="ctr"/>
            <a:r>
              <a:rPr lang="es-MX" sz="2000" b="1" dirty="0">
                <a:latin typeface="Century Gothic" panose="020B0502020202020204" pitchFamily="34" charset="0"/>
              </a:rPr>
              <a:t>Ingreso Corriente Per Cápita de la región Sierra por sexo del representante del hogar</a:t>
            </a:r>
            <a:endParaRPr lang="es-EC" sz="2000" b="1" dirty="0">
              <a:latin typeface="Century Gothic" panose="020B0502020202020204" pitchFamily="34" charset="0"/>
            </a:endParaRPr>
          </a:p>
        </p:txBody>
      </p:sp>
      <p:pic>
        <p:nvPicPr>
          <p:cNvPr id="4" name="Imagen 3">
            <a:extLst>
              <a:ext uri="{FF2B5EF4-FFF2-40B4-BE49-F238E27FC236}">
                <a16:creationId xmlns:a16="http://schemas.microsoft.com/office/drawing/2014/main" id="{D8D24701-B286-4ABB-91A4-B200F00BF4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1882" y="1364877"/>
            <a:ext cx="8334375" cy="5143500"/>
          </a:xfrm>
          <a:prstGeom prst="rect">
            <a:avLst/>
          </a:prstGeom>
        </p:spPr>
      </p:pic>
    </p:spTree>
    <p:extLst>
      <p:ext uri="{BB962C8B-B14F-4D97-AF65-F5344CB8AC3E}">
        <p14:creationId xmlns:p14="http://schemas.microsoft.com/office/powerpoint/2010/main" val="4062290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p>
            <a:pPr algn="ctr"/>
            <a:r>
              <a:rPr lang="es-MX" sz="2000" b="1" dirty="0">
                <a:latin typeface="Century Gothic" panose="020B0502020202020204" pitchFamily="34" charset="0"/>
              </a:rPr>
              <a:t>Análisis del Ingreso Corriente Per Cápita de la región Sierra por sexo del representante del hogar</a:t>
            </a:r>
            <a:endParaRPr lang="es-EC" sz="2000" dirty="0"/>
          </a:p>
        </p:txBody>
      </p:sp>
      <p:sp>
        <p:nvSpPr>
          <p:cNvPr id="4" name="CuadroTexto 3"/>
          <p:cNvSpPr txBox="1"/>
          <p:nvPr/>
        </p:nvSpPr>
        <p:spPr>
          <a:xfrm>
            <a:off x="1973241" y="1994845"/>
            <a:ext cx="8637563" cy="2862322"/>
          </a:xfrm>
          <a:prstGeom prst="rect">
            <a:avLst/>
          </a:prstGeom>
          <a:noFill/>
          <a:ln>
            <a:solidFill>
              <a:schemeClr val="tx1"/>
            </a:solidFill>
          </a:ln>
        </p:spPr>
        <p:txBody>
          <a:bodyPr wrap="square" rtlCol="0">
            <a:spAutoFit/>
          </a:bodyPr>
          <a:lstStyle/>
          <a:p>
            <a:r>
              <a:rPr lang="es-MX"/>
              <a:t>En la Sierra, los hogares que tienen a un hombre como jefe presentan un ingreso corriente per cápita promedio de $490,13, mientras que en los hogares con jefatura femenina el promedio es de $438,24. Esto representa una diferencia de $51,89, es decir, aproximadamente un 11,8 % más en los hogares con jefatura masculina. Esta diferencia también se observa en la mediana y en los cuartiles, lo que indica que no se debe únicamente a algunos hogares con ingresos muy altos. En general, los hogares liderados por hombres presentan ingresos per cápita mayores que los liderados por mujeres. Además, en ambos grupos los ingresos tienen una distribución sesgada hacia la derecha, ya que el promedio es mayor que la mediana. Finalmente, en la muestra hay una mayor cantidad de hogares con jefatura masculina (10.681) que con jefatura femenina (6.368).</a:t>
            </a:r>
            <a:endParaRPr lang="es-EC" dirty="0"/>
          </a:p>
        </p:txBody>
      </p:sp>
    </p:spTree>
    <p:extLst>
      <p:ext uri="{BB962C8B-B14F-4D97-AF65-F5344CB8AC3E}">
        <p14:creationId xmlns:p14="http://schemas.microsoft.com/office/powerpoint/2010/main" val="1647902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s-MX" sz="1800" b="1" dirty="0">
                <a:latin typeface="Century Gothic" panose="020B0502020202020204" pitchFamily="34" charset="0"/>
              </a:rPr>
              <a:t>Región Sierra: Gasto Corriente de Consumo promedio por Deciles de Ingreso Corriente Per Cápita</a:t>
            </a:r>
            <a:endParaRPr lang="es-EC" sz="1800" b="1" dirty="0">
              <a:latin typeface="Century Gothic" panose="020B0502020202020204" pitchFamily="34" charset="0"/>
            </a:endParaRPr>
          </a:p>
        </p:txBody>
      </p:sp>
      <p:sp>
        <p:nvSpPr>
          <p:cNvPr id="5" name="AutoShape 2" descr="http://127.0.0.1:47960/chunk_output/29B96177dc86499f/EDE59FF5/cqypv7ymiaf6i/00001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EC"/>
          </a:p>
        </p:txBody>
      </p:sp>
      <p:sp>
        <p:nvSpPr>
          <p:cNvPr id="7" name="CuadroTexto 6"/>
          <p:cNvSpPr txBox="1"/>
          <p:nvPr/>
        </p:nvSpPr>
        <p:spPr>
          <a:xfrm>
            <a:off x="7686468" y="2304256"/>
            <a:ext cx="4200732" cy="286232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s-MX" dirty="0">
                <a:latin typeface="Century Gothic" panose="020B0502020202020204" pitchFamily="34" charset="0"/>
              </a:rPr>
              <a:t>Análisis</a:t>
            </a:r>
          </a:p>
          <a:p>
            <a:r>
              <a:rPr lang="es-MX" dirty="0"/>
              <a:t>El gasto de consumo en la Sierra aumenta a medida que suben los ingresos. En el </a:t>
            </a:r>
            <a:r>
              <a:rPr lang="es-MX" b="1" dirty="0"/>
              <a:t>Decil 1</a:t>
            </a:r>
            <a:r>
              <a:rPr lang="es-MX" dirty="0"/>
              <a:t> el gasto promedio es de </a:t>
            </a:r>
            <a:r>
              <a:rPr lang="es-MX" b="1" dirty="0"/>
              <a:t>$305,10</a:t>
            </a:r>
            <a:r>
              <a:rPr lang="es-MX" dirty="0"/>
              <a:t>, mientras que en el </a:t>
            </a:r>
            <a:r>
              <a:rPr lang="es-MX" b="1" dirty="0"/>
              <a:t>Decil 10</a:t>
            </a:r>
            <a:r>
              <a:rPr lang="es-MX" dirty="0"/>
              <a:t> llega a </a:t>
            </a:r>
            <a:r>
              <a:rPr lang="es-MX" b="1" dirty="0"/>
              <a:t>$1.522,10</a:t>
            </a:r>
            <a:r>
              <a:rPr lang="es-MX" dirty="0"/>
              <a:t>, casi cinco veces más. Además, desde el </a:t>
            </a:r>
            <a:r>
              <a:rPr lang="es-MX" b="1" dirty="0"/>
              <a:t>Decil 6</a:t>
            </a:r>
            <a:r>
              <a:rPr lang="es-MX" dirty="0"/>
              <a:t> el gasto supera el promedio regional de </a:t>
            </a:r>
            <a:r>
              <a:rPr lang="es-MX" b="1" dirty="0"/>
              <a:t>$713,40</a:t>
            </a:r>
            <a:r>
              <a:rPr lang="es-MX" dirty="0"/>
              <a:t>, mostrando que los hogares con mayores ingresos tienen una mayor capacidad de consumo.</a:t>
            </a:r>
          </a:p>
        </p:txBody>
      </p:sp>
      <p:pic>
        <p:nvPicPr>
          <p:cNvPr id="4" name="Imagen 3">
            <a:extLst>
              <a:ext uri="{FF2B5EF4-FFF2-40B4-BE49-F238E27FC236}">
                <a16:creationId xmlns:a16="http://schemas.microsoft.com/office/drawing/2014/main" id="{8158D238-381E-476F-88CD-5659916A323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4800" y="1790556"/>
            <a:ext cx="7200900" cy="4371542"/>
          </a:xfrm>
          <a:prstGeom prst="rect">
            <a:avLst/>
          </a:prstGeom>
        </p:spPr>
      </p:pic>
    </p:spTree>
    <p:extLst>
      <p:ext uri="{BB962C8B-B14F-4D97-AF65-F5344CB8AC3E}">
        <p14:creationId xmlns:p14="http://schemas.microsoft.com/office/powerpoint/2010/main" val="2902288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p:cNvSpPr/>
          <p:nvPr/>
        </p:nvSpPr>
        <p:spPr>
          <a:xfrm>
            <a:off x="965799" y="164029"/>
            <a:ext cx="10349946" cy="892552"/>
          </a:xfrm>
          <a:prstGeom prst="rect">
            <a:avLst/>
          </a:prstGeom>
        </p:spPr>
        <p:txBody>
          <a:bodyPr wrap="square">
            <a:spAutoFit/>
          </a:bodyPr>
          <a:lstStyle/>
          <a:p>
            <a:pPr algn="ctr"/>
            <a:r>
              <a:rPr lang="es-MX" sz="2000" b="1" dirty="0">
                <a:latin typeface="Century Gothic" panose="020B0502020202020204" pitchFamily="34" charset="0"/>
              </a:rPr>
              <a:t>¿Cómo cambian las prioridades de gasto en la Sierra? </a:t>
            </a:r>
            <a:br>
              <a:rPr lang="es-MX" sz="2000" dirty="0">
                <a:latin typeface="Century Gothic" panose="020B0502020202020204" pitchFamily="34" charset="0"/>
              </a:rPr>
            </a:br>
            <a:r>
              <a:rPr lang="es-MX" sz="1600" dirty="0">
                <a:latin typeface="Century Gothic" panose="020B0502020202020204" pitchFamily="34" charset="0"/>
              </a:rPr>
              <a:t>Porcentaje del Gasto Corriente de Consumo del Hogar por deciles de Ingreso Corriente Per Cápita, según divisiones de consumo.</a:t>
            </a:r>
            <a:endParaRPr lang="es-EC" sz="1600" dirty="0"/>
          </a:p>
        </p:txBody>
      </p:sp>
      <p:graphicFrame>
        <p:nvGraphicFramePr>
          <p:cNvPr id="5" name="Gráfico 4">
            <a:extLst>
              <a:ext uri="{FF2B5EF4-FFF2-40B4-BE49-F238E27FC236}">
                <a16:creationId xmlns:a16="http://schemas.microsoft.com/office/drawing/2014/main" id="{A6772F18-6AFA-400E-AF6F-523CEC6DBBE4}"/>
              </a:ext>
            </a:extLst>
          </p:cNvPr>
          <p:cNvGraphicFramePr>
            <a:graphicFrameLocks/>
          </p:cNvGraphicFramePr>
          <p:nvPr>
            <p:extLst>
              <p:ext uri="{D42A27DB-BD31-4B8C-83A1-F6EECF244321}">
                <p14:modId xmlns:p14="http://schemas.microsoft.com/office/powerpoint/2010/main" val="3474489168"/>
              </p:ext>
            </p:extLst>
          </p:nvPr>
        </p:nvGraphicFramePr>
        <p:xfrm>
          <a:off x="1524944" y="1056581"/>
          <a:ext cx="9701257" cy="563739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9198318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965799" y="164029"/>
            <a:ext cx="10349946" cy="892552"/>
          </a:xfrm>
          <a:prstGeom prst="rect">
            <a:avLst/>
          </a:prstGeom>
        </p:spPr>
        <p:txBody>
          <a:bodyPr wrap="square">
            <a:spAutoFit/>
          </a:bodyPr>
          <a:lstStyle/>
          <a:p>
            <a:pPr algn="ctr"/>
            <a:r>
              <a:rPr lang="es-MX" sz="2000" b="1" dirty="0">
                <a:latin typeface="Century Gothic" panose="020B0502020202020204" pitchFamily="34" charset="0"/>
              </a:rPr>
              <a:t>¿Cómo cambian las prioridades de gasto en la Sierra? </a:t>
            </a:r>
            <a:br>
              <a:rPr lang="es-MX" sz="2000" dirty="0">
                <a:latin typeface="Century Gothic" panose="020B0502020202020204" pitchFamily="34" charset="0"/>
              </a:rPr>
            </a:br>
            <a:r>
              <a:rPr lang="es-MX" sz="1600" dirty="0">
                <a:latin typeface="Century Gothic" panose="020B0502020202020204" pitchFamily="34" charset="0"/>
              </a:rPr>
              <a:t>Porcentaje del Gasto Corriente de Consumo del Hogar por </a:t>
            </a:r>
            <a:r>
              <a:rPr lang="es-MX" sz="1600" dirty="0" err="1">
                <a:latin typeface="Century Gothic" panose="020B0502020202020204" pitchFamily="34" charset="0"/>
              </a:rPr>
              <a:t>deciles</a:t>
            </a:r>
            <a:r>
              <a:rPr lang="es-MX" sz="1600" dirty="0">
                <a:latin typeface="Century Gothic" panose="020B0502020202020204" pitchFamily="34" charset="0"/>
              </a:rPr>
              <a:t> de Ingreso Corriente Per Cápita, según divisiones de consumo.</a:t>
            </a:r>
            <a:endParaRPr lang="es-EC" sz="1600" dirty="0"/>
          </a:p>
        </p:txBody>
      </p:sp>
      <p:graphicFrame>
        <p:nvGraphicFramePr>
          <p:cNvPr id="6" name="Gráfico 5">
            <a:extLst>
              <a:ext uri="{FF2B5EF4-FFF2-40B4-BE49-F238E27FC236}">
                <a16:creationId xmlns:a16="http://schemas.microsoft.com/office/drawing/2014/main" id="{D78C4AA4-85D6-4E46-A195-C7D6D8C295AF}"/>
              </a:ext>
            </a:extLst>
          </p:cNvPr>
          <p:cNvGraphicFramePr>
            <a:graphicFrameLocks/>
          </p:cNvGraphicFramePr>
          <p:nvPr>
            <p:extLst>
              <p:ext uri="{D42A27DB-BD31-4B8C-83A1-F6EECF244321}">
                <p14:modId xmlns:p14="http://schemas.microsoft.com/office/powerpoint/2010/main" val="3661159866"/>
              </p:ext>
            </p:extLst>
          </p:nvPr>
        </p:nvGraphicFramePr>
        <p:xfrm>
          <a:off x="1800225" y="1056580"/>
          <a:ext cx="8785381" cy="580142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806763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áfico 3"/>
          <p:cNvGraphicFramePr>
            <a:graphicFrameLocks/>
          </p:cNvGraphicFramePr>
          <p:nvPr>
            <p:extLst>
              <p:ext uri="{D42A27DB-BD31-4B8C-83A1-F6EECF244321}">
                <p14:modId xmlns:p14="http://schemas.microsoft.com/office/powerpoint/2010/main" val="2560901128"/>
              </p:ext>
            </p:extLst>
          </p:nvPr>
        </p:nvGraphicFramePr>
        <p:xfrm>
          <a:off x="3914775" y="4300538"/>
          <a:ext cx="45719" cy="32861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Gráfico 4"/>
          <p:cNvGraphicFramePr>
            <a:graphicFrameLocks/>
          </p:cNvGraphicFramePr>
          <p:nvPr>
            <p:extLst>
              <p:ext uri="{D42A27DB-BD31-4B8C-83A1-F6EECF244321}">
                <p14:modId xmlns:p14="http://schemas.microsoft.com/office/powerpoint/2010/main" val="2437918168"/>
              </p:ext>
            </p:extLst>
          </p:nvPr>
        </p:nvGraphicFramePr>
        <p:xfrm>
          <a:off x="9503362" y="3560007"/>
          <a:ext cx="45719" cy="319084"/>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ángulo 5"/>
          <p:cNvSpPr/>
          <p:nvPr/>
        </p:nvSpPr>
        <p:spPr>
          <a:xfrm>
            <a:off x="957396" y="141399"/>
            <a:ext cx="10349946" cy="892552"/>
          </a:xfrm>
          <a:prstGeom prst="rect">
            <a:avLst/>
          </a:prstGeom>
        </p:spPr>
        <p:txBody>
          <a:bodyPr wrap="square">
            <a:spAutoFit/>
          </a:bodyPr>
          <a:lstStyle/>
          <a:p>
            <a:pPr algn="ctr"/>
            <a:r>
              <a:rPr lang="es-MX" sz="2000" b="1" dirty="0">
                <a:latin typeface="Century Gothic" panose="020B0502020202020204" pitchFamily="34" charset="0"/>
              </a:rPr>
              <a:t>¿Cómo cambian las prioridades de gasto en la Sierra? </a:t>
            </a:r>
            <a:br>
              <a:rPr lang="es-MX" sz="2000" dirty="0">
                <a:latin typeface="Century Gothic" panose="020B0502020202020204" pitchFamily="34" charset="0"/>
              </a:rPr>
            </a:br>
            <a:r>
              <a:rPr lang="es-MX" sz="1600" dirty="0">
                <a:latin typeface="Century Gothic" panose="020B0502020202020204" pitchFamily="34" charset="0"/>
              </a:rPr>
              <a:t>Porcentaje del Gasto Corriente de Consumo del Hogar por </a:t>
            </a:r>
            <a:r>
              <a:rPr lang="es-MX" sz="1600" dirty="0" err="1">
                <a:latin typeface="Century Gothic" panose="020B0502020202020204" pitchFamily="34" charset="0"/>
              </a:rPr>
              <a:t>deciles</a:t>
            </a:r>
            <a:r>
              <a:rPr lang="es-MX" sz="1600" dirty="0">
                <a:latin typeface="Century Gothic" panose="020B0502020202020204" pitchFamily="34" charset="0"/>
              </a:rPr>
              <a:t> de Ingreso Corriente per cápita, según divisiones de consumo.</a:t>
            </a:r>
            <a:endParaRPr lang="es-EC" sz="1600" dirty="0"/>
          </a:p>
        </p:txBody>
      </p:sp>
      <p:graphicFrame>
        <p:nvGraphicFramePr>
          <p:cNvPr id="7" name="Gráfico 6">
            <a:extLst>
              <a:ext uri="{FF2B5EF4-FFF2-40B4-BE49-F238E27FC236}">
                <a16:creationId xmlns:a16="http://schemas.microsoft.com/office/drawing/2014/main" id="{E58D2AEF-1053-4FBC-A807-97F2EBCF96AC}"/>
              </a:ext>
            </a:extLst>
          </p:cNvPr>
          <p:cNvGraphicFramePr>
            <a:graphicFrameLocks/>
          </p:cNvGraphicFramePr>
          <p:nvPr>
            <p:extLst>
              <p:ext uri="{D42A27DB-BD31-4B8C-83A1-F6EECF244321}">
                <p14:modId xmlns:p14="http://schemas.microsoft.com/office/powerpoint/2010/main" val="634648241"/>
              </p:ext>
            </p:extLst>
          </p:nvPr>
        </p:nvGraphicFramePr>
        <p:xfrm>
          <a:off x="6132369" y="1121405"/>
          <a:ext cx="5820229" cy="558419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Gráfico 7">
            <a:extLst>
              <a:ext uri="{FF2B5EF4-FFF2-40B4-BE49-F238E27FC236}">
                <a16:creationId xmlns:a16="http://schemas.microsoft.com/office/drawing/2014/main" id="{E084C421-9269-4DDA-8530-C2EE57ABCF43}"/>
              </a:ext>
            </a:extLst>
          </p:cNvPr>
          <p:cNvGraphicFramePr>
            <a:graphicFrameLocks/>
          </p:cNvGraphicFramePr>
          <p:nvPr>
            <p:extLst>
              <p:ext uri="{D42A27DB-BD31-4B8C-83A1-F6EECF244321}">
                <p14:modId xmlns:p14="http://schemas.microsoft.com/office/powerpoint/2010/main" val="489362512"/>
              </p:ext>
            </p:extLst>
          </p:nvPr>
        </p:nvGraphicFramePr>
        <p:xfrm>
          <a:off x="300810" y="1121405"/>
          <a:ext cx="5644606" cy="5649986"/>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7006037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p>
            <a:pPr algn="ctr"/>
            <a:r>
              <a:rPr lang="es-MX" sz="2000" b="1" dirty="0">
                <a:latin typeface="Century Gothic" panose="020B0502020202020204" pitchFamily="34" charset="0"/>
              </a:rPr>
              <a:t>Análisis: Gasto Corriente de Consumo del Hogar por </a:t>
            </a:r>
            <a:r>
              <a:rPr lang="es-MX" sz="2000" b="1" dirty="0" err="1">
                <a:latin typeface="Century Gothic" panose="020B0502020202020204" pitchFamily="34" charset="0"/>
              </a:rPr>
              <a:t>deciles</a:t>
            </a:r>
            <a:r>
              <a:rPr lang="es-MX" sz="2000" b="1" dirty="0">
                <a:latin typeface="Century Gothic" panose="020B0502020202020204" pitchFamily="34" charset="0"/>
              </a:rPr>
              <a:t> de Ingreso Corriente Per Cápita, según divisiones de consumo.</a:t>
            </a:r>
            <a:endParaRPr lang="es-EC" sz="2000" b="1" dirty="0"/>
          </a:p>
        </p:txBody>
      </p:sp>
      <p:sp>
        <p:nvSpPr>
          <p:cNvPr id="4" name="CuadroTexto 3"/>
          <p:cNvSpPr txBox="1"/>
          <p:nvPr/>
        </p:nvSpPr>
        <p:spPr>
          <a:xfrm>
            <a:off x="1777218" y="1925516"/>
            <a:ext cx="8637563" cy="3970318"/>
          </a:xfrm>
          <a:prstGeom prst="rect">
            <a:avLst/>
          </a:prstGeom>
          <a:noFill/>
          <a:ln>
            <a:solidFill>
              <a:schemeClr val="tx1"/>
            </a:solidFill>
          </a:ln>
        </p:spPr>
        <p:txBody>
          <a:bodyPr wrap="square" rtlCol="0">
            <a:spAutoFit/>
          </a:bodyPr>
          <a:lstStyle/>
          <a:p>
            <a:r>
              <a:rPr lang="es-MX" dirty="0"/>
              <a:t>En la Sierra, las principales categorías de gasto son </a:t>
            </a:r>
            <a:r>
              <a:rPr lang="es-MX" b="1" dirty="0"/>
              <a:t>alimentos y bebidas no alcohólicas (17,9 %), transporte (14,1 %), vivienda, agua y electricidad (11,4 %) y restaurantes y alojamiento (9,4 %)</a:t>
            </a:r>
            <a:r>
              <a:rPr lang="es-MX" dirty="0"/>
              <a:t>. Estas cuatro divisiones representan más de la mitad del gasto total de los hogares.</a:t>
            </a:r>
          </a:p>
          <a:p>
            <a:r>
              <a:rPr lang="es-MX" dirty="0"/>
              <a:t>Al comparar los deciles, los </a:t>
            </a:r>
            <a:r>
              <a:rPr lang="es-MX" b="1" dirty="0"/>
              <a:t>alimentos</a:t>
            </a:r>
            <a:r>
              <a:rPr lang="es-MX" dirty="0"/>
              <a:t> pasan de </a:t>
            </a:r>
            <a:r>
              <a:rPr lang="es-MX" b="1" dirty="0"/>
              <a:t>$93,80 en el Decil 1 a $152,00 en el Decil 10</a:t>
            </a:r>
            <a:r>
              <a:rPr lang="es-MX" dirty="0"/>
              <a:t>, un aumento relativamente pequeño. Esto se relaciona con la </a:t>
            </a:r>
            <a:r>
              <a:rPr lang="es-MX" b="1" dirty="0"/>
              <a:t>Ley de Engel</a:t>
            </a:r>
            <a:r>
              <a:rPr lang="es-MX" dirty="0"/>
              <a:t>, ya que los alimentos son una necesidad básica y su peso disminuye en los hogares con mayores ingresos. En cambio, los </a:t>
            </a:r>
            <a:r>
              <a:rPr lang="es-MX" b="1" dirty="0"/>
              <a:t>servicios educativos</a:t>
            </a:r>
            <a:r>
              <a:rPr lang="es-MX" dirty="0"/>
              <a:t> aumentan de </a:t>
            </a:r>
            <a:r>
              <a:rPr lang="es-MX" b="1" dirty="0"/>
              <a:t>$2,90 a $148,90</a:t>
            </a:r>
            <a:r>
              <a:rPr lang="es-MX" dirty="0"/>
              <a:t>, y los </a:t>
            </a:r>
            <a:r>
              <a:rPr lang="es-MX" b="1" dirty="0"/>
              <a:t>seguros y servicios financieros</a:t>
            </a:r>
            <a:r>
              <a:rPr lang="es-MX" dirty="0"/>
              <a:t> de </a:t>
            </a:r>
            <a:r>
              <a:rPr lang="es-MX" b="1" dirty="0"/>
              <a:t>$1,60 a $50,70</a:t>
            </a:r>
            <a:r>
              <a:rPr lang="es-MX" dirty="0"/>
              <a:t>, mostrando una diferencia mucho mayor.</a:t>
            </a:r>
          </a:p>
          <a:p>
            <a:r>
              <a:rPr lang="es-MX" dirty="0"/>
              <a:t>En general, los gastos básicos como alimentación y vivienda se mantienen más estables, mientras que </a:t>
            </a:r>
            <a:r>
              <a:rPr lang="es-MX" b="1" dirty="0"/>
              <a:t>educación, seguros, recreación y restaurantes</a:t>
            </a:r>
            <a:r>
              <a:rPr lang="es-MX" dirty="0"/>
              <a:t> aumentan con mayor fuerza a medida que crecen los ingresos. Esto refleja las diferencias en la capacidad de consumo entre los hogares</a:t>
            </a:r>
          </a:p>
          <a:p>
            <a:endParaRPr lang="es-EC" dirty="0"/>
          </a:p>
        </p:txBody>
      </p:sp>
    </p:spTree>
    <p:extLst>
      <p:ext uri="{BB962C8B-B14F-4D97-AF65-F5344CB8AC3E}">
        <p14:creationId xmlns:p14="http://schemas.microsoft.com/office/powerpoint/2010/main" val="3049382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ángulo 9"/>
          <p:cNvSpPr/>
          <p:nvPr/>
        </p:nvSpPr>
        <p:spPr>
          <a:xfrm>
            <a:off x="1837546" y="3467100"/>
            <a:ext cx="3729450" cy="707886"/>
          </a:xfrm>
          <a:prstGeom prst="rect">
            <a:avLst/>
          </a:prstGeom>
        </p:spPr>
        <p:txBody>
          <a:bodyPr wrap="square">
            <a:spAutoFit/>
          </a:bodyPr>
          <a:lstStyle/>
          <a:p>
            <a:pPr algn="ctr">
              <a:defRPr sz="1440" b="0" i="0" u="none" strike="noStrike" kern="1200" cap="none" spc="20" baseline="0">
                <a:solidFill>
                  <a:prstClr val="black"/>
                </a:solidFill>
                <a:latin typeface="Century Gothic" panose="020B0502020202020204" pitchFamily="34" charset="0"/>
                <a:ea typeface="+mn-ea"/>
                <a:cs typeface="+mn-cs"/>
              </a:defRPr>
            </a:pPr>
            <a:r>
              <a:rPr lang="es-EC" sz="2000" b="1" dirty="0"/>
              <a:t>Distribución conjunta de probabilidad</a:t>
            </a:r>
          </a:p>
        </p:txBody>
      </p:sp>
      <p:sp>
        <p:nvSpPr>
          <p:cNvPr id="11" name="Rectángulo 10"/>
          <p:cNvSpPr/>
          <p:nvPr/>
        </p:nvSpPr>
        <p:spPr>
          <a:xfrm>
            <a:off x="1989822" y="401694"/>
            <a:ext cx="9260227" cy="400110"/>
          </a:xfrm>
          <a:prstGeom prst="rect">
            <a:avLst/>
          </a:prstGeom>
        </p:spPr>
        <p:txBody>
          <a:bodyPr wrap="square">
            <a:spAutoFit/>
          </a:bodyPr>
          <a:lstStyle/>
          <a:p>
            <a:pPr algn="ctr">
              <a:defRPr sz="1440" b="0" i="0" u="none" strike="noStrike" kern="1200" cap="none" spc="20" baseline="0">
                <a:solidFill>
                  <a:prstClr val="black"/>
                </a:solidFill>
                <a:latin typeface="Century Gothic" panose="020B0502020202020204" pitchFamily="34" charset="0"/>
                <a:ea typeface="+mn-ea"/>
                <a:cs typeface="+mn-cs"/>
              </a:defRPr>
            </a:pPr>
            <a:r>
              <a:rPr lang="es-MX" sz="2000" b="1" dirty="0"/>
              <a:t>Análisis bivariado: Ser perceptor de ingresos y Sexo - Sierra</a:t>
            </a:r>
            <a:endParaRPr lang="es-EC" sz="2000" b="1" dirty="0"/>
          </a:p>
        </p:txBody>
      </p:sp>
      <p:sp>
        <p:nvSpPr>
          <p:cNvPr id="9" name="Rectángulo 8"/>
          <p:cNvSpPr/>
          <p:nvPr/>
        </p:nvSpPr>
        <p:spPr>
          <a:xfrm>
            <a:off x="4259910" y="1098660"/>
            <a:ext cx="3729450" cy="400110"/>
          </a:xfrm>
          <a:prstGeom prst="rect">
            <a:avLst/>
          </a:prstGeom>
        </p:spPr>
        <p:txBody>
          <a:bodyPr wrap="square">
            <a:spAutoFit/>
          </a:bodyPr>
          <a:lstStyle/>
          <a:p>
            <a:pPr algn="ctr">
              <a:defRPr sz="1440" b="0" i="0" u="none" strike="noStrike" kern="1200" cap="none" spc="20" baseline="0">
                <a:solidFill>
                  <a:prstClr val="black"/>
                </a:solidFill>
                <a:latin typeface="Century Gothic" panose="020B0502020202020204" pitchFamily="34" charset="0"/>
                <a:ea typeface="+mn-ea"/>
                <a:cs typeface="+mn-cs"/>
              </a:defRPr>
            </a:pPr>
            <a:r>
              <a:rPr lang="es-EC" sz="2000" b="1" dirty="0"/>
              <a:t>Tabla </a:t>
            </a:r>
            <a:r>
              <a:rPr lang="es-EC" sz="2000" b="1" dirty="0" err="1"/>
              <a:t>bivariada</a:t>
            </a:r>
            <a:endParaRPr lang="es-EC" sz="2000" b="1" dirty="0"/>
          </a:p>
        </p:txBody>
      </p:sp>
      <p:graphicFrame>
        <p:nvGraphicFramePr>
          <p:cNvPr id="2" name="Tabla 1"/>
          <p:cNvGraphicFramePr>
            <a:graphicFrameLocks noGrp="1"/>
          </p:cNvGraphicFramePr>
          <p:nvPr>
            <p:extLst>
              <p:ext uri="{D42A27DB-BD31-4B8C-83A1-F6EECF244321}">
                <p14:modId xmlns:p14="http://schemas.microsoft.com/office/powerpoint/2010/main" val="1127798248"/>
              </p:ext>
            </p:extLst>
          </p:nvPr>
        </p:nvGraphicFramePr>
        <p:xfrm>
          <a:off x="2895660" y="1596737"/>
          <a:ext cx="6876991" cy="1510995"/>
        </p:xfrm>
        <a:graphic>
          <a:graphicData uri="http://schemas.openxmlformats.org/drawingml/2006/table">
            <a:tbl>
              <a:tblPr>
                <a:tableStyleId>{9DCAF9ED-07DC-4A11-8D7F-57B35C25682E}</a:tableStyleId>
              </a:tblPr>
              <a:tblGrid>
                <a:gridCol w="2671377">
                  <a:extLst>
                    <a:ext uri="{9D8B030D-6E8A-4147-A177-3AD203B41FA5}">
                      <a16:colId xmlns:a16="http://schemas.microsoft.com/office/drawing/2014/main" val="2633945283"/>
                    </a:ext>
                  </a:extLst>
                </a:gridCol>
                <a:gridCol w="1082991">
                  <a:extLst>
                    <a:ext uri="{9D8B030D-6E8A-4147-A177-3AD203B41FA5}">
                      <a16:colId xmlns:a16="http://schemas.microsoft.com/office/drawing/2014/main" val="764303350"/>
                    </a:ext>
                  </a:extLst>
                </a:gridCol>
                <a:gridCol w="1082991">
                  <a:extLst>
                    <a:ext uri="{9D8B030D-6E8A-4147-A177-3AD203B41FA5}">
                      <a16:colId xmlns:a16="http://schemas.microsoft.com/office/drawing/2014/main" val="1665644946"/>
                    </a:ext>
                  </a:extLst>
                </a:gridCol>
                <a:gridCol w="2039632">
                  <a:extLst>
                    <a:ext uri="{9D8B030D-6E8A-4147-A177-3AD203B41FA5}">
                      <a16:colId xmlns:a16="http://schemas.microsoft.com/office/drawing/2014/main" val="3004491774"/>
                    </a:ext>
                  </a:extLst>
                </a:gridCol>
              </a:tblGrid>
              <a:tr h="302199">
                <a:tc rowSpan="2">
                  <a:txBody>
                    <a:bodyPr/>
                    <a:lstStyle/>
                    <a:p>
                      <a:pPr algn="ctr" fontAlgn="ctr"/>
                      <a:r>
                        <a:rPr lang="es-EC" sz="1600" b="1" u="none" strike="noStrike" dirty="0">
                          <a:effectLst/>
                          <a:latin typeface="Century Gothic" panose="020B0502020202020204" pitchFamily="34" charset="0"/>
                        </a:rPr>
                        <a:t>Perceptor de ingresos</a:t>
                      </a:r>
                      <a:endParaRPr lang="es-EC" sz="1600" b="1" i="0" u="none" strike="noStrike" dirty="0">
                        <a:solidFill>
                          <a:srgbClr val="000000"/>
                        </a:solidFill>
                        <a:effectLst/>
                        <a:latin typeface="Century Gothic" panose="020B0502020202020204" pitchFamily="34" charset="0"/>
                      </a:endParaRPr>
                    </a:p>
                  </a:txBody>
                  <a:tcPr marL="9525" marR="9525" marT="9525" marB="0" anchor="ctr"/>
                </a:tc>
                <a:tc gridSpan="2">
                  <a:txBody>
                    <a:bodyPr/>
                    <a:lstStyle/>
                    <a:p>
                      <a:pPr algn="ctr" fontAlgn="b"/>
                      <a:r>
                        <a:rPr lang="es-EC" sz="1600" b="1" u="none" strike="noStrike" dirty="0">
                          <a:effectLst/>
                          <a:latin typeface="Century Gothic" panose="020B0502020202020204" pitchFamily="34" charset="0"/>
                        </a:rPr>
                        <a:t>Sexo</a:t>
                      </a:r>
                      <a:endParaRPr lang="es-EC" sz="1600" b="1" i="0" u="none" strike="noStrike" dirty="0">
                        <a:solidFill>
                          <a:srgbClr val="000000"/>
                        </a:solidFill>
                        <a:effectLst/>
                        <a:latin typeface="Century Gothic" panose="020B0502020202020204" pitchFamily="34" charset="0"/>
                      </a:endParaRPr>
                    </a:p>
                  </a:txBody>
                  <a:tcPr marL="9525" marR="9525" marT="9525" marB="0" anchor="b"/>
                </a:tc>
                <a:tc hMerge="1">
                  <a:txBody>
                    <a:bodyPr/>
                    <a:lstStyle/>
                    <a:p>
                      <a:endParaRPr lang="es-EC"/>
                    </a:p>
                  </a:txBody>
                  <a:tcPr/>
                </a:tc>
                <a:tc rowSpan="2">
                  <a:txBody>
                    <a:bodyPr/>
                    <a:lstStyle/>
                    <a:p>
                      <a:pPr algn="ctr" fontAlgn="ctr"/>
                      <a:r>
                        <a:rPr lang="es-EC" sz="1600" b="1" u="none" strike="noStrike">
                          <a:effectLst/>
                          <a:latin typeface="Century Gothic" panose="020B0502020202020204" pitchFamily="34" charset="0"/>
                        </a:rPr>
                        <a:t>Total general</a:t>
                      </a:r>
                      <a:endParaRPr lang="es-EC" sz="1600" b="1" i="0" u="none" strike="noStrike">
                        <a:solidFill>
                          <a:srgbClr val="000000"/>
                        </a:solidFill>
                        <a:effectLst/>
                        <a:latin typeface="Century Gothic" panose="020B0502020202020204" pitchFamily="34" charset="0"/>
                      </a:endParaRPr>
                    </a:p>
                  </a:txBody>
                  <a:tcPr marL="9525" marR="9525" marT="9525" marB="0" anchor="ctr"/>
                </a:tc>
                <a:extLst>
                  <a:ext uri="{0D108BD9-81ED-4DB2-BD59-A6C34878D82A}">
                    <a16:rowId xmlns:a16="http://schemas.microsoft.com/office/drawing/2014/main" val="986674515"/>
                  </a:ext>
                </a:extLst>
              </a:tr>
              <a:tr h="302199">
                <a:tc vMerge="1">
                  <a:txBody>
                    <a:bodyPr/>
                    <a:lstStyle/>
                    <a:p>
                      <a:endParaRPr lang="es-EC"/>
                    </a:p>
                  </a:txBody>
                  <a:tcPr/>
                </a:tc>
                <a:tc>
                  <a:txBody>
                    <a:bodyPr/>
                    <a:lstStyle/>
                    <a:p>
                      <a:pPr algn="ctr" fontAlgn="ctr"/>
                      <a:r>
                        <a:rPr lang="es-EC" sz="1600" b="1" u="none" strike="noStrike">
                          <a:effectLst/>
                          <a:latin typeface="Century Gothic" panose="020B0502020202020204" pitchFamily="34" charset="0"/>
                        </a:rPr>
                        <a:t>Hombre</a:t>
                      </a:r>
                      <a:endParaRPr lang="es-EC" sz="1600" b="1" i="0" u="none" strike="noStrike">
                        <a:solidFill>
                          <a:srgbClr val="000000"/>
                        </a:solidFill>
                        <a:effectLst/>
                        <a:latin typeface="Century Gothic" panose="020B0502020202020204" pitchFamily="34" charset="0"/>
                      </a:endParaRPr>
                    </a:p>
                  </a:txBody>
                  <a:tcPr marL="9525" marR="9525" marT="9525" marB="0" anchor="ctr"/>
                </a:tc>
                <a:tc>
                  <a:txBody>
                    <a:bodyPr/>
                    <a:lstStyle/>
                    <a:p>
                      <a:pPr algn="ctr" fontAlgn="ctr"/>
                      <a:r>
                        <a:rPr lang="es-EC" sz="1600" b="1" u="none" strike="noStrike" dirty="0">
                          <a:effectLst/>
                          <a:latin typeface="Century Gothic" panose="020B0502020202020204" pitchFamily="34" charset="0"/>
                        </a:rPr>
                        <a:t>Mujer</a:t>
                      </a:r>
                      <a:endParaRPr lang="es-EC" sz="1600" b="1" i="0" u="none" strike="noStrike" dirty="0">
                        <a:solidFill>
                          <a:srgbClr val="000000"/>
                        </a:solidFill>
                        <a:effectLst/>
                        <a:latin typeface="Century Gothic" panose="020B0502020202020204" pitchFamily="34" charset="0"/>
                      </a:endParaRPr>
                    </a:p>
                  </a:txBody>
                  <a:tcPr marL="9525" marR="9525" marT="9525" marB="0" anchor="ctr"/>
                </a:tc>
                <a:tc vMerge="1">
                  <a:txBody>
                    <a:bodyPr/>
                    <a:lstStyle/>
                    <a:p>
                      <a:endParaRPr lang="es-EC"/>
                    </a:p>
                  </a:txBody>
                  <a:tcPr/>
                </a:tc>
                <a:extLst>
                  <a:ext uri="{0D108BD9-81ED-4DB2-BD59-A6C34878D82A}">
                    <a16:rowId xmlns:a16="http://schemas.microsoft.com/office/drawing/2014/main" val="3972169291"/>
                  </a:ext>
                </a:extLst>
              </a:tr>
              <a:tr h="302199">
                <a:tc>
                  <a:txBody>
                    <a:bodyPr/>
                    <a:lstStyle/>
                    <a:p>
                      <a:pPr algn="ctr" fontAlgn="ctr"/>
                      <a:r>
                        <a:rPr lang="es-EC" sz="1600" u="none" strike="noStrike" dirty="0">
                          <a:effectLst/>
                          <a:latin typeface="Century Gothic" panose="020B0502020202020204" pitchFamily="34" charset="0"/>
                        </a:rPr>
                        <a:t>No</a:t>
                      </a:r>
                      <a:endParaRPr lang="es-EC" sz="1600" b="0" i="0" u="none" strike="noStrike" dirty="0">
                        <a:solidFill>
                          <a:srgbClr val="000000"/>
                        </a:solidFill>
                        <a:effectLst/>
                        <a:latin typeface="Century Gothic" panose="020B0502020202020204" pitchFamily="34" charset="0"/>
                      </a:endParaRPr>
                    </a:p>
                  </a:txBody>
                  <a:tcPr marL="9525" marR="9525" marT="9525" marB="0" anchor="ctr"/>
                </a:tc>
                <a:tc>
                  <a:txBody>
                    <a:bodyPr/>
                    <a:lstStyle/>
                    <a:p>
                      <a:pPr algn="ctr" fontAlgn="ctr"/>
                      <a:r>
                        <a:rPr lang="es-EC" sz="1600" u="none" strike="noStrike" dirty="0">
                          <a:effectLst/>
                          <a:latin typeface="Century Gothic" panose="020B0502020202020204" pitchFamily="34" charset="0"/>
                        </a:rPr>
                        <a:t>1,464,803</a:t>
                      </a:r>
                      <a:endParaRPr lang="es-EC" sz="1600" b="0" i="0" u="none" strike="noStrike" dirty="0">
                        <a:solidFill>
                          <a:srgbClr val="000000"/>
                        </a:solidFill>
                        <a:effectLst/>
                        <a:latin typeface="Century Gothic" panose="020B0502020202020204" pitchFamily="34" charset="0"/>
                      </a:endParaRPr>
                    </a:p>
                  </a:txBody>
                  <a:tcPr marL="9525" marR="9525" marT="9525" marB="0" anchor="ctr"/>
                </a:tc>
                <a:tc>
                  <a:txBody>
                    <a:bodyPr/>
                    <a:lstStyle/>
                    <a:p>
                      <a:pPr algn="ctr" fontAlgn="ctr"/>
                      <a:r>
                        <a:rPr lang="en-US" sz="1600" dirty="0"/>
                        <a:t>1,847,712</a:t>
                      </a:r>
                      <a:endParaRPr lang="es-EC" sz="1600" b="0" i="0" u="none" strike="noStrike" dirty="0">
                        <a:solidFill>
                          <a:srgbClr val="000000"/>
                        </a:solidFill>
                        <a:effectLst/>
                        <a:latin typeface="Century Gothic" panose="020B0502020202020204" pitchFamily="34" charset="0"/>
                      </a:endParaRPr>
                    </a:p>
                  </a:txBody>
                  <a:tcPr marL="9525" marR="9525" marT="9525" marB="0" anchor="ctr"/>
                </a:tc>
                <a:tc>
                  <a:txBody>
                    <a:bodyPr/>
                    <a:lstStyle/>
                    <a:p>
                      <a:pPr algn="ctr" fontAlgn="ctr"/>
                      <a:r>
                        <a:rPr lang="en-US" sz="1600" dirty="0"/>
                        <a:t>3,312,515</a:t>
                      </a:r>
                      <a:endParaRPr lang="es-EC" sz="1600" b="0" i="0" u="none" strike="noStrike" dirty="0">
                        <a:solidFill>
                          <a:srgbClr val="000000"/>
                        </a:solidFill>
                        <a:effectLst/>
                        <a:latin typeface="Century Gothic" panose="020B0502020202020204" pitchFamily="34" charset="0"/>
                      </a:endParaRPr>
                    </a:p>
                  </a:txBody>
                  <a:tcPr marL="9525" marR="9525" marT="9525" marB="0" anchor="ctr"/>
                </a:tc>
                <a:extLst>
                  <a:ext uri="{0D108BD9-81ED-4DB2-BD59-A6C34878D82A}">
                    <a16:rowId xmlns:a16="http://schemas.microsoft.com/office/drawing/2014/main" val="3384904973"/>
                  </a:ext>
                </a:extLst>
              </a:tr>
              <a:tr h="302199">
                <a:tc>
                  <a:txBody>
                    <a:bodyPr/>
                    <a:lstStyle/>
                    <a:p>
                      <a:pPr algn="ctr" fontAlgn="ctr"/>
                      <a:r>
                        <a:rPr lang="es-EC" sz="1600" u="none" strike="noStrike" dirty="0">
                          <a:effectLst/>
                          <a:latin typeface="Century Gothic" panose="020B0502020202020204" pitchFamily="34" charset="0"/>
                        </a:rPr>
                        <a:t>Sí</a:t>
                      </a:r>
                      <a:endParaRPr lang="es-EC" sz="1600" b="0" i="0" u="none" strike="noStrike" dirty="0">
                        <a:solidFill>
                          <a:srgbClr val="000000"/>
                        </a:solidFill>
                        <a:effectLst/>
                        <a:latin typeface="Century Gothic" panose="020B0502020202020204" pitchFamily="34" charset="0"/>
                      </a:endParaRPr>
                    </a:p>
                  </a:txBody>
                  <a:tcPr marL="9525" marR="9525" marT="9525" marB="0" anchor="ctr"/>
                </a:tc>
                <a:tc>
                  <a:txBody>
                    <a:bodyPr/>
                    <a:lstStyle/>
                    <a:p>
                      <a:pPr algn="ctr" fontAlgn="ctr"/>
                      <a:r>
                        <a:rPr lang="en-US" sz="1600" dirty="0"/>
                        <a:t>2,279,999</a:t>
                      </a:r>
                      <a:endParaRPr lang="es-EC" sz="1600" b="0" i="0" u="none" strike="noStrike" dirty="0">
                        <a:solidFill>
                          <a:srgbClr val="000000"/>
                        </a:solidFill>
                        <a:effectLst/>
                        <a:latin typeface="Century Gothic" panose="020B0502020202020204" pitchFamily="34" charset="0"/>
                      </a:endParaRPr>
                    </a:p>
                  </a:txBody>
                  <a:tcPr marL="9525" marR="9525" marT="9525" marB="0" anchor="ctr"/>
                </a:tc>
                <a:tc>
                  <a:txBody>
                    <a:bodyPr/>
                    <a:lstStyle/>
                    <a:p>
                      <a:pPr algn="ctr" fontAlgn="ctr"/>
                      <a:r>
                        <a:rPr lang="en-US" sz="1600" dirty="0"/>
                        <a:t>2,239,887</a:t>
                      </a:r>
                      <a:endParaRPr lang="es-EC" sz="1600" b="0" i="0" u="none" strike="noStrike" dirty="0">
                        <a:solidFill>
                          <a:srgbClr val="000000"/>
                        </a:solidFill>
                        <a:effectLst/>
                        <a:latin typeface="Century Gothic" panose="020B0502020202020204" pitchFamily="34" charset="0"/>
                      </a:endParaRPr>
                    </a:p>
                  </a:txBody>
                  <a:tcPr marL="9525" marR="9525" marT="9525" marB="0" anchor="ctr"/>
                </a:tc>
                <a:tc>
                  <a:txBody>
                    <a:bodyPr/>
                    <a:lstStyle/>
                    <a:p>
                      <a:pPr algn="ctr" fontAlgn="ctr"/>
                      <a:r>
                        <a:rPr lang="en-US" sz="1600" dirty="0"/>
                        <a:t>4,519,886</a:t>
                      </a:r>
                      <a:endParaRPr lang="es-EC" sz="1600" b="0" i="0" u="none" strike="noStrike" dirty="0">
                        <a:solidFill>
                          <a:srgbClr val="000000"/>
                        </a:solidFill>
                        <a:effectLst/>
                        <a:latin typeface="Century Gothic" panose="020B0502020202020204" pitchFamily="34" charset="0"/>
                      </a:endParaRPr>
                    </a:p>
                  </a:txBody>
                  <a:tcPr marL="9525" marR="9525" marT="9525" marB="0" anchor="ctr"/>
                </a:tc>
                <a:extLst>
                  <a:ext uri="{0D108BD9-81ED-4DB2-BD59-A6C34878D82A}">
                    <a16:rowId xmlns:a16="http://schemas.microsoft.com/office/drawing/2014/main" val="97938189"/>
                  </a:ext>
                </a:extLst>
              </a:tr>
              <a:tr h="302199">
                <a:tc>
                  <a:txBody>
                    <a:bodyPr/>
                    <a:lstStyle/>
                    <a:p>
                      <a:pPr algn="ctr" fontAlgn="ctr"/>
                      <a:r>
                        <a:rPr lang="es-EC" sz="1600" b="1" u="none" strike="noStrike" dirty="0">
                          <a:effectLst/>
                          <a:latin typeface="Century Gothic" panose="020B0502020202020204" pitchFamily="34" charset="0"/>
                        </a:rPr>
                        <a:t>Total general</a:t>
                      </a:r>
                      <a:endParaRPr lang="es-EC" sz="1600" b="1" i="0" u="none" strike="noStrike" dirty="0">
                        <a:solidFill>
                          <a:srgbClr val="000000"/>
                        </a:solidFill>
                        <a:effectLst/>
                        <a:latin typeface="Century Gothic" panose="020B0502020202020204" pitchFamily="34" charset="0"/>
                      </a:endParaRPr>
                    </a:p>
                  </a:txBody>
                  <a:tcPr marL="9525" marR="9525" marT="9525" marB="0" anchor="ctr"/>
                </a:tc>
                <a:tc>
                  <a:txBody>
                    <a:bodyPr/>
                    <a:lstStyle/>
                    <a:p>
                      <a:pPr algn="ctr" fontAlgn="ctr"/>
                      <a:r>
                        <a:rPr lang="en-US" sz="1600" dirty="0"/>
                        <a:t>3,744,802</a:t>
                      </a:r>
                      <a:endParaRPr lang="es-EC" sz="1600" b="0" i="0" u="none" strike="noStrike" dirty="0">
                        <a:solidFill>
                          <a:srgbClr val="000000"/>
                        </a:solidFill>
                        <a:effectLst/>
                        <a:latin typeface="Century Gothic" panose="020B0502020202020204" pitchFamily="34" charset="0"/>
                      </a:endParaRPr>
                    </a:p>
                  </a:txBody>
                  <a:tcPr marL="9525" marR="9525" marT="9525" marB="0" anchor="ctr"/>
                </a:tc>
                <a:tc>
                  <a:txBody>
                    <a:bodyPr/>
                    <a:lstStyle/>
                    <a:p>
                      <a:pPr algn="ctr" fontAlgn="ctr"/>
                      <a:r>
                        <a:rPr lang="en-US" sz="1600" dirty="0"/>
                        <a:t>4,087,599</a:t>
                      </a:r>
                      <a:endParaRPr lang="es-EC" sz="1600" b="0" i="0" u="none" strike="noStrike" dirty="0">
                        <a:solidFill>
                          <a:srgbClr val="000000"/>
                        </a:solidFill>
                        <a:effectLst/>
                        <a:latin typeface="Century Gothic" panose="020B0502020202020204" pitchFamily="34" charset="0"/>
                      </a:endParaRPr>
                    </a:p>
                  </a:txBody>
                  <a:tcPr marL="9525" marR="9525" marT="9525" marB="0" anchor="ctr"/>
                </a:tc>
                <a:tc>
                  <a:txBody>
                    <a:bodyPr/>
                    <a:lstStyle/>
                    <a:p>
                      <a:pPr algn="ctr" fontAlgn="ctr"/>
                      <a:r>
                        <a:rPr lang="en-US" sz="1600" dirty="0"/>
                        <a:t>7,832,401</a:t>
                      </a:r>
                      <a:endParaRPr lang="es-EC" sz="1600" b="0" i="0" u="none" strike="noStrike" dirty="0">
                        <a:solidFill>
                          <a:srgbClr val="000000"/>
                        </a:solidFill>
                        <a:effectLst/>
                        <a:latin typeface="Century Gothic" panose="020B0502020202020204" pitchFamily="34" charset="0"/>
                      </a:endParaRPr>
                    </a:p>
                  </a:txBody>
                  <a:tcPr marL="9525" marR="9525" marT="9525" marB="0" anchor="ctr"/>
                </a:tc>
                <a:extLst>
                  <a:ext uri="{0D108BD9-81ED-4DB2-BD59-A6C34878D82A}">
                    <a16:rowId xmlns:a16="http://schemas.microsoft.com/office/drawing/2014/main" val="4187227687"/>
                  </a:ext>
                </a:extLst>
              </a:tr>
            </a:tbl>
          </a:graphicData>
        </a:graphic>
      </p:graphicFrame>
      <p:graphicFrame>
        <p:nvGraphicFramePr>
          <p:cNvPr id="3" name="Tabla 2"/>
          <p:cNvGraphicFramePr>
            <a:graphicFrameLocks noGrp="1"/>
          </p:cNvGraphicFramePr>
          <p:nvPr>
            <p:extLst>
              <p:ext uri="{D42A27DB-BD31-4B8C-83A1-F6EECF244321}">
                <p14:modId xmlns:p14="http://schemas.microsoft.com/office/powerpoint/2010/main" val="3298874825"/>
              </p:ext>
            </p:extLst>
          </p:nvPr>
        </p:nvGraphicFramePr>
        <p:xfrm>
          <a:off x="784607" y="4333894"/>
          <a:ext cx="5835328" cy="1266825"/>
        </p:xfrm>
        <a:graphic>
          <a:graphicData uri="http://schemas.openxmlformats.org/drawingml/2006/table">
            <a:tbl>
              <a:tblPr>
                <a:tableStyleId>{5DA37D80-6434-44D0-A028-1B22A696006F}</a:tableStyleId>
              </a:tblPr>
              <a:tblGrid>
                <a:gridCol w="2266742">
                  <a:extLst>
                    <a:ext uri="{9D8B030D-6E8A-4147-A177-3AD203B41FA5}">
                      <a16:colId xmlns:a16="http://schemas.microsoft.com/office/drawing/2014/main" val="1926561684"/>
                    </a:ext>
                  </a:extLst>
                </a:gridCol>
                <a:gridCol w="918949">
                  <a:extLst>
                    <a:ext uri="{9D8B030D-6E8A-4147-A177-3AD203B41FA5}">
                      <a16:colId xmlns:a16="http://schemas.microsoft.com/office/drawing/2014/main" val="3751231321"/>
                    </a:ext>
                  </a:extLst>
                </a:gridCol>
                <a:gridCol w="918949">
                  <a:extLst>
                    <a:ext uri="{9D8B030D-6E8A-4147-A177-3AD203B41FA5}">
                      <a16:colId xmlns:a16="http://schemas.microsoft.com/office/drawing/2014/main" val="1283678151"/>
                    </a:ext>
                  </a:extLst>
                </a:gridCol>
                <a:gridCol w="1730688">
                  <a:extLst>
                    <a:ext uri="{9D8B030D-6E8A-4147-A177-3AD203B41FA5}">
                      <a16:colId xmlns:a16="http://schemas.microsoft.com/office/drawing/2014/main" val="1578666540"/>
                    </a:ext>
                  </a:extLst>
                </a:gridCol>
              </a:tblGrid>
              <a:tr h="190500">
                <a:tc rowSpan="2">
                  <a:txBody>
                    <a:bodyPr/>
                    <a:lstStyle/>
                    <a:p>
                      <a:pPr algn="ctr" fontAlgn="ctr"/>
                      <a:r>
                        <a:rPr lang="es-EC" sz="1600" b="1" u="none" strike="noStrike" dirty="0">
                          <a:effectLst/>
                          <a:latin typeface="Century Gothic" panose="020B0502020202020204" pitchFamily="34" charset="0"/>
                        </a:rPr>
                        <a:t>Perceptor de ingresos</a:t>
                      </a:r>
                      <a:endParaRPr lang="es-EC" sz="1600" b="1" i="0" u="none" strike="noStrike" dirty="0">
                        <a:solidFill>
                          <a:srgbClr val="000000"/>
                        </a:solidFill>
                        <a:effectLst/>
                        <a:latin typeface="Century Gothic" panose="020B0502020202020204" pitchFamily="34" charset="0"/>
                      </a:endParaRPr>
                    </a:p>
                  </a:txBody>
                  <a:tcPr marL="9525" marR="9525" marT="9525" marB="0" anchor="ctr"/>
                </a:tc>
                <a:tc gridSpan="2">
                  <a:txBody>
                    <a:bodyPr/>
                    <a:lstStyle/>
                    <a:p>
                      <a:pPr algn="ctr" fontAlgn="b"/>
                      <a:r>
                        <a:rPr lang="es-EC" sz="1600" b="1" u="none" strike="noStrike">
                          <a:effectLst/>
                          <a:latin typeface="Century Gothic" panose="020B0502020202020204" pitchFamily="34" charset="0"/>
                        </a:rPr>
                        <a:t>Sexo</a:t>
                      </a:r>
                      <a:endParaRPr lang="es-EC" sz="1600" b="1" i="0" u="none" strike="noStrike">
                        <a:solidFill>
                          <a:srgbClr val="000000"/>
                        </a:solidFill>
                        <a:effectLst/>
                        <a:latin typeface="Century Gothic" panose="020B0502020202020204" pitchFamily="34" charset="0"/>
                      </a:endParaRPr>
                    </a:p>
                  </a:txBody>
                  <a:tcPr marL="9525" marR="9525" marT="9525" marB="0" anchor="b"/>
                </a:tc>
                <a:tc hMerge="1">
                  <a:txBody>
                    <a:bodyPr/>
                    <a:lstStyle/>
                    <a:p>
                      <a:endParaRPr lang="es-EC"/>
                    </a:p>
                  </a:txBody>
                  <a:tcPr/>
                </a:tc>
                <a:tc rowSpan="2">
                  <a:txBody>
                    <a:bodyPr/>
                    <a:lstStyle/>
                    <a:p>
                      <a:pPr algn="ctr" fontAlgn="ctr"/>
                      <a:r>
                        <a:rPr lang="es-EC" sz="1600" b="1" u="none" strike="noStrike" dirty="0">
                          <a:effectLst/>
                          <a:latin typeface="Century Gothic" panose="020B0502020202020204" pitchFamily="34" charset="0"/>
                        </a:rPr>
                        <a:t>Total general</a:t>
                      </a:r>
                      <a:endParaRPr lang="es-EC" sz="1600" b="1" i="0" u="none" strike="noStrike" dirty="0">
                        <a:solidFill>
                          <a:srgbClr val="000000"/>
                        </a:solidFill>
                        <a:effectLst/>
                        <a:latin typeface="Century Gothic" panose="020B0502020202020204" pitchFamily="34" charset="0"/>
                      </a:endParaRPr>
                    </a:p>
                  </a:txBody>
                  <a:tcPr marL="9525" marR="9525" marT="9525" marB="0" anchor="ctr"/>
                </a:tc>
                <a:extLst>
                  <a:ext uri="{0D108BD9-81ED-4DB2-BD59-A6C34878D82A}">
                    <a16:rowId xmlns:a16="http://schemas.microsoft.com/office/drawing/2014/main" val="2349229372"/>
                  </a:ext>
                </a:extLst>
              </a:tr>
              <a:tr h="190500">
                <a:tc vMerge="1">
                  <a:txBody>
                    <a:bodyPr/>
                    <a:lstStyle/>
                    <a:p>
                      <a:endParaRPr lang="es-EC"/>
                    </a:p>
                  </a:txBody>
                  <a:tcPr/>
                </a:tc>
                <a:tc>
                  <a:txBody>
                    <a:bodyPr/>
                    <a:lstStyle/>
                    <a:p>
                      <a:pPr algn="ctr" fontAlgn="ctr"/>
                      <a:r>
                        <a:rPr lang="es-EC" sz="1600" b="1" u="none" strike="noStrike">
                          <a:effectLst/>
                          <a:latin typeface="Century Gothic" panose="020B0502020202020204" pitchFamily="34" charset="0"/>
                        </a:rPr>
                        <a:t>Hombre</a:t>
                      </a:r>
                      <a:endParaRPr lang="es-EC" sz="1600" b="1" i="0" u="none" strike="noStrike">
                        <a:solidFill>
                          <a:srgbClr val="000000"/>
                        </a:solidFill>
                        <a:effectLst/>
                        <a:latin typeface="Century Gothic" panose="020B0502020202020204" pitchFamily="34" charset="0"/>
                      </a:endParaRPr>
                    </a:p>
                  </a:txBody>
                  <a:tcPr marL="9525" marR="9525" marT="9525" marB="0" anchor="ctr"/>
                </a:tc>
                <a:tc>
                  <a:txBody>
                    <a:bodyPr/>
                    <a:lstStyle/>
                    <a:p>
                      <a:pPr algn="ctr" fontAlgn="ctr"/>
                      <a:r>
                        <a:rPr lang="es-EC" sz="1600" b="1" u="none" strike="noStrike" dirty="0">
                          <a:effectLst/>
                          <a:latin typeface="Century Gothic" panose="020B0502020202020204" pitchFamily="34" charset="0"/>
                        </a:rPr>
                        <a:t>Mujer</a:t>
                      </a:r>
                      <a:endParaRPr lang="es-EC" sz="1600" b="1" i="0" u="none" strike="noStrike" dirty="0">
                        <a:solidFill>
                          <a:srgbClr val="000000"/>
                        </a:solidFill>
                        <a:effectLst/>
                        <a:latin typeface="Century Gothic" panose="020B0502020202020204" pitchFamily="34" charset="0"/>
                      </a:endParaRPr>
                    </a:p>
                  </a:txBody>
                  <a:tcPr marL="9525" marR="9525" marT="9525" marB="0" anchor="ctr"/>
                </a:tc>
                <a:tc vMerge="1">
                  <a:txBody>
                    <a:bodyPr/>
                    <a:lstStyle/>
                    <a:p>
                      <a:endParaRPr lang="es-EC"/>
                    </a:p>
                  </a:txBody>
                  <a:tcPr/>
                </a:tc>
                <a:extLst>
                  <a:ext uri="{0D108BD9-81ED-4DB2-BD59-A6C34878D82A}">
                    <a16:rowId xmlns:a16="http://schemas.microsoft.com/office/drawing/2014/main" val="3103706428"/>
                  </a:ext>
                </a:extLst>
              </a:tr>
              <a:tr h="190500">
                <a:tc>
                  <a:txBody>
                    <a:bodyPr/>
                    <a:lstStyle/>
                    <a:p>
                      <a:pPr algn="ctr" fontAlgn="b"/>
                      <a:r>
                        <a:rPr lang="es-EC" sz="1600" u="none" strike="noStrike" dirty="0">
                          <a:effectLst/>
                          <a:latin typeface="Century Gothic" panose="020B0502020202020204" pitchFamily="34" charset="0"/>
                        </a:rPr>
                        <a:t>No</a:t>
                      </a:r>
                      <a:endParaRPr lang="es-EC" sz="1600" b="0"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fontAlgn="b"/>
                      <a:r>
                        <a:rPr lang="en-US" sz="1600" dirty="0"/>
                        <a:t>0.187</a:t>
                      </a:r>
                      <a:endParaRPr lang="es-EC" sz="1600" b="0"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fontAlgn="b"/>
                      <a:r>
                        <a:rPr lang="en-US" sz="1600" dirty="0"/>
                        <a:t>0.236</a:t>
                      </a:r>
                      <a:endParaRPr lang="es-EC" sz="1600" b="0"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fontAlgn="b"/>
                      <a:r>
                        <a:rPr lang="en-US" sz="1600" dirty="0"/>
                        <a:t>0.423</a:t>
                      </a:r>
                      <a:endParaRPr lang="es-EC" sz="1600" b="0" i="0" u="none" strike="noStrike" dirty="0">
                        <a:solidFill>
                          <a:srgbClr val="000000"/>
                        </a:solidFill>
                        <a:effectLst/>
                        <a:latin typeface="Century Gothic" panose="020B0502020202020204" pitchFamily="34" charset="0"/>
                      </a:endParaRPr>
                    </a:p>
                  </a:txBody>
                  <a:tcPr marL="9525" marR="9525" marT="9525" marB="0" anchor="b"/>
                </a:tc>
                <a:extLst>
                  <a:ext uri="{0D108BD9-81ED-4DB2-BD59-A6C34878D82A}">
                    <a16:rowId xmlns:a16="http://schemas.microsoft.com/office/drawing/2014/main" val="2045566974"/>
                  </a:ext>
                </a:extLst>
              </a:tr>
              <a:tr h="190500">
                <a:tc>
                  <a:txBody>
                    <a:bodyPr/>
                    <a:lstStyle/>
                    <a:p>
                      <a:pPr algn="ctr" fontAlgn="b"/>
                      <a:r>
                        <a:rPr lang="es-EC" sz="1600" u="none" strike="noStrike" dirty="0">
                          <a:effectLst/>
                          <a:latin typeface="Century Gothic" panose="020B0502020202020204" pitchFamily="34" charset="0"/>
                        </a:rPr>
                        <a:t>Sí</a:t>
                      </a:r>
                      <a:endParaRPr lang="es-EC" sz="1600" b="0"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fontAlgn="b"/>
                      <a:r>
                        <a:rPr lang="en-US" sz="1600" dirty="0"/>
                        <a:t>0.291</a:t>
                      </a:r>
                      <a:endParaRPr lang="es-EC" sz="1600" b="0"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fontAlgn="b"/>
                      <a:r>
                        <a:rPr lang="en-US" sz="1600" dirty="0"/>
                        <a:t>0.286</a:t>
                      </a:r>
                      <a:endParaRPr lang="es-EC" sz="1600" b="0"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fontAlgn="b"/>
                      <a:r>
                        <a:rPr lang="en-US" sz="1600" dirty="0"/>
                        <a:t>0.577</a:t>
                      </a:r>
                      <a:endParaRPr lang="es-EC" sz="1600" b="0" i="0" u="none" strike="noStrike" dirty="0">
                        <a:solidFill>
                          <a:srgbClr val="000000"/>
                        </a:solidFill>
                        <a:effectLst/>
                        <a:latin typeface="Century Gothic" panose="020B0502020202020204" pitchFamily="34" charset="0"/>
                      </a:endParaRPr>
                    </a:p>
                  </a:txBody>
                  <a:tcPr marL="9525" marR="9525" marT="9525" marB="0" anchor="b"/>
                </a:tc>
                <a:extLst>
                  <a:ext uri="{0D108BD9-81ED-4DB2-BD59-A6C34878D82A}">
                    <a16:rowId xmlns:a16="http://schemas.microsoft.com/office/drawing/2014/main" val="2670992616"/>
                  </a:ext>
                </a:extLst>
              </a:tr>
              <a:tr h="190500">
                <a:tc>
                  <a:txBody>
                    <a:bodyPr/>
                    <a:lstStyle/>
                    <a:p>
                      <a:pPr algn="ctr" fontAlgn="b"/>
                      <a:r>
                        <a:rPr lang="es-EC" sz="1600" b="1" u="none" strike="noStrike" dirty="0">
                          <a:effectLst/>
                          <a:latin typeface="Century Gothic" panose="020B0502020202020204" pitchFamily="34" charset="0"/>
                        </a:rPr>
                        <a:t>Total general</a:t>
                      </a:r>
                      <a:endParaRPr lang="es-EC" sz="1600" b="1"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fontAlgn="b"/>
                      <a:r>
                        <a:rPr lang="en-US" sz="1600" dirty="0"/>
                        <a:t>0.478</a:t>
                      </a:r>
                      <a:endParaRPr lang="es-EC" sz="1600" b="0"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fontAlgn="b"/>
                      <a:r>
                        <a:rPr lang="en-US" sz="1600" dirty="0"/>
                        <a:t>0.522</a:t>
                      </a:r>
                      <a:endParaRPr lang="es-EC" sz="1600" b="0"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fontAlgn="b"/>
                      <a:r>
                        <a:rPr lang="en-US" sz="1600" dirty="0"/>
                        <a:t>1.000</a:t>
                      </a:r>
                      <a:endParaRPr lang="es-EC" sz="1600" b="0" i="0" u="none" strike="noStrike" dirty="0">
                        <a:solidFill>
                          <a:srgbClr val="000000"/>
                        </a:solidFill>
                        <a:effectLst/>
                        <a:latin typeface="Century Gothic" panose="020B0502020202020204" pitchFamily="34" charset="0"/>
                      </a:endParaRPr>
                    </a:p>
                  </a:txBody>
                  <a:tcPr marL="9525" marR="9525" marT="9525" marB="0" anchor="b"/>
                </a:tc>
                <a:extLst>
                  <a:ext uri="{0D108BD9-81ED-4DB2-BD59-A6C34878D82A}">
                    <a16:rowId xmlns:a16="http://schemas.microsoft.com/office/drawing/2014/main" val="4038488666"/>
                  </a:ext>
                </a:extLst>
              </a:tr>
            </a:tbl>
          </a:graphicData>
        </a:graphic>
      </p:graphicFrame>
      <p:pic>
        <p:nvPicPr>
          <p:cNvPr id="6" name="Imagen 5">
            <a:extLst>
              <a:ext uri="{FF2B5EF4-FFF2-40B4-BE49-F238E27FC236}">
                <a16:creationId xmlns:a16="http://schemas.microsoft.com/office/drawing/2014/main" id="{571D55D7-3D82-4F6E-B7AE-74034B4063E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43726" y="3467100"/>
            <a:ext cx="4798700" cy="3260757"/>
          </a:xfrm>
          <a:prstGeom prst="rect">
            <a:avLst/>
          </a:prstGeom>
        </p:spPr>
      </p:pic>
    </p:spTree>
    <p:extLst>
      <p:ext uri="{BB962C8B-B14F-4D97-AF65-F5344CB8AC3E}">
        <p14:creationId xmlns:p14="http://schemas.microsoft.com/office/powerpoint/2010/main" val="4052291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38200" y="103187"/>
            <a:ext cx="10515600" cy="958851"/>
          </a:xfrm>
        </p:spPr>
        <p:txBody>
          <a:bodyPr>
            <a:normAutofit/>
          </a:bodyPr>
          <a:lstStyle/>
          <a:p>
            <a:r>
              <a:rPr lang="es-MX" sz="2800" b="1" dirty="0">
                <a:latin typeface="Century Gothic" panose="020B0502020202020204" pitchFamily="34" charset="0"/>
              </a:rPr>
              <a:t>Distribuciones marginales</a:t>
            </a:r>
            <a:endParaRPr lang="es-EC" sz="2800" b="1" dirty="0">
              <a:latin typeface="Century Gothic" panose="020B0502020202020204" pitchFamily="34" charset="0"/>
            </a:endParaRPr>
          </a:p>
        </p:txBody>
      </p:sp>
      <p:graphicFrame>
        <p:nvGraphicFramePr>
          <p:cNvPr id="3" name="Tabla 2"/>
          <p:cNvGraphicFramePr>
            <a:graphicFrameLocks noGrp="1"/>
          </p:cNvGraphicFramePr>
          <p:nvPr>
            <p:extLst>
              <p:ext uri="{D42A27DB-BD31-4B8C-83A1-F6EECF244321}">
                <p14:modId xmlns:p14="http://schemas.microsoft.com/office/powerpoint/2010/main" val="12888519"/>
              </p:ext>
            </p:extLst>
          </p:nvPr>
        </p:nvGraphicFramePr>
        <p:xfrm>
          <a:off x="1162050" y="4800600"/>
          <a:ext cx="4095750" cy="1013460"/>
        </p:xfrm>
        <a:graphic>
          <a:graphicData uri="http://schemas.openxmlformats.org/drawingml/2006/table">
            <a:tbl>
              <a:tblPr>
                <a:tableStyleId>{5DA37D80-6434-44D0-A028-1B22A696006F}</a:tableStyleId>
              </a:tblPr>
              <a:tblGrid>
                <a:gridCol w="1485900">
                  <a:extLst>
                    <a:ext uri="{9D8B030D-6E8A-4147-A177-3AD203B41FA5}">
                      <a16:colId xmlns:a16="http://schemas.microsoft.com/office/drawing/2014/main" val="4068378301"/>
                    </a:ext>
                  </a:extLst>
                </a:gridCol>
                <a:gridCol w="1295400">
                  <a:extLst>
                    <a:ext uri="{9D8B030D-6E8A-4147-A177-3AD203B41FA5}">
                      <a16:colId xmlns:a16="http://schemas.microsoft.com/office/drawing/2014/main" val="820209485"/>
                    </a:ext>
                  </a:extLst>
                </a:gridCol>
                <a:gridCol w="1314450">
                  <a:extLst>
                    <a:ext uri="{9D8B030D-6E8A-4147-A177-3AD203B41FA5}">
                      <a16:colId xmlns:a16="http://schemas.microsoft.com/office/drawing/2014/main" val="4008051297"/>
                    </a:ext>
                  </a:extLst>
                </a:gridCol>
              </a:tblGrid>
              <a:tr h="190500">
                <a:tc>
                  <a:txBody>
                    <a:bodyPr/>
                    <a:lstStyle/>
                    <a:p>
                      <a:pPr algn="ctr" fontAlgn="b"/>
                      <a:r>
                        <a:rPr lang="es-EC" sz="1600" b="1" u="none" strike="noStrike" dirty="0">
                          <a:effectLst/>
                          <a:latin typeface="Century Gothic" panose="020B0502020202020204" pitchFamily="34" charset="0"/>
                        </a:rPr>
                        <a:t>Sexo</a:t>
                      </a:r>
                      <a:endParaRPr lang="es-EC" sz="1600" b="1"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fontAlgn="b"/>
                      <a:r>
                        <a:rPr lang="es-EC" sz="1600" b="1" u="none" strike="noStrike">
                          <a:effectLst/>
                          <a:latin typeface="Century Gothic" panose="020B0502020202020204" pitchFamily="34" charset="0"/>
                        </a:rPr>
                        <a:t>n</a:t>
                      </a:r>
                      <a:endParaRPr lang="es-EC" sz="1600" b="1" i="0" u="none" strike="noStrike">
                        <a:solidFill>
                          <a:srgbClr val="000000"/>
                        </a:solidFill>
                        <a:effectLst/>
                        <a:latin typeface="Century Gothic" panose="020B0502020202020204" pitchFamily="34" charset="0"/>
                      </a:endParaRPr>
                    </a:p>
                  </a:txBody>
                  <a:tcPr marL="9525" marR="9525" marT="9525" marB="0" anchor="b"/>
                </a:tc>
                <a:tc>
                  <a:txBody>
                    <a:bodyPr/>
                    <a:lstStyle/>
                    <a:p>
                      <a:pPr algn="ctr" fontAlgn="b"/>
                      <a:r>
                        <a:rPr lang="es-EC" sz="1600" b="1" u="none" strike="noStrike" dirty="0">
                          <a:effectLst/>
                          <a:latin typeface="Century Gothic" panose="020B0502020202020204" pitchFamily="34" charset="0"/>
                        </a:rPr>
                        <a:t>p</a:t>
                      </a:r>
                      <a:endParaRPr lang="es-EC" sz="1600" b="1" i="0" u="none" strike="noStrike" dirty="0">
                        <a:solidFill>
                          <a:srgbClr val="000000"/>
                        </a:solidFill>
                        <a:effectLst/>
                        <a:latin typeface="Century Gothic" panose="020B0502020202020204" pitchFamily="34" charset="0"/>
                      </a:endParaRPr>
                    </a:p>
                  </a:txBody>
                  <a:tcPr marL="9525" marR="9525" marT="9525" marB="0" anchor="b"/>
                </a:tc>
                <a:extLst>
                  <a:ext uri="{0D108BD9-81ED-4DB2-BD59-A6C34878D82A}">
                    <a16:rowId xmlns:a16="http://schemas.microsoft.com/office/drawing/2014/main" val="4173295212"/>
                  </a:ext>
                </a:extLst>
              </a:tr>
              <a:tr h="190500">
                <a:tc>
                  <a:txBody>
                    <a:bodyPr/>
                    <a:lstStyle/>
                    <a:p>
                      <a:pPr algn="ctr" fontAlgn="b"/>
                      <a:r>
                        <a:rPr lang="es-EC" sz="1600" u="none" strike="noStrike" dirty="0">
                          <a:effectLst/>
                          <a:latin typeface="Century Gothic" panose="020B0502020202020204" pitchFamily="34" charset="0"/>
                        </a:rPr>
                        <a:t>Hombre</a:t>
                      </a:r>
                      <a:endParaRPr lang="es-EC" sz="1600" b="0"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fontAlgn="b"/>
                      <a:r>
                        <a:rPr lang="en-US" sz="1600" dirty="0"/>
                        <a:t>3,744,802</a:t>
                      </a:r>
                      <a:endParaRPr lang="es-EC" sz="1600" b="0"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fontAlgn="b"/>
                      <a:r>
                        <a:rPr lang="en-US" sz="1600" dirty="0"/>
                        <a:t>0.478</a:t>
                      </a:r>
                      <a:endParaRPr lang="es-EC" sz="1600" b="0" i="0" u="none" strike="noStrike" dirty="0">
                        <a:solidFill>
                          <a:srgbClr val="000000"/>
                        </a:solidFill>
                        <a:effectLst/>
                        <a:latin typeface="Century Gothic" panose="020B0502020202020204" pitchFamily="34" charset="0"/>
                      </a:endParaRPr>
                    </a:p>
                  </a:txBody>
                  <a:tcPr marL="9525" marR="9525" marT="9525" marB="0" anchor="b"/>
                </a:tc>
                <a:extLst>
                  <a:ext uri="{0D108BD9-81ED-4DB2-BD59-A6C34878D82A}">
                    <a16:rowId xmlns:a16="http://schemas.microsoft.com/office/drawing/2014/main" val="3043029799"/>
                  </a:ext>
                </a:extLst>
              </a:tr>
              <a:tr h="190500">
                <a:tc>
                  <a:txBody>
                    <a:bodyPr/>
                    <a:lstStyle/>
                    <a:p>
                      <a:pPr algn="ctr" fontAlgn="b"/>
                      <a:r>
                        <a:rPr lang="es-EC" sz="1600" u="none" strike="noStrike" dirty="0">
                          <a:effectLst/>
                          <a:latin typeface="Century Gothic" panose="020B0502020202020204" pitchFamily="34" charset="0"/>
                        </a:rPr>
                        <a:t>Mujer</a:t>
                      </a:r>
                      <a:endParaRPr lang="es-EC" sz="1600" b="0"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fontAlgn="b"/>
                      <a:r>
                        <a:rPr lang="en-US" sz="1600" dirty="0"/>
                        <a:t>4,087,599</a:t>
                      </a:r>
                      <a:endParaRPr lang="es-EC" sz="1600" b="0"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fontAlgn="b"/>
                      <a:r>
                        <a:rPr lang="en-US" sz="1600" dirty="0"/>
                        <a:t>0.522</a:t>
                      </a:r>
                      <a:endParaRPr lang="es-EC" sz="1600" b="0" i="0" u="none" strike="noStrike" dirty="0">
                        <a:solidFill>
                          <a:srgbClr val="000000"/>
                        </a:solidFill>
                        <a:effectLst/>
                        <a:latin typeface="Century Gothic" panose="020B0502020202020204" pitchFamily="34" charset="0"/>
                      </a:endParaRPr>
                    </a:p>
                  </a:txBody>
                  <a:tcPr marL="9525" marR="9525" marT="9525" marB="0" anchor="b"/>
                </a:tc>
                <a:extLst>
                  <a:ext uri="{0D108BD9-81ED-4DB2-BD59-A6C34878D82A}">
                    <a16:rowId xmlns:a16="http://schemas.microsoft.com/office/drawing/2014/main" val="1802530392"/>
                  </a:ext>
                </a:extLst>
              </a:tr>
              <a:tr h="190500">
                <a:tc>
                  <a:txBody>
                    <a:bodyPr/>
                    <a:lstStyle/>
                    <a:p>
                      <a:pPr algn="ctr" fontAlgn="b"/>
                      <a:r>
                        <a:rPr lang="es-EC" sz="1600" b="1" u="none" strike="noStrike" dirty="0">
                          <a:effectLst/>
                          <a:latin typeface="Century Gothic" panose="020B0502020202020204" pitchFamily="34" charset="0"/>
                        </a:rPr>
                        <a:t>Total general</a:t>
                      </a:r>
                      <a:endParaRPr lang="es-EC" sz="1600" b="1"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fontAlgn="b"/>
                      <a:r>
                        <a:rPr lang="en-US" sz="1600" dirty="0"/>
                        <a:t>7,832,401</a:t>
                      </a:r>
                      <a:endParaRPr lang="es-EC" sz="1600" b="0" i="0" u="none" strike="noStrike" dirty="0">
                        <a:solidFill>
                          <a:srgbClr val="000000"/>
                        </a:solidFill>
                        <a:effectLst/>
                        <a:latin typeface="Century Gothic" panose="020B0502020202020204" pitchFamily="34" charset="0"/>
                      </a:endParaRPr>
                    </a:p>
                  </a:txBody>
                  <a:tcPr marL="9525" marR="9525" marT="9525" marB="0" anchor="b"/>
                </a:tc>
                <a:tc>
                  <a:txBody>
                    <a:bodyPr/>
                    <a:lstStyle/>
                    <a:p>
                      <a:pPr algn="ctr" fontAlgn="b"/>
                      <a:r>
                        <a:rPr lang="en-US" sz="1600" dirty="0"/>
                        <a:t>1.000</a:t>
                      </a:r>
                      <a:endParaRPr lang="es-EC" sz="1600" b="0" i="0" u="none" strike="noStrike" dirty="0">
                        <a:solidFill>
                          <a:srgbClr val="000000"/>
                        </a:solidFill>
                        <a:effectLst/>
                        <a:latin typeface="Century Gothic" panose="020B0502020202020204" pitchFamily="34" charset="0"/>
                      </a:endParaRPr>
                    </a:p>
                  </a:txBody>
                  <a:tcPr marL="9525" marR="9525" marT="9525" marB="0" anchor="b"/>
                </a:tc>
                <a:extLst>
                  <a:ext uri="{0D108BD9-81ED-4DB2-BD59-A6C34878D82A}">
                    <a16:rowId xmlns:a16="http://schemas.microsoft.com/office/drawing/2014/main" val="711789328"/>
                  </a:ext>
                </a:extLst>
              </a:tr>
            </a:tbl>
          </a:graphicData>
        </a:graphic>
      </p:graphicFrame>
      <p:graphicFrame>
        <p:nvGraphicFramePr>
          <p:cNvPr id="6" name="Tabla 5"/>
          <p:cNvGraphicFramePr>
            <a:graphicFrameLocks noGrp="1"/>
          </p:cNvGraphicFramePr>
          <p:nvPr>
            <p:extLst>
              <p:ext uri="{D42A27DB-BD31-4B8C-83A1-F6EECF244321}">
                <p14:modId xmlns:p14="http://schemas.microsoft.com/office/powerpoint/2010/main" val="1770781325"/>
              </p:ext>
            </p:extLst>
          </p:nvPr>
        </p:nvGraphicFramePr>
        <p:xfrm>
          <a:off x="6553201" y="4773930"/>
          <a:ext cx="4476749" cy="1021080"/>
        </p:xfrm>
        <a:graphic>
          <a:graphicData uri="http://schemas.openxmlformats.org/drawingml/2006/table">
            <a:tbl>
              <a:tblPr>
                <a:tableStyleId>{5DA37D80-6434-44D0-A028-1B22A696006F}</a:tableStyleId>
              </a:tblPr>
              <a:tblGrid>
                <a:gridCol w="2472235">
                  <a:extLst>
                    <a:ext uri="{9D8B030D-6E8A-4147-A177-3AD203B41FA5}">
                      <a16:colId xmlns:a16="http://schemas.microsoft.com/office/drawing/2014/main" val="671090785"/>
                    </a:ext>
                  </a:extLst>
                </a:gridCol>
                <a:gridCol w="1002257">
                  <a:extLst>
                    <a:ext uri="{9D8B030D-6E8A-4147-A177-3AD203B41FA5}">
                      <a16:colId xmlns:a16="http://schemas.microsoft.com/office/drawing/2014/main" val="97905179"/>
                    </a:ext>
                  </a:extLst>
                </a:gridCol>
                <a:gridCol w="1002257">
                  <a:extLst>
                    <a:ext uri="{9D8B030D-6E8A-4147-A177-3AD203B41FA5}">
                      <a16:colId xmlns:a16="http://schemas.microsoft.com/office/drawing/2014/main" val="2385589417"/>
                    </a:ext>
                  </a:extLst>
                </a:gridCol>
              </a:tblGrid>
              <a:tr h="190500">
                <a:tc>
                  <a:txBody>
                    <a:bodyPr/>
                    <a:lstStyle/>
                    <a:p>
                      <a:pPr algn="ctr" fontAlgn="b"/>
                      <a:r>
                        <a:rPr lang="es-EC" sz="1600" b="1" u="none" strike="noStrike" dirty="0">
                          <a:effectLst/>
                          <a:latin typeface="Century Gothic" panose="020B0502020202020204" pitchFamily="34" charset="0"/>
                        </a:rPr>
                        <a:t>Perceptor de ingresos</a:t>
                      </a:r>
                      <a:endParaRPr lang="es-EC" sz="1600" b="1" i="0" u="none" strike="noStrike" dirty="0">
                        <a:solidFill>
                          <a:schemeClr val="tx1"/>
                        </a:solidFill>
                        <a:effectLst/>
                        <a:latin typeface="Century Gothic" panose="020B0502020202020204" pitchFamily="34" charset="0"/>
                      </a:endParaRPr>
                    </a:p>
                  </a:txBody>
                  <a:tcPr marL="9525" marR="9525" marT="9525" marB="0" anchor="b"/>
                </a:tc>
                <a:tc>
                  <a:txBody>
                    <a:bodyPr/>
                    <a:lstStyle/>
                    <a:p>
                      <a:pPr algn="ctr" fontAlgn="b"/>
                      <a:r>
                        <a:rPr lang="es-EC" sz="1600" b="1" u="none" strike="noStrike" dirty="0">
                          <a:effectLst/>
                          <a:latin typeface="Century Gothic" panose="020B0502020202020204" pitchFamily="34" charset="0"/>
                        </a:rPr>
                        <a:t>n</a:t>
                      </a:r>
                      <a:endParaRPr lang="es-EC" sz="1600" b="1" i="0" u="none" strike="noStrike" dirty="0">
                        <a:solidFill>
                          <a:schemeClr val="tx1"/>
                        </a:solidFill>
                        <a:effectLst/>
                        <a:latin typeface="Century Gothic" panose="020B0502020202020204" pitchFamily="34" charset="0"/>
                      </a:endParaRPr>
                    </a:p>
                  </a:txBody>
                  <a:tcPr marL="9525" marR="9525" marT="9525" marB="0" anchor="b"/>
                </a:tc>
                <a:tc>
                  <a:txBody>
                    <a:bodyPr/>
                    <a:lstStyle/>
                    <a:p>
                      <a:pPr algn="ctr" fontAlgn="b"/>
                      <a:r>
                        <a:rPr lang="es-EC" sz="1600" b="1" u="none" strike="noStrike" dirty="0">
                          <a:effectLst/>
                          <a:latin typeface="Century Gothic" panose="020B0502020202020204" pitchFamily="34" charset="0"/>
                        </a:rPr>
                        <a:t>p</a:t>
                      </a:r>
                      <a:endParaRPr lang="es-EC" sz="1600" b="1" i="0" u="none" strike="noStrike" dirty="0">
                        <a:solidFill>
                          <a:schemeClr val="tx1"/>
                        </a:solidFill>
                        <a:effectLst/>
                        <a:latin typeface="Century Gothic" panose="020B0502020202020204" pitchFamily="34" charset="0"/>
                      </a:endParaRPr>
                    </a:p>
                  </a:txBody>
                  <a:tcPr marL="9525" marR="9525" marT="9525" marB="0" anchor="b"/>
                </a:tc>
                <a:extLst>
                  <a:ext uri="{0D108BD9-81ED-4DB2-BD59-A6C34878D82A}">
                    <a16:rowId xmlns:a16="http://schemas.microsoft.com/office/drawing/2014/main" val="2434611201"/>
                  </a:ext>
                </a:extLst>
              </a:tr>
              <a:tr h="260985">
                <a:tc>
                  <a:txBody>
                    <a:bodyPr/>
                    <a:lstStyle/>
                    <a:p>
                      <a:pPr algn="ctr" fontAlgn="b"/>
                      <a:r>
                        <a:rPr lang="es-EC" sz="1600" u="none" strike="noStrike" dirty="0">
                          <a:effectLst/>
                          <a:latin typeface="Century Gothic" panose="020B0502020202020204" pitchFamily="34" charset="0"/>
                        </a:rPr>
                        <a:t>No</a:t>
                      </a:r>
                      <a:endParaRPr lang="es-EC" sz="1600" b="0" i="0" u="none" strike="noStrike" dirty="0">
                        <a:solidFill>
                          <a:schemeClr val="tx1"/>
                        </a:solidFill>
                        <a:effectLst/>
                        <a:latin typeface="Century Gothic" panose="020B0502020202020204" pitchFamily="34" charset="0"/>
                      </a:endParaRPr>
                    </a:p>
                  </a:txBody>
                  <a:tcPr marL="9525" marR="9525" marT="9525" marB="0" anchor="b"/>
                </a:tc>
                <a:tc>
                  <a:txBody>
                    <a:bodyPr/>
                    <a:lstStyle/>
                    <a:p>
                      <a:pPr algn="ctr" fontAlgn="b"/>
                      <a:r>
                        <a:rPr lang="en-US" sz="1600" dirty="0"/>
                        <a:t>3,312,515</a:t>
                      </a:r>
                      <a:endParaRPr lang="es-EC" sz="1600" b="0" i="0" u="none" strike="noStrike" dirty="0">
                        <a:solidFill>
                          <a:schemeClr val="tx1"/>
                        </a:solidFill>
                        <a:effectLst/>
                        <a:latin typeface="Century Gothic" panose="020B0502020202020204" pitchFamily="34" charset="0"/>
                      </a:endParaRPr>
                    </a:p>
                  </a:txBody>
                  <a:tcPr marL="9525" marR="9525" marT="9525" marB="0" anchor="b"/>
                </a:tc>
                <a:tc>
                  <a:txBody>
                    <a:bodyPr/>
                    <a:lstStyle/>
                    <a:p>
                      <a:pPr algn="ctr" fontAlgn="b"/>
                      <a:r>
                        <a:rPr lang="en-US" sz="1600" dirty="0"/>
                        <a:t>0.423</a:t>
                      </a:r>
                      <a:endParaRPr lang="es-EC" sz="1600" b="0" i="0" u="none" strike="noStrike" dirty="0">
                        <a:solidFill>
                          <a:schemeClr val="tx1"/>
                        </a:solidFill>
                        <a:effectLst/>
                        <a:latin typeface="Century Gothic" panose="020B0502020202020204" pitchFamily="34" charset="0"/>
                      </a:endParaRPr>
                    </a:p>
                  </a:txBody>
                  <a:tcPr marL="9525" marR="9525" marT="9525" marB="0" anchor="b"/>
                </a:tc>
                <a:extLst>
                  <a:ext uri="{0D108BD9-81ED-4DB2-BD59-A6C34878D82A}">
                    <a16:rowId xmlns:a16="http://schemas.microsoft.com/office/drawing/2014/main" val="3226029978"/>
                  </a:ext>
                </a:extLst>
              </a:tr>
              <a:tr h="190500">
                <a:tc>
                  <a:txBody>
                    <a:bodyPr/>
                    <a:lstStyle/>
                    <a:p>
                      <a:pPr algn="ctr" fontAlgn="b"/>
                      <a:r>
                        <a:rPr lang="es-EC" sz="1600" u="none" strike="noStrike" dirty="0">
                          <a:effectLst/>
                          <a:latin typeface="Century Gothic" panose="020B0502020202020204" pitchFamily="34" charset="0"/>
                        </a:rPr>
                        <a:t>Sí</a:t>
                      </a:r>
                      <a:endParaRPr lang="es-EC" sz="1600" b="0" i="0" u="none" strike="noStrike" dirty="0">
                        <a:solidFill>
                          <a:schemeClr val="tx1"/>
                        </a:solidFill>
                        <a:effectLst/>
                        <a:latin typeface="Century Gothic" panose="020B0502020202020204" pitchFamily="34" charset="0"/>
                      </a:endParaRPr>
                    </a:p>
                  </a:txBody>
                  <a:tcPr marL="9525" marR="9525" marT="9525" marB="0" anchor="b"/>
                </a:tc>
                <a:tc>
                  <a:txBody>
                    <a:bodyPr/>
                    <a:lstStyle/>
                    <a:p>
                      <a:pPr algn="ctr" fontAlgn="b"/>
                      <a:r>
                        <a:rPr lang="en-US" sz="1600" dirty="0"/>
                        <a:t>4,519,886</a:t>
                      </a:r>
                      <a:endParaRPr lang="es-EC" sz="1600" b="0" i="0" u="none" strike="noStrike" dirty="0">
                        <a:solidFill>
                          <a:schemeClr val="tx1"/>
                        </a:solidFill>
                        <a:effectLst/>
                        <a:latin typeface="Century Gothic" panose="020B0502020202020204" pitchFamily="34" charset="0"/>
                      </a:endParaRPr>
                    </a:p>
                  </a:txBody>
                  <a:tcPr marL="9525" marR="9525" marT="9525" marB="0" anchor="b"/>
                </a:tc>
                <a:tc>
                  <a:txBody>
                    <a:bodyPr/>
                    <a:lstStyle/>
                    <a:p>
                      <a:pPr algn="ctr" fontAlgn="b"/>
                      <a:r>
                        <a:rPr lang="en-US" sz="1600" dirty="0"/>
                        <a:t>0.577</a:t>
                      </a:r>
                      <a:endParaRPr lang="es-EC" sz="1600" b="0" i="0" u="none" strike="noStrike" dirty="0">
                        <a:solidFill>
                          <a:schemeClr val="tx1"/>
                        </a:solidFill>
                        <a:effectLst/>
                        <a:latin typeface="Century Gothic" panose="020B0502020202020204" pitchFamily="34" charset="0"/>
                      </a:endParaRPr>
                    </a:p>
                  </a:txBody>
                  <a:tcPr marL="9525" marR="9525" marT="9525" marB="0" anchor="b"/>
                </a:tc>
                <a:extLst>
                  <a:ext uri="{0D108BD9-81ED-4DB2-BD59-A6C34878D82A}">
                    <a16:rowId xmlns:a16="http://schemas.microsoft.com/office/drawing/2014/main" val="1347293328"/>
                  </a:ext>
                </a:extLst>
              </a:tr>
              <a:tr h="190500">
                <a:tc>
                  <a:txBody>
                    <a:bodyPr/>
                    <a:lstStyle/>
                    <a:p>
                      <a:pPr algn="ctr" fontAlgn="b"/>
                      <a:r>
                        <a:rPr lang="es-EC" sz="1600" b="1" u="none" strike="noStrike" dirty="0">
                          <a:effectLst/>
                          <a:latin typeface="Century Gothic" panose="020B0502020202020204" pitchFamily="34" charset="0"/>
                        </a:rPr>
                        <a:t>Total general</a:t>
                      </a:r>
                      <a:endParaRPr lang="es-EC" sz="1600" b="1" i="0" u="none" strike="noStrike" dirty="0">
                        <a:solidFill>
                          <a:schemeClr val="tx1"/>
                        </a:solidFill>
                        <a:effectLst/>
                        <a:latin typeface="Century Gothic" panose="020B0502020202020204" pitchFamily="34" charset="0"/>
                      </a:endParaRPr>
                    </a:p>
                  </a:txBody>
                  <a:tcPr marL="9525" marR="9525" marT="9525" marB="0" anchor="b"/>
                </a:tc>
                <a:tc>
                  <a:txBody>
                    <a:bodyPr/>
                    <a:lstStyle/>
                    <a:p>
                      <a:pPr algn="ctr" fontAlgn="b"/>
                      <a:r>
                        <a:rPr lang="en-US" sz="1600" dirty="0"/>
                        <a:t>4,519,886</a:t>
                      </a:r>
                      <a:endParaRPr lang="es-EC" sz="1600" b="1" i="0" u="none" strike="noStrike" dirty="0">
                        <a:solidFill>
                          <a:schemeClr val="tx1"/>
                        </a:solidFill>
                        <a:effectLst/>
                        <a:latin typeface="Century Gothic" panose="020B0502020202020204" pitchFamily="34" charset="0"/>
                      </a:endParaRPr>
                    </a:p>
                  </a:txBody>
                  <a:tcPr marL="9525" marR="9525" marT="9525" marB="0" anchor="b"/>
                </a:tc>
                <a:tc>
                  <a:txBody>
                    <a:bodyPr/>
                    <a:lstStyle/>
                    <a:p>
                      <a:pPr algn="ctr" fontAlgn="b"/>
                      <a:r>
                        <a:rPr lang="es-EC" sz="1600" b="1" u="none" strike="noStrike" dirty="0">
                          <a:effectLst/>
                          <a:latin typeface="Century Gothic" panose="020B0502020202020204" pitchFamily="34" charset="0"/>
                        </a:rPr>
                        <a:t>1,000</a:t>
                      </a:r>
                      <a:endParaRPr lang="es-EC" sz="1600" b="1" i="0" u="none" strike="noStrike" dirty="0">
                        <a:solidFill>
                          <a:schemeClr val="tx1"/>
                        </a:solidFill>
                        <a:effectLst/>
                        <a:latin typeface="Century Gothic" panose="020B0502020202020204" pitchFamily="34" charset="0"/>
                      </a:endParaRPr>
                    </a:p>
                  </a:txBody>
                  <a:tcPr marL="9525" marR="9525" marT="9525" marB="0" anchor="b"/>
                </a:tc>
                <a:extLst>
                  <a:ext uri="{0D108BD9-81ED-4DB2-BD59-A6C34878D82A}">
                    <a16:rowId xmlns:a16="http://schemas.microsoft.com/office/drawing/2014/main" val="1107855832"/>
                  </a:ext>
                </a:extLst>
              </a:tr>
            </a:tbl>
          </a:graphicData>
        </a:graphic>
      </p:graphicFrame>
      <p:graphicFrame>
        <p:nvGraphicFramePr>
          <p:cNvPr id="11" name="Gráfico 10"/>
          <p:cNvGraphicFramePr>
            <a:graphicFrameLocks/>
          </p:cNvGraphicFramePr>
          <p:nvPr>
            <p:extLst>
              <p:ext uri="{D42A27DB-BD31-4B8C-83A1-F6EECF244321}">
                <p14:modId xmlns:p14="http://schemas.microsoft.com/office/powerpoint/2010/main" val="2518265674"/>
              </p:ext>
            </p:extLst>
          </p:nvPr>
        </p:nvGraphicFramePr>
        <p:xfrm>
          <a:off x="6324600" y="1062038"/>
          <a:ext cx="5200650" cy="3227546"/>
        </p:xfrm>
        <a:graphic>
          <a:graphicData uri="http://schemas.openxmlformats.org/drawingml/2006/chart">
            <c:chart xmlns:c="http://schemas.openxmlformats.org/drawingml/2006/chart" xmlns:r="http://schemas.openxmlformats.org/officeDocument/2006/relationships" r:id="rId2"/>
          </a:graphicData>
        </a:graphic>
      </p:graphicFrame>
      <p:pic>
        <p:nvPicPr>
          <p:cNvPr id="5" name="Imagen 4">
            <a:extLst>
              <a:ext uri="{FF2B5EF4-FFF2-40B4-BE49-F238E27FC236}">
                <a16:creationId xmlns:a16="http://schemas.microsoft.com/office/drawing/2014/main" id="{8DA7578C-78E0-40BD-A316-06F6197E35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3961" y="755567"/>
            <a:ext cx="3931928" cy="3840488"/>
          </a:xfrm>
          <a:prstGeom prst="rect">
            <a:avLst/>
          </a:prstGeom>
        </p:spPr>
      </p:pic>
    </p:spTree>
    <p:extLst>
      <p:ext uri="{BB962C8B-B14F-4D97-AF65-F5344CB8AC3E}">
        <p14:creationId xmlns:p14="http://schemas.microsoft.com/office/powerpoint/2010/main" val="6344898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pPr algn="ctr"/>
            <a:r>
              <a:rPr lang="es-MX" sz="2000" b="1" dirty="0">
                <a:latin typeface="Century Gothic" panose="020B0502020202020204" pitchFamily="34" charset="0"/>
              </a:rPr>
              <a:t>Distribución condicional de ser perceptor de ingresos dado el sexo</a:t>
            </a:r>
            <a:endParaRPr lang="es-EC" sz="2000" b="1" dirty="0">
              <a:latin typeface="Century Gothic" panose="020B0502020202020204" pitchFamily="34" charset="0"/>
            </a:endParaRPr>
          </a:p>
        </p:txBody>
      </p:sp>
      <p:sp>
        <p:nvSpPr>
          <p:cNvPr id="3" name="CuadroTexto 2"/>
          <p:cNvSpPr txBox="1"/>
          <p:nvPr/>
        </p:nvSpPr>
        <p:spPr>
          <a:xfrm>
            <a:off x="6096000" y="3086459"/>
            <a:ext cx="5549901" cy="535531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s-MX" b="1" dirty="0">
                <a:latin typeface="Century Gothic" panose="020B0502020202020204" pitchFamily="34" charset="0"/>
              </a:rPr>
              <a:t>Análisis:</a:t>
            </a:r>
          </a:p>
          <a:p>
            <a:r>
              <a:rPr lang="es-MX" dirty="0"/>
              <a:t>Al comparar hombres y mujeres, se observa que </a:t>
            </a:r>
            <a:r>
              <a:rPr lang="es-MX" b="1" dirty="0"/>
              <a:t>en ambos grupos la mayoría recibe ingresos</a:t>
            </a:r>
            <a:r>
              <a:rPr lang="es-MX" dirty="0"/>
              <a:t>, aunque existe una diferencia entre ellos. En los hombres, el </a:t>
            </a:r>
            <a:r>
              <a:rPr lang="es-MX" b="1" dirty="0"/>
              <a:t>60,9 %</a:t>
            </a:r>
            <a:r>
              <a:rPr lang="es-MX" dirty="0"/>
              <a:t> son perceptores de ingresos, mientras que en las mujeres el porcentaje es de </a:t>
            </a:r>
            <a:r>
              <a:rPr lang="es-MX" b="1" dirty="0"/>
              <a:t>54,8 %</a:t>
            </a:r>
            <a:r>
              <a:rPr lang="es-MX" dirty="0"/>
              <a:t>. Esto representa una diferencia de </a:t>
            </a:r>
            <a:r>
              <a:rPr lang="es-MX" b="1" dirty="0"/>
              <a:t>6,1 puntos porcentuales</a:t>
            </a:r>
            <a:r>
              <a:rPr lang="es-MX" dirty="0"/>
              <a:t> a favor de los hombres. En general, los datos muestran que ambos participan en la generación de ingresos del hogar, pero </a:t>
            </a:r>
            <a:r>
              <a:rPr lang="es-MX" b="1" dirty="0"/>
              <a:t>los hombres presentan una mayor proporción de perceptores</a:t>
            </a:r>
            <a:r>
              <a:rPr lang="es-MX" dirty="0"/>
              <a:t>, lo que evidencia una brecha de género en la región Sierra.</a:t>
            </a:r>
          </a:p>
          <a:p>
            <a:endParaRPr lang="es-MX" b="1" dirty="0">
              <a:latin typeface="Century Gothic" panose="020B0502020202020204" pitchFamily="34" charset="0"/>
            </a:endParaRPr>
          </a:p>
          <a:p>
            <a:endParaRPr lang="es-MX" b="1" dirty="0">
              <a:latin typeface="Century Gothic" panose="020B0502020202020204" pitchFamily="34" charset="0"/>
            </a:endParaRPr>
          </a:p>
          <a:p>
            <a:endParaRPr lang="es-MX" b="1" dirty="0">
              <a:latin typeface="Century Gothic" panose="020B0502020202020204" pitchFamily="34" charset="0"/>
            </a:endParaRPr>
          </a:p>
          <a:p>
            <a:endParaRPr lang="es-MX" b="1" dirty="0">
              <a:latin typeface="Century Gothic" panose="020B0502020202020204" pitchFamily="34" charset="0"/>
            </a:endParaRPr>
          </a:p>
          <a:p>
            <a:endParaRPr lang="es-MX" b="1" dirty="0">
              <a:latin typeface="Century Gothic" panose="020B0502020202020204" pitchFamily="34" charset="0"/>
            </a:endParaRPr>
          </a:p>
          <a:p>
            <a:endParaRPr lang="es-MX" b="1" dirty="0">
              <a:latin typeface="Century Gothic" panose="020B0502020202020204" pitchFamily="34" charset="0"/>
            </a:endParaRPr>
          </a:p>
          <a:p>
            <a:endParaRPr lang="es-MX" b="1" dirty="0">
              <a:latin typeface="Century Gothic" panose="020B0502020202020204" pitchFamily="34" charset="0"/>
            </a:endParaRPr>
          </a:p>
          <a:p>
            <a:endParaRPr lang="es-EC" b="1" dirty="0">
              <a:latin typeface="Century Gothic" panose="020B0502020202020204" pitchFamily="34" charset="0"/>
            </a:endParaRPr>
          </a:p>
        </p:txBody>
      </p:sp>
      <p:graphicFrame>
        <p:nvGraphicFramePr>
          <p:cNvPr id="4" name="Tabla 3"/>
          <p:cNvGraphicFramePr>
            <a:graphicFrameLocks noGrp="1"/>
          </p:cNvGraphicFramePr>
          <p:nvPr>
            <p:extLst>
              <p:ext uri="{D42A27DB-BD31-4B8C-83A1-F6EECF244321}">
                <p14:modId xmlns:p14="http://schemas.microsoft.com/office/powerpoint/2010/main" val="3383432371"/>
              </p:ext>
            </p:extLst>
          </p:nvPr>
        </p:nvGraphicFramePr>
        <p:xfrm>
          <a:off x="6096000" y="1517748"/>
          <a:ext cx="5549901" cy="1266825"/>
        </p:xfrm>
        <a:graphic>
          <a:graphicData uri="http://schemas.openxmlformats.org/drawingml/2006/table">
            <a:tbl>
              <a:tblPr>
                <a:tableStyleId>{5DA37D80-6434-44D0-A028-1B22A696006F}</a:tableStyleId>
              </a:tblPr>
              <a:tblGrid>
                <a:gridCol w="3064871">
                  <a:extLst>
                    <a:ext uri="{9D8B030D-6E8A-4147-A177-3AD203B41FA5}">
                      <a16:colId xmlns:a16="http://schemas.microsoft.com/office/drawing/2014/main" val="3614033151"/>
                    </a:ext>
                  </a:extLst>
                </a:gridCol>
                <a:gridCol w="1242515">
                  <a:extLst>
                    <a:ext uri="{9D8B030D-6E8A-4147-A177-3AD203B41FA5}">
                      <a16:colId xmlns:a16="http://schemas.microsoft.com/office/drawing/2014/main" val="312438443"/>
                    </a:ext>
                  </a:extLst>
                </a:gridCol>
                <a:gridCol w="1242515">
                  <a:extLst>
                    <a:ext uri="{9D8B030D-6E8A-4147-A177-3AD203B41FA5}">
                      <a16:colId xmlns:a16="http://schemas.microsoft.com/office/drawing/2014/main" val="3217280134"/>
                    </a:ext>
                  </a:extLst>
                </a:gridCol>
              </a:tblGrid>
              <a:tr h="190500">
                <a:tc rowSpan="2">
                  <a:txBody>
                    <a:bodyPr/>
                    <a:lstStyle/>
                    <a:p>
                      <a:pPr algn="ctr" fontAlgn="ctr"/>
                      <a:r>
                        <a:rPr lang="es-EC" sz="1600" b="1" u="none" strike="noStrike" dirty="0">
                          <a:effectLst/>
                          <a:latin typeface="Century Gothic" panose="020B0502020202020204" pitchFamily="34" charset="0"/>
                        </a:rPr>
                        <a:t>Perceptor de ingresos</a:t>
                      </a:r>
                      <a:endParaRPr lang="es-EC" sz="1600" b="1" i="0" u="none" strike="noStrike" dirty="0">
                        <a:solidFill>
                          <a:srgbClr val="000000"/>
                        </a:solidFill>
                        <a:effectLst/>
                        <a:latin typeface="Century Gothic" panose="020B0502020202020204" pitchFamily="34" charset="0"/>
                      </a:endParaRPr>
                    </a:p>
                  </a:txBody>
                  <a:tcPr marL="9525" marR="9525" marT="9525" marB="0" anchor="ctr"/>
                </a:tc>
                <a:tc gridSpan="2">
                  <a:txBody>
                    <a:bodyPr/>
                    <a:lstStyle/>
                    <a:p>
                      <a:pPr algn="ctr" fontAlgn="ctr"/>
                      <a:r>
                        <a:rPr lang="es-EC" sz="1600" b="1" u="none" strike="noStrike" dirty="0">
                          <a:effectLst/>
                          <a:latin typeface="Century Gothic" panose="020B0502020202020204" pitchFamily="34" charset="0"/>
                        </a:rPr>
                        <a:t>Sexo</a:t>
                      </a:r>
                      <a:endParaRPr lang="es-EC" sz="1600" b="1" i="0" u="none" strike="noStrike" dirty="0">
                        <a:solidFill>
                          <a:srgbClr val="000000"/>
                        </a:solidFill>
                        <a:effectLst/>
                        <a:latin typeface="Century Gothic" panose="020B0502020202020204" pitchFamily="34" charset="0"/>
                      </a:endParaRPr>
                    </a:p>
                  </a:txBody>
                  <a:tcPr marL="9525" marR="9525" marT="9525" marB="0" anchor="ctr"/>
                </a:tc>
                <a:tc hMerge="1">
                  <a:txBody>
                    <a:bodyPr/>
                    <a:lstStyle/>
                    <a:p>
                      <a:endParaRPr lang="es-EC"/>
                    </a:p>
                  </a:txBody>
                  <a:tcPr/>
                </a:tc>
                <a:extLst>
                  <a:ext uri="{0D108BD9-81ED-4DB2-BD59-A6C34878D82A}">
                    <a16:rowId xmlns:a16="http://schemas.microsoft.com/office/drawing/2014/main" val="2043500343"/>
                  </a:ext>
                </a:extLst>
              </a:tr>
              <a:tr h="190500">
                <a:tc vMerge="1">
                  <a:txBody>
                    <a:bodyPr/>
                    <a:lstStyle/>
                    <a:p>
                      <a:endParaRPr lang="es-EC"/>
                    </a:p>
                  </a:txBody>
                  <a:tcPr/>
                </a:tc>
                <a:tc>
                  <a:txBody>
                    <a:bodyPr/>
                    <a:lstStyle/>
                    <a:p>
                      <a:pPr algn="ctr" fontAlgn="ctr"/>
                      <a:r>
                        <a:rPr lang="es-EC" sz="1600" b="1" u="none" strike="noStrike">
                          <a:effectLst/>
                          <a:latin typeface="Century Gothic" panose="020B0502020202020204" pitchFamily="34" charset="0"/>
                        </a:rPr>
                        <a:t>Hombre</a:t>
                      </a:r>
                      <a:endParaRPr lang="es-EC" sz="1600" b="1" i="0" u="none" strike="noStrike">
                        <a:solidFill>
                          <a:srgbClr val="000000"/>
                        </a:solidFill>
                        <a:effectLst/>
                        <a:latin typeface="Century Gothic" panose="020B0502020202020204" pitchFamily="34" charset="0"/>
                      </a:endParaRPr>
                    </a:p>
                  </a:txBody>
                  <a:tcPr marL="9525" marR="9525" marT="9525" marB="0" anchor="ctr"/>
                </a:tc>
                <a:tc>
                  <a:txBody>
                    <a:bodyPr/>
                    <a:lstStyle/>
                    <a:p>
                      <a:pPr algn="ctr" fontAlgn="ctr"/>
                      <a:r>
                        <a:rPr lang="es-EC" sz="1600" b="1" u="none" strike="noStrike" dirty="0">
                          <a:effectLst/>
                          <a:latin typeface="Century Gothic" panose="020B0502020202020204" pitchFamily="34" charset="0"/>
                        </a:rPr>
                        <a:t>Mujer</a:t>
                      </a:r>
                      <a:endParaRPr lang="es-EC" sz="1600" b="1" i="0" u="none" strike="noStrike" dirty="0">
                        <a:solidFill>
                          <a:srgbClr val="000000"/>
                        </a:solidFill>
                        <a:effectLst/>
                        <a:latin typeface="Century Gothic" panose="020B0502020202020204" pitchFamily="34" charset="0"/>
                      </a:endParaRPr>
                    </a:p>
                  </a:txBody>
                  <a:tcPr marL="9525" marR="9525" marT="9525" marB="0" anchor="ctr"/>
                </a:tc>
                <a:extLst>
                  <a:ext uri="{0D108BD9-81ED-4DB2-BD59-A6C34878D82A}">
                    <a16:rowId xmlns:a16="http://schemas.microsoft.com/office/drawing/2014/main" val="3948217807"/>
                  </a:ext>
                </a:extLst>
              </a:tr>
              <a:tr h="190500">
                <a:tc>
                  <a:txBody>
                    <a:bodyPr/>
                    <a:lstStyle/>
                    <a:p>
                      <a:pPr algn="ctr" fontAlgn="ctr"/>
                      <a:r>
                        <a:rPr lang="es-EC" sz="1600" b="1" u="none" strike="noStrike" dirty="0">
                          <a:effectLst/>
                          <a:latin typeface="Century Gothic" panose="020B0502020202020204" pitchFamily="34" charset="0"/>
                        </a:rPr>
                        <a:t>No</a:t>
                      </a:r>
                      <a:endParaRPr lang="es-EC" sz="1600" b="1" i="0" u="none" strike="noStrike" dirty="0">
                        <a:solidFill>
                          <a:srgbClr val="000000"/>
                        </a:solidFill>
                        <a:effectLst/>
                        <a:latin typeface="Century Gothic" panose="020B0502020202020204" pitchFamily="34" charset="0"/>
                      </a:endParaRPr>
                    </a:p>
                  </a:txBody>
                  <a:tcPr marL="9525" marR="9525" marT="9525" marB="0" anchor="ctr"/>
                </a:tc>
                <a:tc>
                  <a:txBody>
                    <a:bodyPr/>
                    <a:lstStyle/>
                    <a:p>
                      <a:pPr algn="ctr" fontAlgn="ctr"/>
                      <a:r>
                        <a:rPr lang="en-US" sz="1600" dirty="0"/>
                        <a:t>0.391</a:t>
                      </a:r>
                      <a:endParaRPr lang="es-EC" sz="1600" b="0" i="0" u="none" strike="noStrike" dirty="0">
                        <a:solidFill>
                          <a:srgbClr val="000000"/>
                        </a:solidFill>
                        <a:effectLst/>
                        <a:latin typeface="Century Gothic" panose="020B0502020202020204" pitchFamily="34" charset="0"/>
                      </a:endParaRPr>
                    </a:p>
                  </a:txBody>
                  <a:tcPr marL="9525" marR="9525" marT="9525" marB="0" anchor="ctr"/>
                </a:tc>
                <a:tc>
                  <a:txBody>
                    <a:bodyPr/>
                    <a:lstStyle/>
                    <a:p>
                      <a:pPr algn="ctr" fontAlgn="ctr"/>
                      <a:r>
                        <a:rPr lang="en-US" sz="1600" dirty="0"/>
                        <a:t>0.452</a:t>
                      </a:r>
                      <a:endParaRPr lang="es-EC" sz="1600" b="0" i="0" u="none" strike="noStrike" dirty="0">
                        <a:solidFill>
                          <a:srgbClr val="000000"/>
                        </a:solidFill>
                        <a:effectLst/>
                        <a:latin typeface="Century Gothic" panose="020B0502020202020204" pitchFamily="34" charset="0"/>
                      </a:endParaRPr>
                    </a:p>
                  </a:txBody>
                  <a:tcPr marL="9525" marR="9525" marT="9525" marB="0" anchor="ctr"/>
                </a:tc>
                <a:extLst>
                  <a:ext uri="{0D108BD9-81ED-4DB2-BD59-A6C34878D82A}">
                    <a16:rowId xmlns:a16="http://schemas.microsoft.com/office/drawing/2014/main" val="2188250102"/>
                  </a:ext>
                </a:extLst>
              </a:tr>
              <a:tr h="190500">
                <a:tc>
                  <a:txBody>
                    <a:bodyPr/>
                    <a:lstStyle/>
                    <a:p>
                      <a:pPr algn="ctr" fontAlgn="ctr"/>
                      <a:r>
                        <a:rPr lang="es-EC" sz="1600" b="1" u="none" strike="noStrike" dirty="0">
                          <a:effectLst/>
                          <a:latin typeface="Century Gothic" panose="020B0502020202020204" pitchFamily="34" charset="0"/>
                        </a:rPr>
                        <a:t>Sí</a:t>
                      </a:r>
                      <a:endParaRPr lang="es-EC" sz="1600" b="1" i="0" u="none" strike="noStrike" dirty="0">
                        <a:solidFill>
                          <a:srgbClr val="000000"/>
                        </a:solidFill>
                        <a:effectLst/>
                        <a:latin typeface="Century Gothic" panose="020B0502020202020204" pitchFamily="34" charset="0"/>
                      </a:endParaRPr>
                    </a:p>
                  </a:txBody>
                  <a:tcPr marL="9525" marR="9525" marT="9525" marB="0" anchor="ctr"/>
                </a:tc>
                <a:tc>
                  <a:txBody>
                    <a:bodyPr/>
                    <a:lstStyle/>
                    <a:p>
                      <a:pPr algn="ctr" fontAlgn="ctr"/>
                      <a:r>
                        <a:rPr lang="en-US" sz="1600" dirty="0"/>
                        <a:t>0.609</a:t>
                      </a:r>
                      <a:endParaRPr lang="es-EC" sz="1600" b="0" i="0" u="none" strike="noStrike" dirty="0">
                        <a:solidFill>
                          <a:srgbClr val="000000"/>
                        </a:solidFill>
                        <a:effectLst/>
                        <a:latin typeface="Century Gothic" panose="020B0502020202020204" pitchFamily="34" charset="0"/>
                      </a:endParaRPr>
                    </a:p>
                  </a:txBody>
                  <a:tcPr marL="9525" marR="9525" marT="9525" marB="0" anchor="ctr"/>
                </a:tc>
                <a:tc>
                  <a:txBody>
                    <a:bodyPr/>
                    <a:lstStyle/>
                    <a:p>
                      <a:pPr algn="ctr" fontAlgn="ctr"/>
                      <a:r>
                        <a:rPr lang="en-US" sz="1600" dirty="0"/>
                        <a:t>0.548</a:t>
                      </a:r>
                      <a:endParaRPr lang="es-EC" sz="1600" b="0" i="0" u="none" strike="noStrike" dirty="0">
                        <a:solidFill>
                          <a:srgbClr val="000000"/>
                        </a:solidFill>
                        <a:effectLst/>
                        <a:latin typeface="Century Gothic" panose="020B0502020202020204" pitchFamily="34" charset="0"/>
                      </a:endParaRPr>
                    </a:p>
                  </a:txBody>
                  <a:tcPr marL="9525" marR="9525" marT="9525" marB="0" anchor="ctr"/>
                </a:tc>
                <a:extLst>
                  <a:ext uri="{0D108BD9-81ED-4DB2-BD59-A6C34878D82A}">
                    <a16:rowId xmlns:a16="http://schemas.microsoft.com/office/drawing/2014/main" val="2140485030"/>
                  </a:ext>
                </a:extLst>
              </a:tr>
              <a:tr h="190500">
                <a:tc>
                  <a:txBody>
                    <a:bodyPr/>
                    <a:lstStyle/>
                    <a:p>
                      <a:pPr algn="ctr" fontAlgn="ctr"/>
                      <a:r>
                        <a:rPr lang="es-EC" sz="1600" b="1" u="none" strike="noStrike" dirty="0">
                          <a:effectLst/>
                          <a:latin typeface="Century Gothic" panose="020B0502020202020204" pitchFamily="34" charset="0"/>
                        </a:rPr>
                        <a:t>Total general</a:t>
                      </a:r>
                      <a:endParaRPr lang="es-EC" sz="1600" b="1" i="0" u="none" strike="noStrike" dirty="0">
                        <a:solidFill>
                          <a:srgbClr val="000000"/>
                        </a:solidFill>
                        <a:effectLst/>
                        <a:latin typeface="Century Gothic" panose="020B0502020202020204" pitchFamily="34" charset="0"/>
                      </a:endParaRPr>
                    </a:p>
                  </a:txBody>
                  <a:tcPr marL="9525" marR="9525" marT="9525" marB="0" anchor="ctr"/>
                </a:tc>
                <a:tc>
                  <a:txBody>
                    <a:bodyPr/>
                    <a:lstStyle/>
                    <a:p>
                      <a:pPr algn="ctr" fontAlgn="ctr"/>
                      <a:r>
                        <a:rPr lang="es-EC" sz="1600" u="none" strike="noStrike" dirty="0">
                          <a:effectLst/>
                          <a:latin typeface="Century Gothic" panose="020B0502020202020204" pitchFamily="34" charset="0"/>
                        </a:rPr>
                        <a:t>1,000</a:t>
                      </a:r>
                      <a:endParaRPr lang="es-EC" sz="1600" b="0" i="0" u="none" strike="noStrike" dirty="0">
                        <a:solidFill>
                          <a:srgbClr val="000000"/>
                        </a:solidFill>
                        <a:effectLst/>
                        <a:latin typeface="Century Gothic" panose="020B0502020202020204" pitchFamily="34" charset="0"/>
                      </a:endParaRPr>
                    </a:p>
                  </a:txBody>
                  <a:tcPr marL="9525" marR="9525" marT="9525" marB="0" anchor="ctr"/>
                </a:tc>
                <a:tc>
                  <a:txBody>
                    <a:bodyPr/>
                    <a:lstStyle/>
                    <a:p>
                      <a:pPr algn="ctr" fontAlgn="ctr"/>
                      <a:r>
                        <a:rPr lang="es-EC" sz="1600" u="none" strike="noStrike" dirty="0">
                          <a:effectLst/>
                          <a:latin typeface="Century Gothic" panose="020B0502020202020204" pitchFamily="34" charset="0"/>
                        </a:rPr>
                        <a:t>1,000</a:t>
                      </a:r>
                      <a:endParaRPr lang="es-EC" sz="1600" b="0" i="0" u="none" strike="noStrike" dirty="0">
                        <a:solidFill>
                          <a:srgbClr val="000000"/>
                        </a:solidFill>
                        <a:effectLst/>
                        <a:latin typeface="Century Gothic" panose="020B0502020202020204" pitchFamily="34" charset="0"/>
                      </a:endParaRPr>
                    </a:p>
                  </a:txBody>
                  <a:tcPr marL="9525" marR="9525" marT="9525" marB="0" anchor="ctr"/>
                </a:tc>
                <a:extLst>
                  <a:ext uri="{0D108BD9-81ED-4DB2-BD59-A6C34878D82A}">
                    <a16:rowId xmlns:a16="http://schemas.microsoft.com/office/drawing/2014/main" val="2660185728"/>
                  </a:ext>
                </a:extLst>
              </a:tr>
            </a:tbl>
          </a:graphicData>
        </a:graphic>
      </p:graphicFrame>
      <p:pic>
        <p:nvPicPr>
          <p:cNvPr id="11" name="Imagen 10">
            <a:extLst>
              <a:ext uri="{FF2B5EF4-FFF2-40B4-BE49-F238E27FC236}">
                <a16:creationId xmlns:a16="http://schemas.microsoft.com/office/drawing/2014/main" id="{EFF25B4D-9C78-41BB-95A3-50A0D4EBFE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1982" y="1517748"/>
            <a:ext cx="4110236" cy="4082804"/>
          </a:xfrm>
          <a:prstGeom prst="rect">
            <a:avLst/>
          </a:prstGeom>
        </p:spPr>
      </p:pic>
    </p:spTree>
    <p:extLst>
      <p:ext uri="{BB962C8B-B14F-4D97-AF65-F5344CB8AC3E}">
        <p14:creationId xmlns:p14="http://schemas.microsoft.com/office/powerpoint/2010/main" val="8403943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1829" y="278122"/>
            <a:ext cx="3747052" cy="1325563"/>
          </a:xfrm>
        </p:spPr>
        <p:txBody>
          <a:bodyPr>
            <a:normAutofit/>
          </a:bodyPr>
          <a:lstStyle/>
          <a:p>
            <a:r>
              <a:rPr lang="es-MX" sz="2800" dirty="0">
                <a:latin typeface="Century Gothic" panose="020B0502020202020204" pitchFamily="34" charset="0"/>
              </a:rPr>
              <a:t>Pregunta de estudio</a:t>
            </a:r>
            <a:r>
              <a:rPr lang="es-EC" sz="2800" dirty="0">
                <a:latin typeface="Century Gothic" panose="020B0502020202020204" pitchFamily="34" charset="0"/>
              </a:rPr>
              <a:t>:</a:t>
            </a:r>
          </a:p>
        </p:txBody>
      </p:sp>
      <p:sp>
        <p:nvSpPr>
          <p:cNvPr id="3" name="Marcador de contenido 2"/>
          <p:cNvSpPr>
            <a:spLocks noGrp="1"/>
          </p:cNvSpPr>
          <p:nvPr>
            <p:ph idx="1"/>
          </p:nvPr>
        </p:nvSpPr>
        <p:spPr>
          <a:xfrm>
            <a:off x="838200" y="1785868"/>
            <a:ext cx="10515600" cy="4351338"/>
          </a:xfrm>
        </p:spPr>
        <p:txBody>
          <a:bodyPr/>
          <a:lstStyle/>
          <a:p>
            <a:endParaRPr lang="es-MX" dirty="0"/>
          </a:p>
          <a:p>
            <a:endParaRPr lang="es-MX" dirty="0"/>
          </a:p>
          <a:p>
            <a:endParaRPr lang="es-EC" dirty="0"/>
          </a:p>
        </p:txBody>
      </p:sp>
      <p:sp>
        <p:nvSpPr>
          <p:cNvPr id="4" name="Elipse 3"/>
          <p:cNvSpPr/>
          <p:nvPr/>
        </p:nvSpPr>
        <p:spPr>
          <a:xfrm>
            <a:off x="185530" y="212035"/>
            <a:ext cx="795131" cy="728869"/>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MX" dirty="0"/>
              <a:t>4</a:t>
            </a:r>
            <a:endParaRPr lang="es-EC" dirty="0"/>
          </a:p>
        </p:txBody>
      </p:sp>
      <p:sp>
        <p:nvSpPr>
          <p:cNvPr id="6" name="CuadroTexto 5"/>
          <p:cNvSpPr txBox="1"/>
          <p:nvPr/>
        </p:nvSpPr>
        <p:spPr>
          <a:xfrm>
            <a:off x="4678017" y="569843"/>
            <a:ext cx="6675783" cy="92333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MX" b="1" dirty="0"/>
              <a:t>¿Cómo cambia la distribución del gasto de consumo de los hogares de la región Sierra a medida que aumenta su nivel de ingresos?</a:t>
            </a:r>
            <a:endParaRPr lang="es-MX" dirty="0"/>
          </a:p>
          <a:p>
            <a:endParaRPr lang="es-EC" dirty="0"/>
          </a:p>
        </p:txBody>
      </p:sp>
      <p:sp>
        <p:nvSpPr>
          <p:cNvPr id="7" name="CuadroTexto 6"/>
          <p:cNvSpPr txBox="1"/>
          <p:nvPr/>
        </p:nvSpPr>
        <p:spPr>
          <a:xfrm>
            <a:off x="838200" y="2005565"/>
            <a:ext cx="7696200" cy="369332"/>
          </a:xfrm>
          <a:prstGeom prst="rect">
            <a:avLst/>
          </a:prstGeom>
          <a:noFill/>
        </p:spPr>
        <p:txBody>
          <a:bodyPr wrap="square" rtlCol="0">
            <a:spAutoFit/>
          </a:bodyPr>
          <a:lstStyle/>
          <a:p>
            <a:r>
              <a:rPr lang="es-MX" b="1" dirty="0"/>
              <a:t>Evidencia disponible:</a:t>
            </a:r>
            <a:endParaRPr lang="es-EC" b="1" dirty="0"/>
          </a:p>
        </p:txBody>
      </p:sp>
      <p:sp>
        <p:nvSpPr>
          <p:cNvPr id="11" name="CuadroTexto 10"/>
          <p:cNvSpPr txBox="1"/>
          <p:nvPr/>
        </p:nvSpPr>
        <p:spPr>
          <a:xfrm>
            <a:off x="185531" y="5770766"/>
            <a:ext cx="11844544" cy="1077218"/>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s-MX" sz="1600" dirty="0"/>
              <a:t>Los gráficos muestran cómo se distribuye el </a:t>
            </a:r>
            <a:r>
              <a:rPr lang="es-MX" sz="1600" b="1" dirty="0"/>
              <a:t>gasto de consumo de los hogares según su nivel de ingreso</a:t>
            </a:r>
            <a:r>
              <a:rPr lang="es-MX" sz="1600" dirty="0"/>
              <a:t>. Los gastos en </a:t>
            </a:r>
            <a:r>
              <a:rPr lang="es-MX" sz="1600" b="1" dirty="0"/>
              <a:t>Alimentos</a:t>
            </a:r>
            <a:r>
              <a:rPr lang="es-MX" sz="1600" dirty="0"/>
              <a:t> bajan de </a:t>
            </a:r>
            <a:r>
              <a:rPr lang="es-MX" sz="1600" b="1" dirty="0"/>
              <a:t>30,8 % a 10,0 %</a:t>
            </a:r>
            <a:r>
              <a:rPr lang="es-MX" sz="1600" dirty="0"/>
              <a:t> y en </a:t>
            </a:r>
            <a:r>
              <a:rPr lang="es-MX" sz="1600" b="1" dirty="0"/>
              <a:t>Vivienda</a:t>
            </a:r>
            <a:r>
              <a:rPr lang="es-MX" sz="1600" dirty="0"/>
              <a:t> de </a:t>
            </a:r>
            <a:r>
              <a:rPr lang="es-MX" sz="1600" b="1" dirty="0"/>
              <a:t>17,0 % a 8,7 %</a:t>
            </a:r>
            <a:r>
              <a:rPr lang="es-MX" sz="1600" dirty="0"/>
              <a:t>. En cambio, aumentan </a:t>
            </a:r>
            <a:r>
              <a:rPr lang="es-MX" sz="1600" b="1" dirty="0"/>
              <a:t>Transporte (8,9 % → 16,2 %), Educación (1,0 % → 9,8 %) y Muebles (4,8 % → 9,8 %)</a:t>
            </a:r>
            <a:r>
              <a:rPr lang="es-MX" sz="1600" dirty="0"/>
              <a:t>. En general, mientras aumentan los ingresos, </a:t>
            </a:r>
            <a:r>
              <a:rPr lang="es-MX" sz="1600" b="1" dirty="0"/>
              <a:t>disminuye la parte del gasto destinada a necesidades básicas y aumenta la destinada a otros bienes y servicios</a:t>
            </a:r>
            <a:r>
              <a:rPr lang="es-MX" sz="1600" dirty="0"/>
              <a:t>, lo que se relaciona con la Ley de Engel.</a:t>
            </a:r>
          </a:p>
        </p:txBody>
      </p:sp>
      <p:graphicFrame>
        <p:nvGraphicFramePr>
          <p:cNvPr id="12" name="Gráfico 11">
            <a:extLst>
              <a:ext uri="{FF2B5EF4-FFF2-40B4-BE49-F238E27FC236}">
                <a16:creationId xmlns:a16="http://schemas.microsoft.com/office/drawing/2014/main" id="{E084C421-9269-4DDA-8530-C2EE57ABCF43}"/>
              </a:ext>
            </a:extLst>
          </p:cNvPr>
          <p:cNvGraphicFramePr>
            <a:graphicFrameLocks/>
          </p:cNvGraphicFramePr>
          <p:nvPr>
            <p:extLst>
              <p:ext uri="{D42A27DB-BD31-4B8C-83A1-F6EECF244321}">
                <p14:modId xmlns:p14="http://schemas.microsoft.com/office/powerpoint/2010/main" val="3403102437"/>
              </p:ext>
            </p:extLst>
          </p:nvPr>
        </p:nvGraphicFramePr>
        <p:xfrm>
          <a:off x="161925" y="2247832"/>
          <a:ext cx="5880654" cy="353400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Gráfico 13">
            <a:extLst>
              <a:ext uri="{FF2B5EF4-FFF2-40B4-BE49-F238E27FC236}">
                <a16:creationId xmlns:a16="http://schemas.microsoft.com/office/drawing/2014/main" id="{E58D2AEF-1053-4FBC-A807-97F2EBCF96AC}"/>
              </a:ext>
            </a:extLst>
          </p:cNvPr>
          <p:cNvGraphicFramePr>
            <a:graphicFrameLocks/>
          </p:cNvGraphicFramePr>
          <p:nvPr>
            <p:extLst>
              <p:ext uri="{D42A27DB-BD31-4B8C-83A1-F6EECF244321}">
                <p14:modId xmlns:p14="http://schemas.microsoft.com/office/powerpoint/2010/main" val="2263082180"/>
              </p:ext>
            </p:extLst>
          </p:nvPr>
        </p:nvGraphicFramePr>
        <p:xfrm>
          <a:off x="5815012" y="2374897"/>
          <a:ext cx="6392425" cy="339586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5189359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MX" sz="3200" dirty="0">
                <a:latin typeface="Century Gothic" panose="020B0502020202020204" pitchFamily="34" charset="0"/>
              </a:rPr>
              <a:t>Información faltante para un análisis más completo:</a:t>
            </a:r>
            <a:endParaRPr lang="es-EC" sz="3200" dirty="0">
              <a:latin typeface="Century Gothic" panose="020B0502020202020204" pitchFamily="34" charset="0"/>
            </a:endParaRPr>
          </a:p>
        </p:txBody>
      </p:sp>
      <p:sp>
        <p:nvSpPr>
          <p:cNvPr id="3" name="Marcador de contenido 2"/>
          <p:cNvSpPr>
            <a:spLocks noGrp="1"/>
          </p:cNvSpPr>
          <p:nvPr>
            <p:ph idx="1"/>
          </p:nvPr>
        </p:nvSpPr>
        <p:spPr/>
        <p:txBody>
          <a:bodyPr>
            <a:normAutofit fontScale="77500" lnSpcReduction="20000"/>
          </a:bodyPr>
          <a:lstStyle/>
          <a:p>
            <a:pPr lvl="0" algn="just"/>
            <a:r>
              <a:rPr lang="es-EC" sz="2000" dirty="0">
                <a:latin typeface="Century Gothic" panose="020B0502020202020204" pitchFamily="34" charset="0"/>
              </a:rPr>
              <a:t>¿Un análisis inferencial le permitiría determinar si los resultados obtenidos pueden extenderse a la población de estudio? </a:t>
            </a:r>
          </a:p>
          <a:p>
            <a:pPr lvl="0" algn="just"/>
            <a:r>
              <a:rPr lang="es-MX" sz="1400" dirty="0"/>
              <a:t>El análisis realizado hasta ahora es descriptivo, ya que se ha utilizado la información de la muestra para calcular medias, cuartiles, deciles y elaborar tablas y gráficos. Sin embargo, estos resultados no permiten saber con certeza si las diferencias encontradas, como el mayor ingreso en la Sierra o la mayor percepción de ingresos en los hombres, se presentan realmente en toda la población o si pueden deberse al azar de la muestra. Por eso, un análisis inferencial sería útil, ya que mediante intervalos de confianza y pruebas de hipótesis se podrían generalizar los resultados a la población, considerando un nivel de confianza y un margen de error.</a:t>
            </a:r>
            <a:endParaRPr lang="es-MX" sz="2000" dirty="0">
              <a:latin typeface="Century Gothic" panose="020B0502020202020204" pitchFamily="34" charset="0"/>
            </a:endParaRPr>
          </a:p>
          <a:p>
            <a:pPr lvl="0" algn="just"/>
            <a:endParaRPr lang="es-EC" sz="2000" dirty="0">
              <a:latin typeface="Century Gothic" panose="020B0502020202020204" pitchFamily="34" charset="0"/>
            </a:endParaRPr>
          </a:p>
          <a:p>
            <a:pPr lvl="0" algn="just"/>
            <a:r>
              <a:rPr lang="es-EC" sz="2000" dirty="0">
                <a:latin typeface="Century Gothic" panose="020B0502020202020204" pitchFamily="34" charset="0"/>
              </a:rPr>
              <a:t>¿Sería necesario formular hipótesis estadísticas para realizar un análisis inferencial? </a:t>
            </a:r>
          </a:p>
          <a:p>
            <a:endParaRPr lang="es-MX" sz="1400" dirty="0"/>
          </a:p>
          <a:p>
            <a:r>
              <a:rPr lang="es-MX" sz="1400" dirty="0"/>
              <a:t>Sí, es necesario plantear primero las hipótesis antes de realizar una prueba estadística. Se debe establecer una </a:t>
            </a:r>
            <a:r>
              <a:rPr lang="es-MX" sz="1400" b="1" dirty="0"/>
              <a:t>hipótesis nula (H₀)</a:t>
            </a:r>
            <a:r>
              <a:rPr lang="es-MX" sz="1400" dirty="0"/>
              <a:t> y una </a:t>
            </a:r>
            <a:r>
              <a:rPr lang="es-MX" sz="1400" b="1" dirty="0"/>
              <a:t>hipótesis alternativa (H₁)</a:t>
            </a:r>
            <a:r>
              <a:rPr lang="es-MX" sz="1400" dirty="0"/>
              <a:t>. La H₀ representa que no existe una diferencia o relación significativa, mientras que la H₁ plantea que sí existe. A partir de estas hipótesis se puede determinar, mediante la prueba correspondiente, si los resultados encontrados son significativos o pueden deberse al azar.</a:t>
            </a:r>
          </a:p>
          <a:p>
            <a:pPr marL="0" lvl="0" indent="0" algn="just">
              <a:buNone/>
            </a:pPr>
            <a:r>
              <a:rPr lang="es-EC" sz="2000" dirty="0">
                <a:latin typeface="Century Gothic" panose="020B0502020202020204" pitchFamily="34" charset="0"/>
              </a:rPr>
              <a:t>    ¿Qué hipótesis nula y qué hipótesis alternativa formularía para responder la pregunta de estudio? </a:t>
            </a:r>
          </a:p>
          <a:p>
            <a:r>
              <a:rPr lang="es-MX" sz="1400" b="1" dirty="0"/>
              <a:t>Comparación del ingreso según el sexo del jefe de hogar</a:t>
            </a:r>
          </a:p>
          <a:p>
            <a:pPr>
              <a:buFont typeface="Arial" panose="020B0604020202020204" pitchFamily="34" charset="0"/>
              <a:buChar char="•"/>
            </a:pPr>
            <a:r>
              <a:rPr lang="es-MX" sz="1400" b="1" dirty="0"/>
              <a:t>H₀:</a:t>
            </a:r>
            <a:r>
              <a:rPr lang="es-MX" sz="1400" dirty="0"/>
              <a:t> No existe una diferencia significativa entre el ingreso promedio de los hogares con jefatura masculina y femenina en la Sierra. </a:t>
            </a:r>
          </a:p>
          <a:p>
            <a:pPr>
              <a:buFont typeface="Arial" panose="020B0604020202020204" pitchFamily="34" charset="0"/>
              <a:buChar char="•"/>
            </a:pPr>
            <a:r>
              <a:rPr lang="es-MX" sz="1400" b="1" dirty="0"/>
              <a:t>H₁:</a:t>
            </a:r>
            <a:r>
              <a:rPr lang="es-MX" sz="1400" dirty="0"/>
              <a:t> Sí existe una diferencia significativa entre el ingreso promedio de los hogares con jefatura masculina y femenina en la Sierra. </a:t>
            </a:r>
          </a:p>
          <a:p>
            <a:r>
              <a:rPr lang="es-MX" sz="1400" b="1" dirty="0"/>
              <a:t>Relación entre sexo y percepción de ingresos</a:t>
            </a:r>
          </a:p>
          <a:p>
            <a:pPr>
              <a:buFont typeface="Arial" panose="020B0604020202020204" pitchFamily="34" charset="0"/>
              <a:buChar char="•"/>
            </a:pPr>
            <a:r>
              <a:rPr lang="es-MX" sz="1400" b="1" dirty="0"/>
              <a:t>H₀:</a:t>
            </a:r>
            <a:r>
              <a:rPr lang="es-MX" sz="1400" dirty="0"/>
              <a:t> El sexo de la persona y el hecho de recibir ingresos </a:t>
            </a:r>
            <a:r>
              <a:rPr lang="es-MX" sz="1400" b="1" dirty="0"/>
              <a:t>no tienen relación</a:t>
            </a:r>
            <a:r>
              <a:rPr lang="es-MX" sz="1400" dirty="0"/>
              <a:t>. </a:t>
            </a:r>
          </a:p>
          <a:p>
            <a:pPr>
              <a:buFont typeface="Arial" panose="020B0604020202020204" pitchFamily="34" charset="0"/>
              <a:buChar char="•"/>
            </a:pPr>
            <a:r>
              <a:rPr lang="es-MX" sz="1400" b="1" dirty="0"/>
              <a:t>H₁:</a:t>
            </a:r>
            <a:r>
              <a:rPr lang="es-MX" sz="1400" dirty="0"/>
              <a:t> El sexo de la persona y el hecho de recibir ingresos </a:t>
            </a:r>
            <a:r>
              <a:rPr lang="es-MX" sz="1400" b="1" dirty="0"/>
              <a:t>sí tienen relación</a:t>
            </a:r>
            <a:r>
              <a:rPr lang="es-MX" sz="1400" dirty="0"/>
              <a:t>.</a:t>
            </a:r>
          </a:p>
          <a:p>
            <a:pPr lvl="0" algn="just"/>
            <a:endParaRPr lang="es-EC" sz="2000" dirty="0">
              <a:latin typeface="Century Gothic" panose="020B0502020202020204" pitchFamily="34" charset="0"/>
            </a:endParaRPr>
          </a:p>
        </p:txBody>
      </p:sp>
    </p:spTree>
    <p:extLst>
      <p:ext uri="{BB962C8B-B14F-4D97-AF65-F5344CB8AC3E}">
        <p14:creationId xmlns:p14="http://schemas.microsoft.com/office/powerpoint/2010/main" val="30978377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MX" sz="4000" dirty="0">
                <a:latin typeface="Century Gothic" panose="020B0502020202020204" pitchFamily="34" charset="0"/>
              </a:rPr>
              <a:t>Conclusiones: </a:t>
            </a:r>
            <a:endParaRPr lang="es-EC" sz="4000" dirty="0">
              <a:latin typeface="Century Gothic" panose="020B0502020202020204" pitchFamily="34" charset="0"/>
            </a:endParaRPr>
          </a:p>
        </p:txBody>
      </p:sp>
      <p:sp>
        <p:nvSpPr>
          <p:cNvPr id="3" name="Marcador de contenido 2"/>
          <p:cNvSpPr>
            <a:spLocks noGrp="1"/>
          </p:cNvSpPr>
          <p:nvPr>
            <p:ph idx="1"/>
          </p:nvPr>
        </p:nvSpPr>
        <p:spPr/>
        <p:txBody>
          <a:bodyPr>
            <a:normAutofit/>
          </a:bodyPr>
          <a:lstStyle/>
          <a:p>
            <a:pPr>
              <a:buFont typeface="+mj-lt"/>
              <a:buAutoNum type="arabicPeriod"/>
            </a:pPr>
            <a:r>
              <a:rPr lang="es-MX" sz="1600" b="1" dirty="0"/>
              <a:t>El ingreso corriente per cápita en la Sierra ($470,80) es mayor que el promedio nacional ($411,36)</a:t>
            </a:r>
            <a:r>
              <a:rPr lang="es-MX" sz="1600" dirty="0"/>
              <a:t>, con una diferencia del 14,5 %. Sin embargo, en la Sierra también hay más diferencia entre los ingresos de los hogares, es decir, no todos tienen niveles de ingreso similares. </a:t>
            </a:r>
          </a:p>
          <a:p>
            <a:pPr>
              <a:buFont typeface="+mj-lt"/>
              <a:buAutoNum type="arabicPeriod"/>
            </a:pPr>
            <a:r>
              <a:rPr lang="es-MX" sz="1600" b="1" dirty="0"/>
              <a:t>Se puede observar una diferencia en los ingresos según el sexo del jefe de hogar</a:t>
            </a:r>
            <a:r>
              <a:rPr lang="es-MX" sz="1600" dirty="0"/>
              <a:t>. Los hogares dirigidos por hombres tienen un ingreso promedio de </a:t>
            </a:r>
            <a:r>
              <a:rPr lang="es-MX" sz="1600" b="1" dirty="0"/>
              <a:t>$490,13</a:t>
            </a:r>
            <a:r>
              <a:rPr lang="es-MX" sz="1600" dirty="0"/>
              <a:t>, mientras que los dirigidos por mujeres tienen </a:t>
            </a:r>
            <a:r>
              <a:rPr lang="es-MX" sz="1600" b="1" dirty="0"/>
              <a:t>$438,24</a:t>
            </a:r>
            <a:r>
              <a:rPr lang="es-MX" sz="1600" dirty="0"/>
              <a:t>, lo que representa un 11,8 % más. Esta diferencia también se mantiene al comparar la mediana y los cuartiles. </a:t>
            </a:r>
          </a:p>
          <a:p>
            <a:pPr>
              <a:buFont typeface="+mj-lt"/>
              <a:buAutoNum type="arabicPeriod"/>
            </a:pPr>
            <a:r>
              <a:rPr lang="es-MX" sz="1600" b="1" dirty="0"/>
              <a:t>El gasto de consumo aumenta a medida que aumentan los ingresos</a:t>
            </a:r>
            <a:r>
              <a:rPr lang="es-MX" sz="1600" dirty="0"/>
              <a:t>. Los hogares del </a:t>
            </a:r>
            <a:r>
              <a:rPr lang="es-MX" sz="1600" b="1" dirty="0"/>
              <a:t>Decil 10</a:t>
            </a:r>
            <a:r>
              <a:rPr lang="es-MX" sz="1600" dirty="0"/>
              <a:t> gastan en promedio </a:t>
            </a:r>
            <a:r>
              <a:rPr lang="es-MX" sz="1600" b="1" dirty="0"/>
              <a:t>$1.522,10</a:t>
            </a:r>
            <a:r>
              <a:rPr lang="es-MX" sz="1600" dirty="0"/>
              <a:t>, mientras que los del </a:t>
            </a:r>
            <a:r>
              <a:rPr lang="es-MX" sz="1600" b="1" dirty="0"/>
              <a:t>Decil 1</a:t>
            </a:r>
            <a:r>
              <a:rPr lang="es-MX" sz="1600" dirty="0"/>
              <a:t> gastan </a:t>
            </a:r>
            <a:r>
              <a:rPr lang="es-MX" sz="1600" b="1" dirty="0"/>
              <a:t>$305,10</a:t>
            </a:r>
            <a:r>
              <a:rPr lang="es-MX" sz="1600" dirty="0"/>
              <a:t>, es decir, casi cinco veces menos. Esto muestra que los hogares con mayores ingresos tienen una mayor capacidad para gastar. </a:t>
            </a:r>
          </a:p>
          <a:p>
            <a:pPr>
              <a:buFont typeface="+mj-lt"/>
              <a:buAutoNum type="arabicPeriod"/>
            </a:pPr>
            <a:r>
              <a:rPr lang="es-MX" sz="1600" b="1" dirty="0"/>
              <a:t>La forma en que se distribuye el gasto también cambia según el nivel de ingresos</a:t>
            </a:r>
            <a:r>
              <a:rPr lang="es-MX" sz="1600" dirty="0"/>
              <a:t>. En los hogares con menores ingresos, una mayor parte del dinero se destina a necesidades básicas como alimentos y vivienda. En cambio, los hogares con mayores ingresos pueden gastar más en educación, transporte, seguros, muebles y recreación. </a:t>
            </a:r>
          </a:p>
          <a:p>
            <a:pPr>
              <a:buFont typeface="+mj-lt"/>
              <a:buAutoNum type="arabicPeriod"/>
            </a:pPr>
            <a:r>
              <a:rPr lang="es-MX" sz="1600" b="1" dirty="0"/>
              <a:t>También existe una diferencia entre hombres y mujeres en la obtención de ingresos</a:t>
            </a:r>
            <a:r>
              <a:rPr lang="es-MX" sz="1600" dirty="0"/>
              <a:t>. El </a:t>
            </a:r>
            <a:r>
              <a:rPr lang="es-MX" sz="1600" b="1" dirty="0"/>
              <a:t>60,9 % de los hombres</a:t>
            </a:r>
            <a:r>
              <a:rPr lang="es-MX" sz="1600" dirty="0"/>
              <a:t> son perceptores de ingresos, mientras que en las mujeres el porcentaje es de </a:t>
            </a:r>
            <a:r>
              <a:rPr lang="es-MX" sz="1600" b="1" dirty="0"/>
              <a:t>54,8 %</a:t>
            </a:r>
            <a:r>
              <a:rPr lang="es-MX" sz="1600" dirty="0"/>
              <a:t>. Esto muestra que los hombres tienen una mayor participación en la generación de ingresos dentro del hogar. Sin embargo, estos resultados son </a:t>
            </a:r>
            <a:r>
              <a:rPr lang="es-MX" sz="1600" b="1" dirty="0"/>
              <a:t>descriptivos</a:t>
            </a:r>
            <a:r>
              <a:rPr lang="es-MX" sz="1600" dirty="0"/>
              <a:t>, por lo que sería necesario realizar pruebas estadísticas para comprobar si estas diferencias realmente son significativas en toda la población de la Sierra. </a:t>
            </a:r>
          </a:p>
          <a:p>
            <a:pPr marL="0" indent="0">
              <a:buNone/>
            </a:pPr>
            <a:endParaRPr lang="es-EC" sz="2400" dirty="0">
              <a:latin typeface="Century Gothic" panose="020B0502020202020204" pitchFamily="34" charset="0"/>
            </a:endParaRPr>
          </a:p>
        </p:txBody>
      </p:sp>
      <p:sp>
        <p:nvSpPr>
          <p:cNvPr id="4" name="Elipse 3"/>
          <p:cNvSpPr/>
          <p:nvPr/>
        </p:nvSpPr>
        <p:spPr>
          <a:xfrm>
            <a:off x="185530" y="212035"/>
            <a:ext cx="795131" cy="728869"/>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MX" dirty="0"/>
              <a:t>5</a:t>
            </a:r>
            <a:endParaRPr lang="es-EC" dirty="0"/>
          </a:p>
        </p:txBody>
      </p:sp>
    </p:spTree>
    <p:extLst>
      <p:ext uri="{BB962C8B-B14F-4D97-AF65-F5344CB8AC3E}">
        <p14:creationId xmlns:p14="http://schemas.microsoft.com/office/powerpoint/2010/main" val="5621754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7F0B623F-2199-A961-1C07-52B8A58BAA42}"/>
              </a:ext>
            </a:extLst>
          </p:cNvPr>
          <p:cNvSpPr>
            <a:spLocks noGrp="1"/>
          </p:cNvSpPr>
          <p:nvPr>
            <p:ph type="title"/>
          </p:nvPr>
        </p:nvSpPr>
        <p:spPr>
          <a:xfrm>
            <a:off x="969734" y="384313"/>
            <a:ext cx="10226029" cy="783250"/>
          </a:xfrm>
        </p:spPr>
        <p:txBody>
          <a:bodyPr>
            <a:noAutofit/>
          </a:bodyPr>
          <a:lstStyle/>
          <a:p>
            <a:pPr algn="ctr"/>
            <a:r>
              <a:rPr lang="es-ES" sz="2400" b="1" dirty="0">
                <a:solidFill>
                  <a:srgbClr val="002060"/>
                </a:solidFill>
                <a:latin typeface="Century Gothic" panose="020B0502020202020204" pitchFamily="34" charset="0"/>
              </a:rPr>
              <a:t>Alimentos que forman parte de la vida cotidiana de los hogares</a:t>
            </a:r>
            <a:br>
              <a:rPr lang="es-ES" sz="2400" b="1" dirty="0">
                <a:solidFill>
                  <a:srgbClr val="002060"/>
                </a:solidFill>
                <a:latin typeface="Century Gothic" panose="020B0502020202020204" pitchFamily="34" charset="0"/>
              </a:rPr>
            </a:br>
            <a:r>
              <a:rPr lang="es-ES" sz="1600" dirty="0">
                <a:solidFill>
                  <a:srgbClr val="002060"/>
                </a:solidFill>
                <a:latin typeface="Century Gothic" panose="020B0502020202020204" pitchFamily="34" charset="0"/>
              </a:rPr>
              <a:t>Distribución del Gasto Corriente de Consumo de los 10 principales productos alimenticios de consumo en el Ecuador, por </a:t>
            </a:r>
            <a:r>
              <a:rPr lang="es-ES" sz="1600" dirty="0" err="1">
                <a:solidFill>
                  <a:srgbClr val="002060"/>
                </a:solidFill>
                <a:latin typeface="Century Gothic" panose="020B0502020202020204" pitchFamily="34" charset="0"/>
              </a:rPr>
              <a:t>deciles</a:t>
            </a:r>
            <a:r>
              <a:rPr lang="es-ES" sz="1600" dirty="0">
                <a:solidFill>
                  <a:srgbClr val="002060"/>
                </a:solidFill>
                <a:latin typeface="Century Gothic" panose="020B0502020202020204" pitchFamily="34" charset="0"/>
              </a:rPr>
              <a:t> de Ingreso Corriente per cápita</a:t>
            </a:r>
            <a:endParaRPr lang="es-EC" sz="1600" dirty="0">
              <a:solidFill>
                <a:srgbClr val="002060"/>
              </a:solidFill>
              <a:latin typeface="Century Gothic" panose="020B0502020202020204" pitchFamily="34" charset="0"/>
            </a:endParaRPr>
          </a:p>
        </p:txBody>
      </p:sp>
      <p:sp>
        <p:nvSpPr>
          <p:cNvPr id="5" name="CuadroTexto 4"/>
          <p:cNvSpPr txBox="1"/>
          <p:nvPr/>
        </p:nvSpPr>
        <p:spPr>
          <a:xfrm>
            <a:off x="3639125" y="6290317"/>
            <a:ext cx="3922643" cy="461665"/>
          </a:xfrm>
          <a:prstGeom prst="rect">
            <a:avLst/>
          </a:prstGeom>
          <a:noFill/>
        </p:spPr>
        <p:txBody>
          <a:bodyPr wrap="square" rtlCol="0">
            <a:spAutoFit/>
          </a:bodyPr>
          <a:lstStyle/>
          <a:p>
            <a:r>
              <a:rPr lang="es-MX" sz="1200" b="1" dirty="0">
                <a:latin typeface="Century Gothic" panose="020B0502020202020204" pitchFamily="34" charset="0"/>
              </a:rPr>
              <a:t>Resultados a nivel nacional, pero en su proyecto con el territorio asignado</a:t>
            </a:r>
            <a:endParaRPr lang="es-EC" sz="1200" b="1" dirty="0">
              <a:latin typeface="Century Gothic" panose="020B0502020202020204" pitchFamily="34" charset="0"/>
            </a:endParaRPr>
          </a:p>
        </p:txBody>
      </p:sp>
      <p:sp>
        <p:nvSpPr>
          <p:cNvPr id="8" name="Título 1"/>
          <p:cNvSpPr txBox="1">
            <a:spLocks/>
          </p:cNvSpPr>
          <p:nvPr/>
        </p:nvSpPr>
        <p:spPr>
          <a:xfrm>
            <a:off x="10432776" y="6266909"/>
            <a:ext cx="1759224" cy="66260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000" b="1">
                <a:solidFill>
                  <a:srgbClr val="FF0000"/>
                </a:solidFill>
                <a:latin typeface="Century Gothic" panose="020B0502020202020204" pitchFamily="34" charset="0"/>
              </a:rPr>
              <a:t>Gráfico opcional</a:t>
            </a:r>
            <a:endParaRPr lang="es-EC" sz="2000" b="1" dirty="0">
              <a:solidFill>
                <a:srgbClr val="FF0000"/>
              </a:solidFill>
              <a:latin typeface="Century Gothic" panose="020B0502020202020204" pitchFamily="34" charset="0"/>
            </a:endParaRPr>
          </a:p>
        </p:txBody>
      </p:sp>
      <p:graphicFrame>
        <p:nvGraphicFramePr>
          <p:cNvPr id="9" name="Gráfico 8">
            <a:extLst>
              <a:ext uri="{FF2B5EF4-FFF2-40B4-BE49-F238E27FC236}">
                <a16:creationId xmlns:a16="http://schemas.microsoft.com/office/drawing/2014/main" id="{8895A994-5C5B-0140-C25E-3266F7FB6DBB}"/>
              </a:ext>
            </a:extLst>
          </p:cNvPr>
          <p:cNvGraphicFramePr>
            <a:graphicFrameLocks/>
          </p:cNvGraphicFramePr>
          <p:nvPr>
            <p:extLst>
              <p:ext uri="{D42A27DB-BD31-4B8C-83A1-F6EECF244321}">
                <p14:modId xmlns:p14="http://schemas.microsoft.com/office/powerpoint/2010/main" val="603926535"/>
              </p:ext>
            </p:extLst>
          </p:nvPr>
        </p:nvGraphicFramePr>
        <p:xfrm>
          <a:off x="52111" y="1336716"/>
          <a:ext cx="6030637" cy="51816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Gráfico 9">
            <a:extLst>
              <a:ext uri="{FF2B5EF4-FFF2-40B4-BE49-F238E27FC236}">
                <a16:creationId xmlns:a16="http://schemas.microsoft.com/office/drawing/2014/main" id="{A8E1C2EC-95D6-0D1F-B8CA-A762E5E71116}"/>
              </a:ext>
            </a:extLst>
          </p:cNvPr>
          <p:cNvGraphicFramePr>
            <a:graphicFrameLocks/>
          </p:cNvGraphicFramePr>
          <p:nvPr>
            <p:extLst>
              <p:ext uri="{D42A27DB-BD31-4B8C-83A1-F6EECF244321}">
                <p14:modId xmlns:p14="http://schemas.microsoft.com/office/powerpoint/2010/main" val="3804106547"/>
              </p:ext>
            </p:extLst>
          </p:nvPr>
        </p:nvGraphicFramePr>
        <p:xfrm>
          <a:off x="5916706" y="1336715"/>
          <a:ext cx="6515996" cy="518159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29583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7F0B623F-2199-A961-1C07-52B8A58BAA42}"/>
              </a:ext>
            </a:extLst>
          </p:cNvPr>
          <p:cNvSpPr>
            <a:spLocks noGrp="1"/>
          </p:cNvSpPr>
          <p:nvPr>
            <p:ph type="title"/>
          </p:nvPr>
        </p:nvSpPr>
        <p:spPr>
          <a:xfrm>
            <a:off x="994421" y="550250"/>
            <a:ext cx="10226029" cy="783250"/>
          </a:xfrm>
        </p:spPr>
        <p:txBody>
          <a:bodyPr>
            <a:noAutofit/>
          </a:bodyPr>
          <a:lstStyle/>
          <a:p>
            <a:pPr algn="ctr"/>
            <a:r>
              <a:rPr lang="es-ES" sz="2400" b="1" dirty="0">
                <a:solidFill>
                  <a:srgbClr val="002060"/>
                </a:solidFill>
                <a:latin typeface="Century Gothic" panose="020B0502020202020204" pitchFamily="34" charset="0"/>
              </a:rPr>
              <a:t>Alimentos que forman parte de la vida cotidiana de los hogares</a:t>
            </a:r>
            <a:br>
              <a:rPr lang="es-ES" sz="2400" b="1" dirty="0">
                <a:solidFill>
                  <a:srgbClr val="002060"/>
                </a:solidFill>
                <a:latin typeface="Century Gothic" panose="020B0502020202020204" pitchFamily="34" charset="0"/>
              </a:rPr>
            </a:br>
            <a:r>
              <a:rPr lang="es-ES" sz="1600" dirty="0">
                <a:solidFill>
                  <a:srgbClr val="002060"/>
                </a:solidFill>
                <a:latin typeface="Century Gothic" panose="020B0502020202020204" pitchFamily="34" charset="0"/>
              </a:rPr>
              <a:t>Distribución del Gasto Corriente de Consumo de los 10 principales productos alimenticios de consumo en el Ecuador, por </a:t>
            </a:r>
            <a:r>
              <a:rPr lang="es-ES" sz="1600" dirty="0" err="1">
                <a:solidFill>
                  <a:srgbClr val="002060"/>
                </a:solidFill>
                <a:latin typeface="Century Gothic" panose="020B0502020202020204" pitchFamily="34" charset="0"/>
              </a:rPr>
              <a:t>deciles</a:t>
            </a:r>
            <a:r>
              <a:rPr lang="es-ES" sz="1600" dirty="0">
                <a:solidFill>
                  <a:srgbClr val="002060"/>
                </a:solidFill>
                <a:latin typeface="Century Gothic" panose="020B0502020202020204" pitchFamily="34" charset="0"/>
              </a:rPr>
              <a:t> de Ingreso Corriente per cápita</a:t>
            </a:r>
            <a:endParaRPr lang="es-EC" sz="1600" dirty="0">
              <a:solidFill>
                <a:srgbClr val="002060"/>
              </a:solidFill>
              <a:latin typeface="Century Gothic" panose="020B0502020202020204" pitchFamily="34" charset="0"/>
            </a:endParaRPr>
          </a:p>
        </p:txBody>
      </p:sp>
      <p:sp>
        <p:nvSpPr>
          <p:cNvPr id="6" name="CuadroTexto 5"/>
          <p:cNvSpPr txBox="1"/>
          <p:nvPr/>
        </p:nvSpPr>
        <p:spPr>
          <a:xfrm>
            <a:off x="3639125" y="6290317"/>
            <a:ext cx="3922643" cy="461665"/>
          </a:xfrm>
          <a:prstGeom prst="rect">
            <a:avLst/>
          </a:prstGeom>
          <a:noFill/>
        </p:spPr>
        <p:txBody>
          <a:bodyPr wrap="square" rtlCol="0">
            <a:spAutoFit/>
          </a:bodyPr>
          <a:lstStyle/>
          <a:p>
            <a:r>
              <a:rPr lang="es-MX" sz="1200" b="1" dirty="0">
                <a:latin typeface="Century Gothic" panose="020B0502020202020204" pitchFamily="34" charset="0"/>
              </a:rPr>
              <a:t>Resultados a nivel nacional, pero en su proyecto con el territorio asignado</a:t>
            </a:r>
            <a:endParaRPr lang="es-EC" sz="1200" b="1" dirty="0">
              <a:latin typeface="Century Gothic" panose="020B0502020202020204" pitchFamily="34" charset="0"/>
            </a:endParaRPr>
          </a:p>
        </p:txBody>
      </p:sp>
      <p:sp>
        <p:nvSpPr>
          <p:cNvPr id="7" name="Título 1"/>
          <p:cNvSpPr txBox="1">
            <a:spLocks/>
          </p:cNvSpPr>
          <p:nvPr/>
        </p:nvSpPr>
        <p:spPr>
          <a:xfrm>
            <a:off x="10340838" y="6137917"/>
            <a:ext cx="1759224" cy="66260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000" b="1">
                <a:solidFill>
                  <a:srgbClr val="FF0000"/>
                </a:solidFill>
                <a:latin typeface="Century Gothic" panose="020B0502020202020204" pitchFamily="34" charset="0"/>
              </a:rPr>
              <a:t>Gráfico opcional</a:t>
            </a:r>
            <a:endParaRPr lang="es-EC" sz="2000" b="1" dirty="0">
              <a:solidFill>
                <a:srgbClr val="FF0000"/>
              </a:solidFill>
              <a:latin typeface="Century Gothic" panose="020B0502020202020204" pitchFamily="34" charset="0"/>
            </a:endParaRPr>
          </a:p>
        </p:txBody>
      </p:sp>
      <p:graphicFrame>
        <p:nvGraphicFramePr>
          <p:cNvPr id="8" name="Gráfico 7">
            <a:extLst>
              <a:ext uri="{FF2B5EF4-FFF2-40B4-BE49-F238E27FC236}">
                <a16:creationId xmlns:a16="http://schemas.microsoft.com/office/drawing/2014/main" id="{8E08259A-25D4-B665-F2DE-D0D3D05A52D3}"/>
              </a:ext>
            </a:extLst>
          </p:cNvPr>
          <p:cNvGraphicFramePr>
            <a:graphicFrameLocks/>
          </p:cNvGraphicFramePr>
          <p:nvPr>
            <p:extLst>
              <p:ext uri="{D42A27DB-BD31-4B8C-83A1-F6EECF244321}">
                <p14:modId xmlns:p14="http://schemas.microsoft.com/office/powerpoint/2010/main" val="736909293"/>
              </p:ext>
            </p:extLst>
          </p:nvPr>
        </p:nvGraphicFramePr>
        <p:xfrm>
          <a:off x="94130" y="1333500"/>
          <a:ext cx="12005932" cy="509419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203998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7F0B623F-2199-A961-1C07-52B8A58BAA42}"/>
              </a:ext>
            </a:extLst>
          </p:cNvPr>
          <p:cNvSpPr>
            <a:spLocks noGrp="1"/>
          </p:cNvSpPr>
          <p:nvPr>
            <p:ph type="title"/>
          </p:nvPr>
        </p:nvSpPr>
        <p:spPr>
          <a:xfrm>
            <a:off x="994421" y="550250"/>
            <a:ext cx="10226029" cy="783250"/>
          </a:xfrm>
        </p:spPr>
        <p:txBody>
          <a:bodyPr>
            <a:noAutofit/>
          </a:bodyPr>
          <a:lstStyle/>
          <a:p>
            <a:pPr algn="ctr"/>
            <a:r>
              <a:rPr lang="es-ES" sz="2400" b="1" dirty="0">
                <a:solidFill>
                  <a:srgbClr val="002060"/>
                </a:solidFill>
                <a:latin typeface="Century Gothic" panose="020B0502020202020204" pitchFamily="34" charset="0"/>
              </a:rPr>
              <a:t>Alimentos que forman parte de la vida cotidiana de los hogares</a:t>
            </a:r>
            <a:br>
              <a:rPr lang="es-ES" sz="2400" b="1" dirty="0">
                <a:solidFill>
                  <a:srgbClr val="002060"/>
                </a:solidFill>
                <a:latin typeface="Century Gothic" panose="020B0502020202020204" pitchFamily="34" charset="0"/>
              </a:rPr>
            </a:br>
            <a:r>
              <a:rPr lang="es-ES" sz="1600" dirty="0">
                <a:solidFill>
                  <a:srgbClr val="002060"/>
                </a:solidFill>
                <a:latin typeface="Century Gothic" panose="020B0502020202020204" pitchFamily="34" charset="0"/>
              </a:rPr>
              <a:t>Distribución del Gasto Corriente de Consumo de los 10 principales productos alimenticios de consumo en el Ecuador, por </a:t>
            </a:r>
            <a:r>
              <a:rPr lang="es-ES" sz="1600" dirty="0" err="1">
                <a:solidFill>
                  <a:srgbClr val="002060"/>
                </a:solidFill>
                <a:latin typeface="Century Gothic" panose="020B0502020202020204" pitchFamily="34" charset="0"/>
              </a:rPr>
              <a:t>deciles</a:t>
            </a:r>
            <a:r>
              <a:rPr lang="es-ES" sz="1600" dirty="0">
                <a:solidFill>
                  <a:srgbClr val="002060"/>
                </a:solidFill>
                <a:latin typeface="Century Gothic" panose="020B0502020202020204" pitchFamily="34" charset="0"/>
              </a:rPr>
              <a:t> de Ingreso Corriente per cápita</a:t>
            </a:r>
            <a:endParaRPr lang="es-EC" sz="1600" dirty="0">
              <a:solidFill>
                <a:srgbClr val="002060"/>
              </a:solidFill>
              <a:latin typeface="Century Gothic" panose="020B0502020202020204" pitchFamily="34" charset="0"/>
            </a:endParaRPr>
          </a:p>
        </p:txBody>
      </p:sp>
      <p:sp>
        <p:nvSpPr>
          <p:cNvPr id="7" name="CuadroTexto 6"/>
          <p:cNvSpPr txBox="1"/>
          <p:nvPr/>
        </p:nvSpPr>
        <p:spPr>
          <a:xfrm>
            <a:off x="8462916" y="6205835"/>
            <a:ext cx="3922643" cy="461665"/>
          </a:xfrm>
          <a:prstGeom prst="rect">
            <a:avLst/>
          </a:prstGeom>
          <a:noFill/>
        </p:spPr>
        <p:txBody>
          <a:bodyPr wrap="square" rtlCol="0">
            <a:spAutoFit/>
          </a:bodyPr>
          <a:lstStyle/>
          <a:p>
            <a:r>
              <a:rPr lang="es-MX" sz="1200" b="1" dirty="0">
                <a:latin typeface="Century Gothic" panose="020B0502020202020204" pitchFamily="34" charset="0"/>
              </a:rPr>
              <a:t>Resultados a nivel nacional, pero en su proyecto con el territorio asignado</a:t>
            </a:r>
            <a:endParaRPr lang="es-EC" sz="1200" b="1" dirty="0">
              <a:latin typeface="Century Gothic" panose="020B0502020202020204" pitchFamily="34" charset="0"/>
            </a:endParaRPr>
          </a:p>
        </p:txBody>
      </p:sp>
      <p:sp>
        <p:nvSpPr>
          <p:cNvPr id="6" name="Título 1"/>
          <p:cNvSpPr txBox="1">
            <a:spLocks/>
          </p:cNvSpPr>
          <p:nvPr/>
        </p:nvSpPr>
        <p:spPr>
          <a:xfrm>
            <a:off x="10626335" y="5446967"/>
            <a:ext cx="1759224" cy="66260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000" b="1">
                <a:solidFill>
                  <a:srgbClr val="FF0000"/>
                </a:solidFill>
                <a:latin typeface="Century Gothic" panose="020B0502020202020204" pitchFamily="34" charset="0"/>
              </a:rPr>
              <a:t>Gráfico opcional</a:t>
            </a:r>
            <a:endParaRPr lang="es-EC" sz="2000" b="1" dirty="0">
              <a:solidFill>
                <a:srgbClr val="FF0000"/>
              </a:solidFill>
              <a:latin typeface="Century Gothic" panose="020B0502020202020204" pitchFamily="34" charset="0"/>
            </a:endParaRPr>
          </a:p>
        </p:txBody>
      </p:sp>
      <p:graphicFrame>
        <p:nvGraphicFramePr>
          <p:cNvPr id="8" name="Gráfico 7">
            <a:extLst>
              <a:ext uri="{FF2B5EF4-FFF2-40B4-BE49-F238E27FC236}">
                <a16:creationId xmlns:a16="http://schemas.microsoft.com/office/drawing/2014/main" id="{ED383A1A-C253-1E4A-217B-4A1FEE0C390C}"/>
              </a:ext>
            </a:extLst>
          </p:cNvPr>
          <p:cNvGraphicFramePr>
            <a:graphicFrameLocks/>
          </p:cNvGraphicFramePr>
          <p:nvPr>
            <p:extLst>
              <p:ext uri="{D42A27DB-BD31-4B8C-83A1-F6EECF244321}">
                <p14:modId xmlns:p14="http://schemas.microsoft.com/office/powerpoint/2010/main" val="4184334685"/>
              </p:ext>
            </p:extLst>
          </p:nvPr>
        </p:nvGraphicFramePr>
        <p:xfrm>
          <a:off x="134471" y="1333500"/>
          <a:ext cx="11806517" cy="49742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257129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Autofit/>
          </a:bodyPr>
          <a:lstStyle/>
          <a:p>
            <a:pPr algn="ctr"/>
            <a:r>
              <a:rPr lang="es-MX" sz="2000" b="1" dirty="0">
                <a:latin typeface="Century Gothic" panose="020B0502020202020204" pitchFamily="34" charset="0"/>
              </a:rPr>
              <a:t>Análisis: Gasto Corriente de consumo en el ranking de productos alimenticios por </a:t>
            </a:r>
            <a:r>
              <a:rPr lang="es-MX" sz="2000" b="1" dirty="0" err="1">
                <a:latin typeface="Century Gothic" panose="020B0502020202020204" pitchFamily="34" charset="0"/>
              </a:rPr>
              <a:t>deciles</a:t>
            </a:r>
            <a:r>
              <a:rPr lang="es-MX" sz="2000" b="1" dirty="0">
                <a:latin typeface="Century Gothic" panose="020B0502020202020204" pitchFamily="34" charset="0"/>
              </a:rPr>
              <a:t> de Ingreso Corriente Per Cápita.</a:t>
            </a:r>
            <a:endParaRPr lang="es-EC" sz="2000" b="1" dirty="0"/>
          </a:p>
        </p:txBody>
      </p:sp>
      <p:sp>
        <p:nvSpPr>
          <p:cNvPr id="4" name="CuadroTexto 3"/>
          <p:cNvSpPr txBox="1"/>
          <p:nvPr/>
        </p:nvSpPr>
        <p:spPr>
          <a:xfrm>
            <a:off x="1777218" y="1925516"/>
            <a:ext cx="8637563" cy="3970318"/>
          </a:xfrm>
          <a:prstGeom prst="rect">
            <a:avLst/>
          </a:prstGeom>
          <a:noFill/>
          <a:ln>
            <a:solidFill>
              <a:schemeClr val="tx1"/>
            </a:solidFill>
          </a:ln>
        </p:spPr>
        <p:txBody>
          <a:bodyPr wrap="square" rtlCol="0">
            <a:spAutoFit/>
          </a:bodyPr>
          <a:lstStyle/>
          <a:p>
            <a:pPr rtl="0"/>
            <a:r>
              <a:rPr lang="es-MX" dirty="0">
                <a:effectLst/>
              </a:rPr>
              <a:t>Entre los diez principales productos alimenticios, el pollo entero se mantiene como el de mayor gasto en todos los deciles, aunque su participación dentro de estos productos baja de 22,0 % en el Decil 1 a 19,8 % en el Decil 10.</a:t>
            </a:r>
          </a:p>
          <a:p>
            <a:pPr rtl="0"/>
            <a:r>
              <a:rPr lang="es-MX" dirty="0">
                <a:effectLst/>
              </a:rPr>
              <a:t>El arroz blanco pierde peso de forma marcada, pasando del segundo lugar (13,9 %) al cuarto (9,9 %), mientras que la carne de res sin hueso y con hueso ganan participación (de 13,6 % a 16,1 % y de 10,0 % a 12,2 %, respectivamente), lo que refleja un cambio hacia proteínas de mayor costo a medida que aumenta el ingreso.</a:t>
            </a:r>
          </a:p>
          <a:p>
            <a:pPr rtl="0"/>
            <a:r>
              <a:rPr lang="es-MX" dirty="0">
                <a:effectLst/>
              </a:rPr>
              <a:t>El agua purificada personal es el producto con mayor crecimiento relativo: su gasto casi se duplica ($3,94 a $7,88) y su participación sube de 3,5 % a 5,5 %. En conjunto, el gasto en estos diez productos aumenta de $113,14 a $144,43 (27,7 %), un incremento mucho menor que el del gasto total de consumo, lo que confirma la Ley de Engel: el gasto en alimentos básicos crece más lento que el ingreso, aunque su composición se orienta hacia productos de mayor valor.</a:t>
            </a:r>
          </a:p>
          <a:p>
            <a:endParaRPr lang="es-EC" dirty="0"/>
          </a:p>
        </p:txBody>
      </p:sp>
      <p:sp>
        <p:nvSpPr>
          <p:cNvPr id="5" name="Título 1"/>
          <p:cNvSpPr txBox="1">
            <a:spLocks/>
          </p:cNvSpPr>
          <p:nvPr/>
        </p:nvSpPr>
        <p:spPr>
          <a:xfrm>
            <a:off x="10345207" y="6000824"/>
            <a:ext cx="1759224" cy="66260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2000" b="1" dirty="0">
                <a:solidFill>
                  <a:srgbClr val="FF0000"/>
                </a:solidFill>
                <a:latin typeface="Century Gothic" panose="020B0502020202020204" pitchFamily="34" charset="0"/>
              </a:rPr>
              <a:t>Opcional</a:t>
            </a:r>
            <a:endParaRPr lang="es-EC" sz="2000" b="1" dirty="0">
              <a:solidFill>
                <a:srgbClr val="FF0000"/>
              </a:solidFill>
              <a:latin typeface="Century Gothic" panose="020B0502020202020204" pitchFamily="34" charset="0"/>
            </a:endParaRPr>
          </a:p>
        </p:txBody>
      </p:sp>
    </p:spTree>
    <p:extLst>
      <p:ext uri="{BB962C8B-B14F-4D97-AF65-F5344CB8AC3E}">
        <p14:creationId xmlns:p14="http://schemas.microsoft.com/office/powerpoint/2010/main" val="66466983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1917</TotalTime>
  <Words>2389</Words>
  <Application>Microsoft Office PowerPoint</Application>
  <PresentationFormat>Panorámica</PresentationFormat>
  <Paragraphs>167</Paragraphs>
  <Slides>24</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24</vt:i4>
      </vt:variant>
    </vt:vector>
  </HeadingPairs>
  <TitlesOfParts>
    <vt:vector size="29" baseType="lpstr">
      <vt:lpstr>Arial</vt:lpstr>
      <vt:lpstr>Calibri</vt:lpstr>
      <vt:lpstr>Calibri Light</vt:lpstr>
      <vt:lpstr>Century Gothic</vt:lpstr>
      <vt:lpstr>Tema de Office</vt:lpstr>
      <vt:lpstr>¿Cómo cambia la distribución del gasto de consumo de los hogares de la región Sierra a medida que aumenta su nivel de ingreso corriente per cápita?</vt:lpstr>
      <vt:lpstr>ENIGHUR – Encuesta Nacional de Ingresos y Gasto</vt:lpstr>
      <vt:lpstr>Presentación de PowerPoint</vt:lpstr>
      <vt:lpstr>Ingreso Corriente Per Cápita de la región Sierra y el país</vt:lpstr>
      <vt:lpstr>Ingreso Corriente Per Cápita de la región Sierra y el país</vt:lpstr>
      <vt:lpstr>Análisis de Ingreso Corriente Per Cápita de la región Sierra y el país</vt:lpstr>
      <vt:lpstr>Ingreso Corriente Per Cápita de la región Sierra por sexo del representante del hogar</vt:lpstr>
      <vt:lpstr>Ingreso Corriente Per Cápita de la región Sierra por sexo del representante del hogar</vt:lpstr>
      <vt:lpstr>Análisis del Ingreso Corriente Per Cápita de la región Sierra por sexo del representante del hogar</vt:lpstr>
      <vt:lpstr>Región Sierra: Gasto Corriente de Consumo promedio por Deciles de Ingreso Corriente Per Cápita</vt:lpstr>
      <vt:lpstr>Presentación de PowerPoint</vt:lpstr>
      <vt:lpstr>Presentación de PowerPoint</vt:lpstr>
      <vt:lpstr>Presentación de PowerPoint</vt:lpstr>
      <vt:lpstr>Análisis: Gasto Corriente de Consumo del Hogar por deciles de Ingreso Corriente Per Cápita, según divisiones de consumo.</vt:lpstr>
      <vt:lpstr>Presentación de PowerPoint</vt:lpstr>
      <vt:lpstr>Distribuciones marginales</vt:lpstr>
      <vt:lpstr>Distribución condicional de ser perceptor de ingresos dado el sexo</vt:lpstr>
      <vt:lpstr>Pregunta de estudio:</vt:lpstr>
      <vt:lpstr>Información faltante para un análisis más completo:</vt:lpstr>
      <vt:lpstr>Conclusiones: </vt:lpstr>
      <vt:lpstr>Alimentos que forman parte de la vida cotidiana de los hogares Distribución del Gasto Corriente de Consumo de los 10 principales productos alimenticios de consumo en el Ecuador, por deciles de Ingreso Corriente per cápita</vt:lpstr>
      <vt:lpstr>Alimentos que forman parte de la vida cotidiana de los hogares Distribución del Gasto Corriente de Consumo de los 10 principales productos alimenticios de consumo en el Ecuador, por deciles de Ingreso Corriente per cápita</vt:lpstr>
      <vt:lpstr>Alimentos que forman parte de la vida cotidiana de los hogares Distribución del Gasto Corriente de Consumo de los 10 principales productos alimenticios de consumo en el Ecuador, por deciles de Ingreso Corriente per cápita</vt:lpstr>
      <vt:lpstr>Análisis: Gasto Corriente de consumo en el ranking de productos alimenticios por deciles de Ingreso Corriente Per Cápita.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de Introducción a la Estadística</dc:title>
  <dc:creator>INEC Hellen Espinel</dc:creator>
  <cp:lastModifiedBy>Nico Rodríguez</cp:lastModifiedBy>
  <cp:revision>79</cp:revision>
  <dcterms:created xsi:type="dcterms:W3CDTF">2026-08-14T08:18:25Z</dcterms:created>
  <dcterms:modified xsi:type="dcterms:W3CDTF">2026-08-31T14:51:58Z</dcterms:modified>
</cp:coreProperties>
</file>